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81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82" r:id="rId18"/>
    <p:sldId id="271" r:id="rId19"/>
    <p:sldId id="272" r:id="rId20"/>
    <p:sldId id="283" r:id="rId21"/>
    <p:sldId id="273" r:id="rId22"/>
    <p:sldId id="284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379" r:id="rId31"/>
    <p:sldId id="380" r:id="rId32"/>
    <p:sldId id="392" r:id="rId33"/>
    <p:sldId id="393" r:id="rId34"/>
    <p:sldId id="394" r:id="rId35"/>
    <p:sldId id="395" r:id="rId36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48" userDrawn="1">
          <p15:clr>
            <a:srgbClr val="A4A3A4"/>
          </p15:clr>
        </p15:guide>
        <p15:guide id="2" pos="38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8F5"/>
    <a:srgbClr val="FBE1D0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3E44B4-4CDD-41AC-970E-952EEEEC76CF}" v="45" dt="2026-09-21T13:30:45.2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5" d="100"/>
          <a:sy n="75" d="100"/>
        </p:scale>
        <p:origin x="154" y="48"/>
      </p:cViewPr>
      <p:guideLst>
        <p:guide orient="horz" pos="3048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hid Masud" userId="fa14d244-da66-4eb9-a933-8314dc2af7dc" providerId="ADAL" clId="{2D7E542D-36C6-48ED-B1BC-6092F36DE576}"/>
    <pc:docChg chg="undo custSel addSld modSld sldOrd">
      <pc:chgData name="Shahid Masud" userId="fa14d244-da66-4eb9-a933-8314dc2af7dc" providerId="ADAL" clId="{2D7E542D-36C6-48ED-B1BC-6092F36DE576}" dt="2026-09-21T13:30:45.238" v="272"/>
      <pc:docMkLst>
        <pc:docMk/>
      </pc:docMkLst>
      <pc:sldChg chg="modSp mod setBg">
        <pc:chgData name="Shahid Masud" userId="fa14d244-da66-4eb9-a933-8314dc2af7dc" providerId="ADAL" clId="{2D7E542D-36C6-48ED-B1BC-6092F36DE576}" dt="2026-09-21T13:30:45.238" v="272"/>
        <pc:sldMkLst>
          <pc:docMk/>
          <pc:sldMk cId="3535140638" sldId="256"/>
        </pc:sldMkLst>
        <pc:spChg chg="mod">
          <ac:chgData name="Shahid Masud" userId="fa14d244-da66-4eb9-a933-8314dc2af7dc" providerId="ADAL" clId="{2D7E542D-36C6-48ED-B1BC-6092F36DE576}" dt="2026-09-21T13:30:20.395" v="229" actId="20577"/>
          <ac:spMkLst>
            <pc:docMk/>
            <pc:sldMk cId="3535140638" sldId="256"/>
            <ac:spMk id="2" creationId="{94A6E4D8-BC9E-42D1-9788-9DA786975FE4}"/>
          </ac:spMkLst>
        </pc:spChg>
      </pc:sldChg>
      <pc:sldChg chg="modSp mod">
        <pc:chgData name="Shahid Masud" userId="fa14d244-da66-4eb9-a933-8314dc2af7dc" providerId="ADAL" clId="{2D7E542D-36C6-48ED-B1BC-6092F36DE576}" dt="2026-09-19T06:03:02.882" v="97" actId="20577"/>
        <pc:sldMkLst>
          <pc:docMk/>
          <pc:sldMk cId="2978323154" sldId="257"/>
        </pc:sldMkLst>
        <pc:spChg chg="mod">
          <ac:chgData name="Shahid Masud" userId="fa14d244-da66-4eb9-a933-8314dc2af7dc" providerId="ADAL" clId="{2D7E542D-36C6-48ED-B1BC-6092F36DE576}" dt="2026-09-19T06:03:02.882" v="97" actId="20577"/>
          <ac:spMkLst>
            <pc:docMk/>
            <pc:sldMk cId="2978323154" sldId="257"/>
            <ac:spMk id="6" creationId="{B389F45E-9ECB-F48E-1832-E158DE9C4B9F}"/>
          </ac:spMkLst>
        </pc:spChg>
      </pc:sldChg>
      <pc:sldChg chg="addSp delSp modSp mod delAnim">
        <pc:chgData name="Shahid Masud" userId="fa14d244-da66-4eb9-a933-8314dc2af7dc" providerId="ADAL" clId="{2D7E542D-36C6-48ED-B1BC-6092F36DE576}" dt="2026-09-19T08:22:15.914" v="216" actId="9405"/>
        <pc:sldMkLst>
          <pc:docMk/>
          <pc:sldMk cId="3956794187" sldId="271"/>
        </pc:sldMkLst>
        <pc:grpChg chg="mod">
          <ac:chgData name="Shahid Masud" userId="fa14d244-da66-4eb9-a933-8314dc2af7dc" providerId="ADAL" clId="{2D7E542D-36C6-48ED-B1BC-6092F36DE576}" dt="2026-09-19T08:21:38.757" v="196"/>
          <ac:grpSpMkLst>
            <pc:docMk/>
            <pc:sldMk cId="3956794187" sldId="271"/>
            <ac:grpSpMk id="22" creationId="{C52A4B35-DF60-F182-6D06-11BE6A72E0B8}"/>
          </ac:grpSpMkLst>
        </pc:grpChg>
        <pc:inkChg chg="add mod">
          <ac:chgData name="Shahid Masud" userId="fa14d244-da66-4eb9-a933-8314dc2af7dc" providerId="ADAL" clId="{2D7E542D-36C6-48ED-B1BC-6092F36DE576}" dt="2026-09-19T08:21:21.384" v="185" actId="14100"/>
          <ac:inkMkLst>
            <pc:docMk/>
            <pc:sldMk cId="3956794187" sldId="271"/>
            <ac:inkMk id="11" creationId="{096074DB-F110-0E7E-50C8-CC5CBE9C8116}"/>
          </ac:inkMkLst>
        </pc:inkChg>
        <pc:inkChg chg="add">
          <ac:chgData name="Shahid Masud" userId="fa14d244-da66-4eb9-a933-8314dc2af7dc" providerId="ADAL" clId="{2D7E542D-36C6-48ED-B1BC-6092F36DE576}" dt="2026-09-19T08:21:27.984" v="186" actId="9405"/>
          <ac:inkMkLst>
            <pc:docMk/>
            <pc:sldMk cId="3956794187" sldId="271"/>
            <ac:inkMk id="12" creationId="{D207EDE2-3561-12C7-F810-7610624C2ECE}"/>
          </ac:inkMkLst>
        </pc:inkChg>
        <pc:inkChg chg="add">
          <ac:chgData name="Shahid Masud" userId="fa14d244-da66-4eb9-a933-8314dc2af7dc" providerId="ADAL" clId="{2D7E542D-36C6-48ED-B1BC-6092F36DE576}" dt="2026-09-19T08:21:29.818" v="187" actId="9405"/>
          <ac:inkMkLst>
            <pc:docMk/>
            <pc:sldMk cId="3956794187" sldId="271"/>
            <ac:inkMk id="13" creationId="{A4513343-7A1C-7EEA-4F8C-61B4A62CC113}"/>
          </ac:inkMkLst>
        </pc:inkChg>
        <pc:inkChg chg="add">
          <ac:chgData name="Shahid Masud" userId="fa14d244-da66-4eb9-a933-8314dc2af7dc" providerId="ADAL" clId="{2D7E542D-36C6-48ED-B1BC-6092F36DE576}" dt="2026-09-19T08:21:30.970" v="189"/>
          <ac:inkMkLst>
            <pc:docMk/>
            <pc:sldMk cId="3956794187" sldId="271"/>
            <ac:inkMk id="15" creationId="{24344179-7985-4C02-A711-0A35A8A305D5}"/>
          </ac:inkMkLst>
        </pc:inkChg>
        <pc:inkChg chg="add">
          <ac:chgData name="Shahid Masud" userId="fa14d244-da66-4eb9-a933-8314dc2af7dc" providerId="ADAL" clId="{2D7E542D-36C6-48ED-B1BC-6092F36DE576}" dt="2026-09-19T08:21:32.865" v="190" actId="9405"/>
          <ac:inkMkLst>
            <pc:docMk/>
            <pc:sldMk cId="3956794187" sldId="271"/>
            <ac:inkMk id="16" creationId="{0F8BEB8F-FA7A-8C74-536B-1A3891841211}"/>
          </ac:inkMkLst>
        </pc:inkChg>
        <pc:inkChg chg="add mod">
          <ac:chgData name="Shahid Masud" userId="fa14d244-da66-4eb9-a933-8314dc2af7dc" providerId="ADAL" clId="{2D7E542D-36C6-48ED-B1BC-6092F36DE576}" dt="2026-09-19T08:21:38.757" v="196"/>
          <ac:inkMkLst>
            <pc:docMk/>
            <pc:sldMk cId="3956794187" sldId="271"/>
            <ac:inkMk id="17" creationId="{FA012B31-C36D-45B9-FEB6-0FA875F4E6A1}"/>
          </ac:inkMkLst>
        </pc:inkChg>
        <pc:inkChg chg="add mod">
          <ac:chgData name="Shahid Masud" userId="fa14d244-da66-4eb9-a933-8314dc2af7dc" providerId="ADAL" clId="{2D7E542D-36C6-48ED-B1BC-6092F36DE576}" dt="2026-09-19T08:21:38.757" v="196"/>
          <ac:inkMkLst>
            <pc:docMk/>
            <pc:sldMk cId="3956794187" sldId="271"/>
            <ac:inkMk id="18" creationId="{AC602C4B-8E30-716E-48B2-E3D894C26148}"/>
          </ac:inkMkLst>
        </pc:inkChg>
        <pc:inkChg chg="add">
          <ac:chgData name="Shahid Masud" userId="fa14d244-da66-4eb9-a933-8314dc2af7dc" providerId="ADAL" clId="{2D7E542D-36C6-48ED-B1BC-6092F36DE576}" dt="2026-09-19T08:21:35.939" v="193" actId="9405"/>
          <ac:inkMkLst>
            <pc:docMk/>
            <pc:sldMk cId="3956794187" sldId="271"/>
            <ac:inkMk id="19" creationId="{B69BAA36-97BA-36AB-91FC-FAB82755B48E}"/>
          </ac:inkMkLst>
        </pc:inkChg>
        <pc:inkChg chg="add">
          <ac:chgData name="Shahid Masud" userId="fa14d244-da66-4eb9-a933-8314dc2af7dc" providerId="ADAL" clId="{2D7E542D-36C6-48ED-B1BC-6092F36DE576}" dt="2026-09-19T08:21:37.160" v="194" actId="9405"/>
          <ac:inkMkLst>
            <pc:docMk/>
            <pc:sldMk cId="3956794187" sldId="271"/>
            <ac:inkMk id="20" creationId="{62B57F8A-9D05-4B87-9708-1703D6A8C320}"/>
          </ac:inkMkLst>
        </pc:inkChg>
        <pc:inkChg chg="add">
          <ac:chgData name="Shahid Masud" userId="fa14d244-da66-4eb9-a933-8314dc2af7dc" providerId="ADAL" clId="{2D7E542D-36C6-48ED-B1BC-6092F36DE576}" dt="2026-09-19T08:21:38.151" v="195" actId="9405"/>
          <ac:inkMkLst>
            <pc:docMk/>
            <pc:sldMk cId="3956794187" sldId="271"/>
            <ac:inkMk id="21" creationId="{2476971E-A84A-F84E-ADEE-C777F77C5606}"/>
          </ac:inkMkLst>
        </pc:inkChg>
        <pc:inkChg chg="add">
          <ac:chgData name="Shahid Masud" userId="fa14d244-da66-4eb9-a933-8314dc2af7dc" providerId="ADAL" clId="{2D7E542D-36C6-48ED-B1BC-6092F36DE576}" dt="2026-09-19T08:21:39.443" v="197" actId="9405"/>
          <ac:inkMkLst>
            <pc:docMk/>
            <pc:sldMk cId="3956794187" sldId="271"/>
            <ac:inkMk id="23" creationId="{C910598E-B35F-8591-9F9E-CE3EC55DD461}"/>
          </ac:inkMkLst>
        </pc:inkChg>
        <pc:inkChg chg="add">
          <ac:chgData name="Shahid Masud" userId="fa14d244-da66-4eb9-a933-8314dc2af7dc" providerId="ADAL" clId="{2D7E542D-36C6-48ED-B1BC-6092F36DE576}" dt="2026-09-19T08:21:40.447" v="198" actId="9405"/>
          <ac:inkMkLst>
            <pc:docMk/>
            <pc:sldMk cId="3956794187" sldId="271"/>
            <ac:inkMk id="24" creationId="{7F902C7B-6877-7A49-F49B-B977338F00E9}"/>
          </ac:inkMkLst>
        </pc:inkChg>
        <pc:inkChg chg="add">
          <ac:chgData name="Shahid Masud" userId="fa14d244-da66-4eb9-a933-8314dc2af7dc" providerId="ADAL" clId="{2D7E542D-36C6-48ED-B1BC-6092F36DE576}" dt="2026-09-19T08:21:41.328" v="199" actId="9405"/>
          <ac:inkMkLst>
            <pc:docMk/>
            <pc:sldMk cId="3956794187" sldId="271"/>
            <ac:inkMk id="25" creationId="{2B676879-585A-8B40-E015-6B39A1A5BA8E}"/>
          </ac:inkMkLst>
        </pc:inkChg>
        <pc:inkChg chg="add">
          <ac:chgData name="Shahid Masud" userId="fa14d244-da66-4eb9-a933-8314dc2af7dc" providerId="ADAL" clId="{2D7E542D-36C6-48ED-B1BC-6092F36DE576}" dt="2026-09-19T08:21:42.572" v="200" actId="9405"/>
          <ac:inkMkLst>
            <pc:docMk/>
            <pc:sldMk cId="3956794187" sldId="271"/>
            <ac:inkMk id="26" creationId="{78A19770-FE40-54DC-EC14-213D259A07B7}"/>
          </ac:inkMkLst>
        </pc:inkChg>
        <pc:inkChg chg="add">
          <ac:chgData name="Shahid Masud" userId="fa14d244-da66-4eb9-a933-8314dc2af7dc" providerId="ADAL" clId="{2D7E542D-36C6-48ED-B1BC-6092F36DE576}" dt="2026-09-19T08:21:47.428" v="201" actId="9405"/>
          <ac:inkMkLst>
            <pc:docMk/>
            <pc:sldMk cId="3956794187" sldId="271"/>
            <ac:inkMk id="27" creationId="{76F7F722-1663-DCD2-3A2C-1E01DF600B7D}"/>
          </ac:inkMkLst>
        </pc:inkChg>
        <pc:inkChg chg="add">
          <ac:chgData name="Shahid Masud" userId="fa14d244-da66-4eb9-a933-8314dc2af7dc" providerId="ADAL" clId="{2D7E542D-36C6-48ED-B1BC-6092F36DE576}" dt="2026-09-19T08:21:49.278" v="202" actId="9405"/>
          <ac:inkMkLst>
            <pc:docMk/>
            <pc:sldMk cId="3956794187" sldId="271"/>
            <ac:inkMk id="28" creationId="{9F0AA386-7CE5-23A4-B35D-96AB2D416FCF}"/>
          </ac:inkMkLst>
        </pc:inkChg>
        <pc:inkChg chg="add">
          <ac:chgData name="Shahid Masud" userId="fa14d244-da66-4eb9-a933-8314dc2af7dc" providerId="ADAL" clId="{2D7E542D-36C6-48ED-B1BC-6092F36DE576}" dt="2026-09-19T08:21:50.802" v="203" actId="9405"/>
          <ac:inkMkLst>
            <pc:docMk/>
            <pc:sldMk cId="3956794187" sldId="271"/>
            <ac:inkMk id="29" creationId="{0ABDFCB8-3408-86DC-6BDB-2C580EC1AFCB}"/>
          </ac:inkMkLst>
        </pc:inkChg>
        <pc:inkChg chg="add">
          <ac:chgData name="Shahid Masud" userId="fa14d244-da66-4eb9-a933-8314dc2af7dc" providerId="ADAL" clId="{2D7E542D-36C6-48ED-B1BC-6092F36DE576}" dt="2026-09-19T08:21:52.578" v="204" actId="9405"/>
          <ac:inkMkLst>
            <pc:docMk/>
            <pc:sldMk cId="3956794187" sldId="271"/>
            <ac:inkMk id="30" creationId="{229DF23B-F857-9AA0-B237-6DF086339CDF}"/>
          </ac:inkMkLst>
        </pc:inkChg>
        <pc:inkChg chg="add">
          <ac:chgData name="Shahid Masud" userId="fa14d244-da66-4eb9-a933-8314dc2af7dc" providerId="ADAL" clId="{2D7E542D-36C6-48ED-B1BC-6092F36DE576}" dt="2026-09-19T08:21:54.917" v="205" actId="9405"/>
          <ac:inkMkLst>
            <pc:docMk/>
            <pc:sldMk cId="3956794187" sldId="271"/>
            <ac:inkMk id="31" creationId="{FB5266EC-5ABC-0DC4-BF39-17F1751D15A0}"/>
          </ac:inkMkLst>
        </pc:inkChg>
        <pc:inkChg chg="add">
          <ac:chgData name="Shahid Masud" userId="fa14d244-da66-4eb9-a933-8314dc2af7dc" providerId="ADAL" clId="{2D7E542D-36C6-48ED-B1BC-6092F36DE576}" dt="2026-09-19T08:21:58.938" v="206" actId="9405"/>
          <ac:inkMkLst>
            <pc:docMk/>
            <pc:sldMk cId="3956794187" sldId="271"/>
            <ac:inkMk id="32" creationId="{C6C6BCC2-4CE6-296E-39A2-AB73E964D438}"/>
          </ac:inkMkLst>
        </pc:inkChg>
        <pc:inkChg chg="add">
          <ac:chgData name="Shahid Masud" userId="fa14d244-da66-4eb9-a933-8314dc2af7dc" providerId="ADAL" clId="{2D7E542D-36C6-48ED-B1BC-6092F36DE576}" dt="2026-09-19T08:22:02.124" v="207" actId="9405"/>
          <ac:inkMkLst>
            <pc:docMk/>
            <pc:sldMk cId="3956794187" sldId="271"/>
            <ac:inkMk id="33" creationId="{12C9F6A3-71D5-8C77-3BE2-CD946248695C}"/>
          </ac:inkMkLst>
        </pc:inkChg>
        <pc:inkChg chg="add">
          <ac:chgData name="Shahid Masud" userId="fa14d244-da66-4eb9-a933-8314dc2af7dc" providerId="ADAL" clId="{2D7E542D-36C6-48ED-B1BC-6092F36DE576}" dt="2026-09-19T08:22:03.371" v="209"/>
          <ac:inkMkLst>
            <pc:docMk/>
            <pc:sldMk cId="3956794187" sldId="271"/>
            <ac:inkMk id="35" creationId="{85F8BDE3-8381-2B5F-240A-7A2B8DD0637B}"/>
          </ac:inkMkLst>
        </pc:inkChg>
        <pc:inkChg chg="add">
          <ac:chgData name="Shahid Masud" userId="fa14d244-da66-4eb9-a933-8314dc2af7dc" providerId="ADAL" clId="{2D7E542D-36C6-48ED-B1BC-6092F36DE576}" dt="2026-09-19T08:22:05.364" v="211"/>
          <ac:inkMkLst>
            <pc:docMk/>
            <pc:sldMk cId="3956794187" sldId="271"/>
            <ac:inkMk id="37" creationId="{DE7D45CE-FE13-33BC-A81C-0BEE77883B47}"/>
          </ac:inkMkLst>
        </pc:inkChg>
        <pc:inkChg chg="add">
          <ac:chgData name="Shahid Masud" userId="fa14d244-da66-4eb9-a933-8314dc2af7dc" providerId="ADAL" clId="{2D7E542D-36C6-48ED-B1BC-6092F36DE576}" dt="2026-09-19T08:22:08.864" v="212" actId="9405"/>
          <ac:inkMkLst>
            <pc:docMk/>
            <pc:sldMk cId="3956794187" sldId="271"/>
            <ac:inkMk id="38" creationId="{E1487D40-5B5C-ABF3-4D0B-3A26D8D5FA34}"/>
          </ac:inkMkLst>
        </pc:inkChg>
        <pc:inkChg chg="add">
          <ac:chgData name="Shahid Masud" userId="fa14d244-da66-4eb9-a933-8314dc2af7dc" providerId="ADAL" clId="{2D7E542D-36C6-48ED-B1BC-6092F36DE576}" dt="2026-09-19T08:22:10.073" v="213" actId="9405"/>
          <ac:inkMkLst>
            <pc:docMk/>
            <pc:sldMk cId="3956794187" sldId="271"/>
            <ac:inkMk id="39" creationId="{037D287A-CE69-5CCD-4D58-6AED6412B04A}"/>
          </ac:inkMkLst>
        </pc:inkChg>
        <pc:inkChg chg="add">
          <ac:chgData name="Shahid Masud" userId="fa14d244-da66-4eb9-a933-8314dc2af7dc" providerId="ADAL" clId="{2D7E542D-36C6-48ED-B1BC-6092F36DE576}" dt="2026-09-19T08:22:10.941" v="214" actId="9405"/>
          <ac:inkMkLst>
            <pc:docMk/>
            <pc:sldMk cId="3956794187" sldId="271"/>
            <ac:inkMk id="40" creationId="{877B74E5-03FA-9DEC-F99C-845F7A17E951}"/>
          </ac:inkMkLst>
        </pc:inkChg>
        <pc:inkChg chg="add">
          <ac:chgData name="Shahid Masud" userId="fa14d244-da66-4eb9-a933-8314dc2af7dc" providerId="ADAL" clId="{2D7E542D-36C6-48ED-B1BC-6092F36DE576}" dt="2026-09-19T08:22:11.779" v="215" actId="9405"/>
          <ac:inkMkLst>
            <pc:docMk/>
            <pc:sldMk cId="3956794187" sldId="271"/>
            <ac:inkMk id="41" creationId="{0480CDE2-C252-57AB-2915-F29ED31D00B9}"/>
          </ac:inkMkLst>
        </pc:inkChg>
        <pc:inkChg chg="add">
          <ac:chgData name="Shahid Masud" userId="fa14d244-da66-4eb9-a933-8314dc2af7dc" providerId="ADAL" clId="{2D7E542D-36C6-48ED-B1BC-6092F36DE576}" dt="2026-09-19T08:22:15.914" v="216" actId="9405"/>
          <ac:inkMkLst>
            <pc:docMk/>
            <pc:sldMk cId="3956794187" sldId="271"/>
            <ac:inkMk id="42" creationId="{F86D730F-EAC7-9CB0-0FA9-12FD4DE2BCC3}"/>
          </ac:inkMkLst>
        </pc:inkChg>
      </pc:sldChg>
      <pc:sldChg chg="modSp mod">
        <pc:chgData name="Shahid Masud" userId="fa14d244-da66-4eb9-a933-8314dc2af7dc" providerId="ADAL" clId="{2D7E542D-36C6-48ED-B1BC-6092F36DE576}" dt="2026-09-19T06:03:47.206" v="98" actId="1076"/>
        <pc:sldMkLst>
          <pc:docMk/>
          <pc:sldMk cId="910974954" sldId="272"/>
        </pc:sldMkLst>
        <pc:spChg chg="mod">
          <ac:chgData name="Shahid Masud" userId="fa14d244-da66-4eb9-a933-8314dc2af7dc" providerId="ADAL" clId="{2D7E542D-36C6-48ED-B1BC-6092F36DE576}" dt="2026-09-19T06:03:47.206" v="98" actId="1076"/>
          <ac:spMkLst>
            <pc:docMk/>
            <pc:sldMk cId="910974954" sldId="272"/>
            <ac:spMk id="24" creationId="{F5ED416B-9A6C-486F-B7C3-4D0B3D0F123C}"/>
          </ac:spMkLst>
        </pc:spChg>
      </pc:sldChg>
      <pc:sldChg chg="addSp delSp modSp add mod ord delAnim">
        <pc:chgData name="Shahid Masud" userId="fa14d244-da66-4eb9-a933-8314dc2af7dc" providerId="ADAL" clId="{2D7E542D-36C6-48ED-B1BC-6092F36DE576}" dt="2026-09-19T08:16:14.429" v="180"/>
        <pc:sldMkLst>
          <pc:docMk/>
          <pc:sldMk cId="834916335" sldId="283"/>
        </pc:sldMkLst>
        <pc:spChg chg="add mod">
          <ac:chgData name="Shahid Masud" userId="fa14d244-da66-4eb9-a933-8314dc2af7dc" providerId="ADAL" clId="{2D7E542D-36C6-48ED-B1BC-6092F36DE576}" dt="2026-09-19T08:14:04.907" v="142" actId="207"/>
          <ac:spMkLst>
            <pc:docMk/>
            <pc:sldMk cId="834916335" sldId="283"/>
            <ac:spMk id="11" creationId="{911FA0BE-9948-414E-5617-989A0CFD2C4F}"/>
          </ac:spMkLst>
        </pc:spChg>
        <pc:spChg chg="add mod">
          <ac:chgData name="Shahid Masud" userId="fa14d244-da66-4eb9-a933-8314dc2af7dc" providerId="ADAL" clId="{2D7E542D-36C6-48ED-B1BC-6092F36DE576}" dt="2026-09-19T08:14:20.365" v="145" actId="1076"/>
          <ac:spMkLst>
            <pc:docMk/>
            <pc:sldMk cId="834916335" sldId="283"/>
            <ac:spMk id="12" creationId="{F8E2235C-A17A-199D-A515-8652B38D2920}"/>
          </ac:spMkLst>
        </pc:spChg>
        <pc:spChg chg="add mod">
          <ac:chgData name="Shahid Masud" userId="fa14d244-da66-4eb9-a933-8314dc2af7dc" providerId="ADAL" clId="{2D7E542D-36C6-48ED-B1BC-6092F36DE576}" dt="2026-09-19T08:14:28.789" v="147" actId="1076"/>
          <ac:spMkLst>
            <pc:docMk/>
            <pc:sldMk cId="834916335" sldId="283"/>
            <ac:spMk id="13" creationId="{63BE4CCF-4985-E2B2-9FCC-3101C11DBD2C}"/>
          </ac:spMkLst>
        </pc:spChg>
        <pc:spChg chg="add mod">
          <ac:chgData name="Shahid Masud" userId="fa14d244-da66-4eb9-a933-8314dc2af7dc" providerId="ADAL" clId="{2D7E542D-36C6-48ED-B1BC-6092F36DE576}" dt="2026-09-19T08:14:36.093" v="149" actId="1076"/>
          <ac:spMkLst>
            <pc:docMk/>
            <pc:sldMk cId="834916335" sldId="283"/>
            <ac:spMk id="14" creationId="{64265DD6-0357-7AFD-D72A-30D2C96DB191}"/>
          </ac:spMkLst>
        </pc:spChg>
        <pc:spChg chg="add mod">
          <ac:chgData name="Shahid Masud" userId="fa14d244-da66-4eb9-a933-8314dc2af7dc" providerId="ADAL" clId="{2D7E542D-36C6-48ED-B1BC-6092F36DE576}" dt="2026-09-19T08:14:47.206" v="151" actId="1076"/>
          <ac:spMkLst>
            <pc:docMk/>
            <pc:sldMk cId="834916335" sldId="283"/>
            <ac:spMk id="15" creationId="{E0AC99D1-F893-7601-8C23-7CFB71B23CDC}"/>
          </ac:spMkLst>
        </pc:spChg>
        <pc:spChg chg="add mod">
          <ac:chgData name="Shahid Masud" userId="fa14d244-da66-4eb9-a933-8314dc2af7dc" providerId="ADAL" clId="{2D7E542D-36C6-48ED-B1BC-6092F36DE576}" dt="2026-09-19T08:14:49.701" v="152"/>
          <ac:spMkLst>
            <pc:docMk/>
            <pc:sldMk cId="834916335" sldId="283"/>
            <ac:spMk id="16" creationId="{A7C4C15F-E489-C5CC-96BF-C3474B755DFA}"/>
          </ac:spMkLst>
        </pc:spChg>
        <pc:spChg chg="add mod">
          <ac:chgData name="Shahid Masud" userId="fa14d244-da66-4eb9-a933-8314dc2af7dc" providerId="ADAL" clId="{2D7E542D-36C6-48ED-B1BC-6092F36DE576}" dt="2026-09-19T08:14:56.291" v="153"/>
          <ac:spMkLst>
            <pc:docMk/>
            <pc:sldMk cId="834916335" sldId="283"/>
            <ac:spMk id="17" creationId="{DDD881C5-51F6-5CF8-5242-D595E5BB1E65}"/>
          </ac:spMkLst>
        </pc:spChg>
        <pc:spChg chg="add mod">
          <ac:chgData name="Shahid Masud" userId="fa14d244-da66-4eb9-a933-8314dc2af7dc" providerId="ADAL" clId="{2D7E542D-36C6-48ED-B1BC-6092F36DE576}" dt="2026-09-19T08:15:03.197" v="155" actId="1076"/>
          <ac:spMkLst>
            <pc:docMk/>
            <pc:sldMk cId="834916335" sldId="283"/>
            <ac:spMk id="18" creationId="{82C7EDC9-75DB-0B16-1CBD-6FE7FF809A06}"/>
          </ac:spMkLst>
        </pc:spChg>
        <pc:spChg chg="add mod">
          <ac:chgData name="Shahid Masud" userId="fa14d244-da66-4eb9-a933-8314dc2af7dc" providerId="ADAL" clId="{2D7E542D-36C6-48ED-B1BC-6092F36DE576}" dt="2026-09-19T08:15:05.520" v="156"/>
          <ac:spMkLst>
            <pc:docMk/>
            <pc:sldMk cId="834916335" sldId="283"/>
            <ac:spMk id="19" creationId="{5E204A1C-DA43-EF65-89DB-4CB072FF29FC}"/>
          </ac:spMkLst>
        </pc:spChg>
        <pc:spChg chg="add mod">
          <ac:chgData name="Shahid Masud" userId="fa14d244-da66-4eb9-a933-8314dc2af7dc" providerId="ADAL" clId="{2D7E542D-36C6-48ED-B1BC-6092F36DE576}" dt="2026-09-19T08:15:08.639" v="157"/>
          <ac:spMkLst>
            <pc:docMk/>
            <pc:sldMk cId="834916335" sldId="283"/>
            <ac:spMk id="20" creationId="{3B50A6D5-7F86-4102-7455-4EAA46E695EE}"/>
          </ac:spMkLst>
        </pc:spChg>
        <pc:spChg chg="add mod">
          <ac:chgData name="Shahid Masud" userId="fa14d244-da66-4eb9-a933-8314dc2af7dc" providerId="ADAL" clId="{2D7E542D-36C6-48ED-B1BC-6092F36DE576}" dt="2026-09-19T08:15:09.601" v="158"/>
          <ac:spMkLst>
            <pc:docMk/>
            <pc:sldMk cId="834916335" sldId="283"/>
            <ac:spMk id="21" creationId="{FDB15F15-BEC4-AFB3-1D24-EB3FB455B4FE}"/>
          </ac:spMkLst>
        </pc:spChg>
        <pc:spChg chg="add mod">
          <ac:chgData name="Shahid Masud" userId="fa14d244-da66-4eb9-a933-8314dc2af7dc" providerId="ADAL" clId="{2D7E542D-36C6-48ED-B1BC-6092F36DE576}" dt="2026-09-19T08:15:10.413" v="159"/>
          <ac:spMkLst>
            <pc:docMk/>
            <pc:sldMk cId="834916335" sldId="283"/>
            <ac:spMk id="22" creationId="{59376DA4-EF87-8CAB-080E-FD28C4D39769}"/>
          </ac:spMkLst>
        </pc:spChg>
        <pc:spChg chg="add mod">
          <ac:chgData name="Shahid Masud" userId="fa14d244-da66-4eb9-a933-8314dc2af7dc" providerId="ADAL" clId="{2D7E542D-36C6-48ED-B1BC-6092F36DE576}" dt="2026-09-19T08:15:10.833" v="160"/>
          <ac:spMkLst>
            <pc:docMk/>
            <pc:sldMk cId="834916335" sldId="283"/>
            <ac:spMk id="23" creationId="{C5D37A62-389B-3FCE-1EA6-E06A1AE7989D}"/>
          </ac:spMkLst>
        </pc:spChg>
        <pc:spChg chg="add mod">
          <ac:chgData name="Shahid Masud" userId="fa14d244-da66-4eb9-a933-8314dc2af7dc" providerId="ADAL" clId="{2D7E542D-36C6-48ED-B1BC-6092F36DE576}" dt="2026-09-19T08:15:14.066" v="161"/>
          <ac:spMkLst>
            <pc:docMk/>
            <pc:sldMk cId="834916335" sldId="283"/>
            <ac:spMk id="24" creationId="{B08B08A4-66D7-54D2-8971-45DF60C53501}"/>
          </ac:spMkLst>
        </pc:spChg>
        <pc:grpChg chg="mod">
          <ac:chgData name="Shahid Masud" userId="fa14d244-da66-4eb9-a933-8314dc2af7dc" providerId="ADAL" clId="{2D7E542D-36C6-48ED-B1BC-6092F36DE576}" dt="2026-09-19T08:16:14.429" v="180"/>
          <ac:grpSpMkLst>
            <pc:docMk/>
            <pc:sldMk cId="834916335" sldId="283"/>
            <ac:grpSpMk id="41" creationId="{7F49317B-A47D-7DB1-98F4-12C1B7B01C54}"/>
          </ac:grpSpMkLst>
        </pc:grpChg>
        <pc:inkChg chg="add">
          <ac:chgData name="Shahid Masud" userId="fa14d244-da66-4eb9-a933-8314dc2af7dc" providerId="ADAL" clId="{2D7E542D-36C6-48ED-B1BC-6092F36DE576}" dt="2026-09-19T08:13:08.494" v="139" actId="9405"/>
          <ac:inkMkLst>
            <pc:docMk/>
            <pc:sldMk cId="834916335" sldId="283"/>
            <ac:inkMk id="10" creationId="{2BDCC947-E604-33A7-2037-D462F9C01FA2}"/>
          </ac:inkMkLst>
        </pc:inkChg>
        <pc:inkChg chg="add">
          <ac:chgData name="Shahid Masud" userId="fa14d244-da66-4eb9-a933-8314dc2af7dc" providerId="ADAL" clId="{2D7E542D-36C6-48ED-B1BC-6092F36DE576}" dt="2026-09-19T08:15:36.775" v="162" actId="9405"/>
          <ac:inkMkLst>
            <pc:docMk/>
            <pc:sldMk cId="834916335" sldId="283"/>
            <ac:inkMk id="25" creationId="{47F14C22-AC34-B422-62C1-43CE9EBF1C19}"/>
          </ac:inkMkLst>
        </pc:inkChg>
        <pc:inkChg chg="add">
          <ac:chgData name="Shahid Masud" userId="fa14d244-da66-4eb9-a933-8314dc2af7dc" providerId="ADAL" clId="{2D7E542D-36C6-48ED-B1BC-6092F36DE576}" dt="2026-09-19T08:15:40.222" v="163" actId="9405"/>
          <ac:inkMkLst>
            <pc:docMk/>
            <pc:sldMk cId="834916335" sldId="283"/>
            <ac:inkMk id="26" creationId="{1958B2E4-5EE6-0D42-0A3F-0205AA5DC0D0}"/>
          </ac:inkMkLst>
        </pc:inkChg>
        <pc:inkChg chg="add">
          <ac:chgData name="Shahid Masud" userId="fa14d244-da66-4eb9-a933-8314dc2af7dc" providerId="ADAL" clId="{2D7E542D-36C6-48ED-B1BC-6092F36DE576}" dt="2026-09-19T08:15:43.326" v="164" actId="9405"/>
          <ac:inkMkLst>
            <pc:docMk/>
            <pc:sldMk cId="834916335" sldId="283"/>
            <ac:inkMk id="27" creationId="{A6F93F9C-E4DE-6FE1-4108-8F58BBBF5C16}"/>
          </ac:inkMkLst>
        </pc:inkChg>
        <pc:inkChg chg="add mod">
          <ac:chgData name="Shahid Masud" userId="fa14d244-da66-4eb9-a933-8314dc2af7dc" providerId="ADAL" clId="{2D7E542D-36C6-48ED-B1BC-6092F36DE576}" dt="2026-09-19T08:15:51.008" v="169"/>
          <ac:inkMkLst>
            <pc:docMk/>
            <pc:sldMk cId="834916335" sldId="283"/>
            <ac:inkMk id="28" creationId="{FB8DFB27-6C41-EBFB-97E0-A381831E3554}"/>
          </ac:inkMkLst>
        </pc:inkChg>
        <pc:inkChg chg="add mod">
          <ac:chgData name="Shahid Masud" userId="fa14d244-da66-4eb9-a933-8314dc2af7dc" providerId="ADAL" clId="{2D7E542D-36C6-48ED-B1BC-6092F36DE576}" dt="2026-09-19T08:16:02.893" v="174"/>
          <ac:inkMkLst>
            <pc:docMk/>
            <pc:sldMk cId="834916335" sldId="283"/>
            <ac:inkMk id="31" creationId="{16052312-F632-7A0D-7648-BD39CB50C166}"/>
          </ac:inkMkLst>
        </pc:inkChg>
        <pc:inkChg chg="add mod">
          <ac:chgData name="Shahid Masud" userId="fa14d244-da66-4eb9-a933-8314dc2af7dc" providerId="ADAL" clId="{2D7E542D-36C6-48ED-B1BC-6092F36DE576}" dt="2026-09-19T08:16:14.429" v="180"/>
          <ac:inkMkLst>
            <pc:docMk/>
            <pc:sldMk cId="834916335" sldId="283"/>
            <ac:inkMk id="32" creationId="{60520AC3-7C8F-EEA3-8E93-771047BB1B21}"/>
          </ac:inkMkLst>
        </pc:inkChg>
        <pc:inkChg chg="add mod">
          <ac:chgData name="Shahid Masud" userId="fa14d244-da66-4eb9-a933-8314dc2af7dc" providerId="ADAL" clId="{2D7E542D-36C6-48ED-B1BC-6092F36DE576}" dt="2026-09-19T08:16:14.429" v="180"/>
          <ac:inkMkLst>
            <pc:docMk/>
            <pc:sldMk cId="834916335" sldId="283"/>
            <ac:inkMk id="33" creationId="{96800ACA-DF25-75AC-C256-D4284C382E84}"/>
          </ac:inkMkLst>
        </pc:inkChg>
        <pc:inkChg chg="add mod">
          <ac:chgData name="Shahid Masud" userId="fa14d244-da66-4eb9-a933-8314dc2af7dc" providerId="ADAL" clId="{2D7E542D-36C6-48ED-B1BC-6092F36DE576}" dt="2026-09-19T08:16:14.429" v="180"/>
          <ac:inkMkLst>
            <pc:docMk/>
            <pc:sldMk cId="834916335" sldId="283"/>
            <ac:inkMk id="34" creationId="{9522E5C2-0153-BA83-13C9-C3C5A24AB534}"/>
          </ac:inkMkLst>
        </pc:inkChg>
        <pc:inkChg chg="add mod">
          <ac:chgData name="Shahid Masud" userId="fa14d244-da66-4eb9-a933-8314dc2af7dc" providerId="ADAL" clId="{2D7E542D-36C6-48ED-B1BC-6092F36DE576}" dt="2026-09-19T08:16:14.429" v="180"/>
          <ac:inkMkLst>
            <pc:docMk/>
            <pc:sldMk cId="834916335" sldId="283"/>
            <ac:inkMk id="36" creationId="{55B05B71-4146-65C6-6876-1382CA18378C}"/>
          </ac:inkMkLst>
        </pc:inkChg>
        <pc:inkChg chg="add mod">
          <ac:chgData name="Shahid Masud" userId="fa14d244-da66-4eb9-a933-8314dc2af7dc" providerId="ADAL" clId="{2D7E542D-36C6-48ED-B1BC-6092F36DE576}" dt="2026-09-19T08:16:14.429" v="180"/>
          <ac:inkMkLst>
            <pc:docMk/>
            <pc:sldMk cId="834916335" sldId="283"/>
            <ac:inkMk id="37" creationId="{F3B23201-C565-A427-7427-A27861946D37}"/>
          </ac:inkMkLst>
        </pc:inkChg>
        <pc:inkChg chg="add mod">
          <ac:chgData name="Shahid Masud" userId="fa14d244-da66-4eb9-a933-8314dc2af7dc" providerId="ADAL" clId="{2D7E542D-36C6-48ED-B1BC-6092F36DE576}" dt="2026-09-19T08:16:14.429" v="180"/>
          <ac:inkMkLst>
            <pc:docMk/>
            <pc:sldMk cId="834916335" sldId="283"/>
            <ac:inkMk id="38" creationId="{9CDB84BA-018A-B636-DCC1-DC9F4D43A4F2}"/>
          </ac:inkMkLst>
        </pc:inkChg>
        <pc:inkChg chg="add mod">
          <ac:chgData name="Shahid Masud" userId="fa14d244-da66-4eb9-a933-8314dc2af7dc" providerId="ADAL" clId="{2D7E542D-36C6-48ED-B1BC-6092F36DE576}" dt="2026-09-19T08:16:14.429" v="180"/>
          <ac:inkMkLst>
            <pc:docMk/>
            <pc:sldMk cId="834916335" sldId="283"/>
            <ac:inkMk id="39" creationId="{06053713-E255-18F3-D872-8FD2D3780B2C}"/>
          </ac:inkMkLst>
        </pc:inkChg>
        <pc:inkChg chg="add mod">
          <ac:chgData name="Shahid Masud" userId="fa14d244-da66-4eb9-a933-8314dc2af7dc" providerId="ADAL" clId="{2D7E542D-36C6-48ED-B1BC-6092F36DE576}" dt="2026-09-19T08:16:14.429" v="180"/>
          <ac:inkMkLst>
            <pc:docMk/>
            <pc:sldMk cId="834916335" sldId="283"/>
            <ac:inkMk id="40" creationId="{67FCC85F-4C74-6E29-2FDB-778F504FF42F}"/>
          </ac:inkMkLst>
        </pc:inkChg>
      </pc:sldChg>
      <pc:sldChg chg="addSp delSp modSp add mod delAnim">
        <pc:chgData name="Shahid Masud" userId="fa14d244-da66-4eb9-a933-8314dc2af7dc" providerId="ADAL" clId="{2D7E542D-36C6-48ED-B1BC-6092F36DE576}" dt="2026-09-19T08:12:54.145" v="138"/>
        <pc:sldMkLst>
          <pc:docMk/>
          <pc:sldMk cId="328842664" sldId="284"/>
        </pc:sldMkLst>
        <pc:grpChg chg="mod">
          <ac:chgData name="Shahid Masud" userId="fa14d244-da66-4eb9-a933-8314dc2af7dc" providerId="ADAL" clId="{2D7E542D-36C6-48ED-B1BC-6092F36DE576}" dt="2026-09-19T08:12:54.145" v="138"/>
          <ac:grpSpMkLst>
            <pc:docMk/>
            <pc:sldMk cId="328842664" sldId="284"/>
            <ac:grpSpMk id="42" creationId="{A70A75DE-3977-6132-0E50-DA2E927087C4}"/>
          </ac:grpSpMkLst>
        </pc:grpChg>
        <pc:inkChg chg="add">
          <ac:chgData name="Shahid Masud" userId="fa14d244-da66-4eb9-a933-8314dc2af7dc" providerId="ADAL" clId="{2D7E542D-36C6-48ED-B1BC-6092F36DE576}" dt="2026-09-19T08:11:38.721" v="105"/>
          <ac:inkMkLst>
            <pc:docMk/>
            <pc:sldMk cId="328842664" sldId="284"/>
            <ac:inkMk id="11" creationId="{A122AD8D-F234-7F55-6BE7-BBF5E36882C0}"/>
          </ac:inkMkLst>
        </pc:inkChg>
        <pc:inkChg chg="add">
          <ac:chgData name="Shahid Masud" userId="fa14d244-da66-4eb9-a933-8314dc2af7dc" providerId="ADAL" clId="{2D7E542D-36C6-48ED-B1BC-6092F36DE576}" dt="2026-09-19T08:12:02.365" v="107"/>
          <ac:inkMkLst>
            <pc:docMk/>
            <pc:sldMk cId="328842664" sldId="284"/>
            <ac:inkMk id="13" creationId="{35A874D5-ECFD-B416-5879-22AC198DCBCB}"/>
          </ac:inkMkLst>
        </pc:inkChg>
        <pc:inkChg chg="add">
          <ac:chgData name="Shahid Masud" userId="fa14d244-da66-4eb9-a933-8314dc2af7dc" providerId="ADAL" clId="{2D7E542D-36C6-48ED-B1BC-6092F36DE576}" dt="2026-09-19T08:12:06.813" v="109"/>
          <ac:inkMkLst>
            <pc:docMk/>
            <pc:sldMk cId="328842664" sldId="284"/>
            <ac:inkMk id="15" creationId="{69A36B83-141C-E9C0-069C-A2F6E0E51335}"/>
          </ac:inkMkLst>
        </pc:inkChg>
        <pc:inkChg chg="add">
          <ac:chgData name="Shahid Masud" userId="fa14d244-da66-4eb9-a933-8314dc2af7dc" providerId="ADAL" clId="{2D7E542D-36C6-48ED-B1BC-6092F36DE576}" dt="2026-09-19T08:12:15.161" v="110" actId="9405"/>
          <ac:inkMkLst>
            <pc:docMk/>
            <pc:sldMk cId="328842664" sldId="284"/>
            <ac:inkMk id="16" creationId="{7C15AD7D-DB0F-7D82-C227-89639C2BC6A2}"/>
          </ac:inkMkLst>
        </pc:inkChg>
        <pc:inkChg chg="add">
          <ac:chgData name="Shahid Masud" userId="fa14d244-da66-4eb9-a933-8314dc2af7dc" providerId="ADAL" clId="{2D7E542D-36C6-48ED-B1BC-6092F36DE576}" dt="2026-09-19T08:12:19.555" v="112"/>
          <ac:inkMkLst>
            <pc:docMk/>
            <pc:sldMk cId="328842664" sldId="284"/>
            <ac:inkMk id="18" creationId="{C3A7479C-78EF-D956-D0E9-CB8CC200FEEF}"/>
          </ac:inkMkLst>
        </pc:inkChg>
        <pc:inkChg chg="add mod">
          <ac:chgData name="Shahid Masud" userId="fa14d244-da66-4eb9-a933-8314dc2af7dc" providerId="ADAL" clId="{2D7E542D-36C6-48ED-B1BC-6092F36DE576}" dt="2026-09-19T08:12:38.713" v="124"/>
          <ac:inkMkLst>
            <pc:docMk/>
            <pc:sldMk cId="328842664" sldId="284"/>
            <ac:inkMk id="19" creationId="{64989292-F9AD-8921-7C1A-3278547673B9}"/>
          </ac:inkMkLst>
        </pc:inkChg>
        <pc:inkChg chg="add mod">
          <ac:chgData name="Shahid Masud" userId="fa14d244-da66-4eb9-a933-8314dc2af7dc" providerId="ADAL" clId="{2D7E542D-36C6-48ED-B1BC-6092F36DE576}" dt="2026-09-19T08:12:54.145" v="138"/>
          <ac:inkMkLst>
            <pc:docMk/>
            <pc:sldMk cId="328842664" sldId="284"/>
            <ac:inkMk id="20" creationId="{0BD7DEBB-1EAF-49A3-F80C-0E240C90D73A}"/>
          </ac:inkMkLst>
        </pc:inkChg>
        <pc:inkChg chg="add mod">
          <ac:chgData name="Shahid Masud" userId="fa14d244-da66-4eb9-a933-8314dc2af7dc" providerId="ADAL" clId="{2D7E542D-36C6-48ED-B1BC-6092F36DE576}" dt="2026-09-19T08:12:54.145" v="138"/>
          <ac:inkMkLst>
            <pc:docMk/>
            <pc:sldMk cId="328842664" sldId="284"/>
            <ac:inkMk id="22" creationId="{F7E8E20A-974B-FBF9-A7E4-97CE915368E3}"/>
          </ac:inkMkLst>
        </pc:inkChg>
        <pc:inkChg chg="add mod">
          <ac:chgData name="Shahid Masud" userId="fa14d244-da66-4eb9-a933-8314dc2af7dc" providerId="ADAL" clId="{2D7E542D-36C6-48ED-B1BC-6092F36DE576}" dt="2026-09-19T08:12:54.145" v="138"/>
          <ac:inkMkLst>
            <pc:docMk/>
            <pc:sldMk cId="328842664" sldId="284"/>
            <ac:inkMk id="23" creationId="{B6C960FD-71AA-0645-45E8-367F7D65132E}"/>
          </ac:inkMkLst>
        </pc:inkChg>
        <pc:inkChg chg="add mod">
          <ac:chgData name="Shahid Masud" userId="fa14d244-da66-4eb9-a933-8314dc2af7dc" providerId="ADAL" clId="{2D7E542D-36C6-48ED-B1BC-6092F36DE576}" dt="2026-09-19T08:12:38.713" v="124"/>
          <ac:inkMkLst>
            <pc:docMk/>
            <pc:sldMk cId="328842664" sldId="284"/>
            <ac:inkMk id="25" creationId="{1426DAD5-0C76-A166-BEA3-D741C771D441}"/>
          </ac:inkMkLst>
        </pc:inkChg>
        <pc:inkChg chg="add mod">
          <ac:chgData name="Shahid Masud" userId="fa14d244-da66-4eb9-a933-8314dc2af7dc" providerId="ADAL" clId="{2D7E542D-36C6-48ED-B1BC-6092F36DE576}" dt="2026-09-19T08:12:54.145" v="138"/>
          <ac:inkMkLst>
            <pc:docMk/>
            <pc:sldMk cId="328842664" sldId="284"/>
            <ac:inkMk id="26" creationId="{89F595E0-CB51-956D-FC59-27FCFB521ECB}"/>
          </ac:inkMkLst>
        </pc:inkChg>
        <pc:inkChg chg="add mod">
          <ac:chgData name="Shahid Masud" userId="fa14d244-da66-4eb9-a933-8314dc2af7dc" providerId="ADAL" clId="{2D7E542D-36C6-48ED-B1BC-6092F36DE576}" dt="2026-09-19T08:12:54.145" v="138"/>
          <ac:inkMkLst>
            <pc:docMk/>
            <pc:sldMk cId="328842664" sldId="284"/>
            <ac:inkMk id="27" creationId="{2DF0BE3E-2B97-5392-D878-9242C4B8901A}"/>
          </ac:inkMkLst>
        </pc:inkChg>
        <pc:inkChg chg="add mod">
          <ac:chgData name="Shahid Masud" userId="fa14d244-da66-4eb9-a933-8314dc2af7dc" providerId="ADAL" clId="{2D7E542D-36C6-48ED-B1BC-6092F36DE576}" dt="2026-09-19T08:12:54.145" v="138"/>
          <ac:inkMkLst>
            <pc:docMk/>
            <pc:sldMk cId="328842664" sldId="284"/>
            <ac:inkMk id="28" creationId="{C4C9A098-D0FC-C442-FCD5-5EF00C0BE1F5}"/>
          </ac:inkMkLst>
        </pc:inkChg>
        <pc:inkChg chg="add mod">
          <ac:chgData name="Shahid Masud" userId="fa14d244-da66-4eb9-a933-8314dc2af7dc" providerId="ADAL" clId="{2D7E542D-36C6-48ED-B1BC-6092F36DE576}" dt="2026-09-19T08:12:54.145" v="138"/>
          <ac:inkMkLst>
            <pc:docMk/>
            <pc:sldMk cId="328842664" sldId="284"/>
            <ac:inkMk id="29" creationId="{20F538CD-536B-B527-0FE1-ED4573B38934}"/>
          </ac:inkMkLst>
        </pc:inkChg>
        <pc:inkChg chg="add">
          <ac:chgData name="Shahid Masud" userId="fa14d244-da66-4eb9-a933-8314dc2af7dc" providerId="ADAL" clId="{2D7E542D-36C6-48ED-B1BC-6092F36DE576}" dt="2026-09-19T08:12:39.323" v="125" actId="9405"/>
          <ac:inkMkLst>
            <pc:docMk/>
            <pc:sldMk cId="328842664" sldId="284"/>
            <ac:inkMk id="31" creationId="{4B62C1C1-8AA7-21AA-9580-255F483375A8}"/>
          </ac:inkMkLst>
        </pc:inkChg>
        <pc:inkChg chg="add mod">
          <ac:chgData name="Shahid Masud" userId="fa14d244-da66-4eb9-a933-8314dc2af7dc" providerId="ADAL" clId="{2D7E542D-36C6-48ED-B1BC-6092F36DE576}" dt="2026-09-19T08:12:50.787" v="136"/>
          <ac:inkMkLst>
            <pc:docMk/>
            <pc:sldMk cId="328842664" sldId="284"/>
            <ac:inkMk id="32" creationId="{7AC1E0EB-B88A-7637-07BE-C2D8782508D7}"/>
          </ac:inkMkLst>
        </pc:inkChg>
        <pc:inkChg chg="add">
          <ac:chgData name="Shahid Masud" userId="fa14d244-da66-4eb9-a933-8314dc2af7dc" providerId="ADAL" clId="{2D7E542D-36C6-48ED-B1BC-6092F36DE576}" dt="2026-09-19T08:12:41.513" v="127" actId="9405"/>
          <ac:inkMkLst>
            <pc:docMk/>
            <pc:sldMk cId="328842664" sldId="284"/>
            <ac:inkMk id="33" creationId="{D8D605CD-BF41-5B59-6403-A7FB9051CF35}"/>
          </ac:inkMkLst>
        </pc:inkChg>
        <pc:inkChg chg="add">
          <ac:chgData name="Shahid Masud" userId="fa14d244-da66-4eb9-a933-8314dc2af7dc" providerId="ADAL" clId="{2D7E542D-36C6-48ED-B1BC-6092F36DE576}" dt="2026-09-19T08:12:42.558" v="128" actId="9405"/>
          <ac:inkMkLst>
            <pc:docMk/>
            <pc:sldMk cId="328842664" sldId="284"/>
            <ac:inkMk id="34" creationId="{18DF7562-CB92-6BD9-23BB-04316C4830E2}"/>
          </ac:inkMkLst>
        </pc:inkChg>
        <pc:inkChg chg="add">
          <ac:chgData name="Shahid Masud" userId="fa14d244-da66-4eb9-a933-8314dc2af7dc" providerId="ADAL" clId="{2D7E542D-36C6-48ED-B1BC-6092F36DE576}" dt="2026-09-19T08:12:43.102" v="129" actId="9405"/>
          <ac:inkMkLst>
            <pc:docMk/>
            <pc:sldMk cId="328842664" sldId="284"/>
            <ac:inkMk id="35" creationId="{F61A5E6F-6B87-F613-0AE6-66CC9E9E5DF2}"/>
          </ac:inkMkLst>
        </pc:inkChg>
        <pc:inkChg chg="add mod">
          <ac:chgData name="Shahid Masud" userId="fa14d244-da66-4eb9-a933-8314dc2af7dc" providerId="ADAL" clId="{2D7E542D-36C6-48ED-B1BC-6092F36DE576}" dt="2026-09-19T08:12:50.787" v="136"/>
          <ac:inkMkLst>
            <pc:docMk/>
            <pc:sldMk cId="328842664" sldId="284"/>
            <ac:inkMk id="36" creationId="{CE197CE0-CCE6-CCD7-F588-0C570AB7C3BA}"/>
          </ac:inkMkLst>
        </pc:inkChg>
        <pc:inkChg chg="add mod">
          <ac:chgData name="Shahid Masud" userId="fa14d244-da66-4eb9-a933-8314dc2af7dc" providerId="ADAL" clId="{2D7E542D-36C6-48ED-B1BC-6092F36DE576}" dt="2026-09-19T08:12:50.787" v="136"/>
          <ac:inkMkLst>
            <pc:docMk/>
            <pc:sldMk cId="328842664" sldId="284"/>
            <ac:inkMk id="37" creationId="{04712301-278B-B599-2F82-4D935EDE9261}"/>
          </ac:inkMkLst>
        </pc:inkChg>
        <pc:inkChg chg="add mod">
          <ac:chgData name="Shahid Masud" userId="fa14d244-da66-4eb9-a933-8314dc2af7dc" providerId="ADAL" clId="{2D7E542D-36C6-48ED-B1BC-6092F36DE576}" dt="2026-09-19T08:12:54.145" v="138"/>
          <ac:inkMkLst>
            <pc:docMk/>
            <pc:sldMk cId="328842664" sldId="284"/>
            <ac:inkMk id="38" creationId="{7CF31CB6-3FEB-7B5B-2608-2DEBB6CE4659}"/>
          </ac:inkMkLst>
        </pc:inkChg>
        <pc:inkChg chg="add">
          <ac:chgData name="Shahid Masud" userId="fa14d244-da66-4eb9-a933-8314dc2af7dc" providerId="ADAL" clId="{2D7E542D-36C6-48ED-B1BC-6092F36DE576}" dt="2026-09-19T08:12:53.201" v="137" actId="9405"/>
          <ac:inkMkLst>
            <pc:docMk/>
            <pc:sldMk cId="328842664" sldId="284"/>
            <ac:inkMk id="41" creationId="{D8633541-C998-C73D-4645-57B58686FAC1}"/>
          </ac:inkMkLst>
        </pc:inkChg>
      </pc:sldChg>
      <pc:sldChg chg="add">
        <pc:chgData name="Shahid Masud" userId="fa14d244-da66-4eb9-a933-8314dc2af7dc" providerId="ADAL" clId="{2D7E542D-36C6-48ED-B1BC-6092F36DE576}" dt="2026-09-21T13:29:42.621" v="224"/>
        <pc:sldMkLst>
          <pc:docMk/>
          <pc:sldMk cId="850436826" sldId="379"/>
        </pc:sldMkLst>
      </pc:sldChg>
      <pc:sldChg chg="modSp add mod">
        <pc:chgData name="Shahid Masud" userId="fa14d244-da66-4eb9-a933-8314dc2af7dc" providerId="ADAL" clId="{2D7E542D-36C6-48ED-B1BC-6092F36DE576}" dt="2026-09-21T13:29:42.676" v="225" actId="27636"/>
        <pc:sldMkLst>
          <pc:docMk/>
          <pc:sldMk cId="3361935526" sldId="380"/>
        </pc:sldMkLst>
        <pc:spChg chg="mod">
          <ac:chgData name="Shahid Masud" userId="fa14d244-da66-4eb9-a933-8314dc2af7dc" providerId="ADAL" clId="{2D7E542D-36C6-48ED-B1BC-6092F36DE576}" dt="2026-09-21T13:29:42.676" v="225" actId="27636"/>
          <ac:spMkLst>
            <pc:docMk/>
            <pc:sldMk cId="3361935526" sldId="380"/>
            <ac:spMk id="2" creationId="{6BE979DB-1B99-48F1-BA7A-CA3117AB8371}"/>
          </ac:spMkLst>
        </pc:spChg>
      </pc:sldChg>
      <pc:sldChg chg="modSp add mod">
        <pc:chgData name="Shahid Masud" userId="fa14d244-da66-4eb9-a933-8314dc2af7dc" providerId="ADAL" clId="{2D7E542D-36C6-48ED-B1BC-6092F36DE576}" dt="2026-09-21T13:29:42.683" v="226" actId="27636"/>
        <pc:sldMkLst>
          <pc:docMk/>
          <pc:sldMk cId="3585760757" sldId="392"/>
        </pc:sldMkLst>
        <pc:spChg chg="mod">
          <ac:chgData name="Shahid Masud" userId="fa14d244-da66-4eb9-a933-8314dc2af7dc" providerId="ADAL" clId="{2D7E542D-36C6-48ED-B1BC-6092F36DE576}" dt="2026-09-21T13:29:42.683" v="226" actId="27636"/>
          <ac:spMkLst>
            <pc:docMk/>
            <pc:sldMk cId="3585760757" sldId="392"/>
            <ac:spMk id="2" creationId="{9493232B-C42B-4AD7-909E-757FFEFC66F1}"/>
          </ac:spMkLst>
        </pc:spChg>
      </pc:sldChg>
      <pc:sldChg chg="modSp add mod">
        <pc:chgData name="Shahid Masud" userId="fa14d244-da66-4eb9-a933-8314dc2af7dc" providerId="ADAL" clId="{2D7E542D-36C6-48ED-B1BC-6092F36DE576}" dt="2026-09-21T13:29:42.691" v="227" actId="27636"/>
        <pc:sldMkLst>
          <pc:docMk/>
          <pc:sldMk cId="3822018212" sldId="393"/>
        </pc:sldMkLst>
        <pc:spChg chg="mod">
          <ac:chgData name="Shahid Masud" userId="fa14d244-da66-4eb9-a933-8314dc2af7dc" providerId="ADAL" clId="{2D7E542D-36C6-48ED-B1BC-6092F36DE576}" dt="2026-09-21T13:29:42.691" v="227" actId="27636"/>
          <ac:spMkLst>
            <pc:docMk/>
            <pc:sldMk cId="3822018212" sldId="393"/>
            <ac:spMk id="3" creationId="{DFBB9BDE-E0A0-4024-A071-333106FE5779}"/>
          </ac:spMkLst>
        </pc:spChg>
      </pc:sldChg>
      <pc:sldChg chg="add">
        <pc:chgData name="Shahid Masud" userId="fa14d244-da66-4eb9-a933-8314dc2af7dc" providerId="ADAL" clId="{2D7E542D-36C6-48ED-B1BC-6092F36DE576}" dt="2026-09-21T13:29:42.621" v="224"/>
        <pc:sldMkLst>
          <pc:docMk/>
          <pc:sldMk cId="115984728" sldId="394"/>
        </pc:sldMkLst>
      </pc:sldChg>
      <pc:sldChg chg="add">
        <pc:chgData name="Shahid Masud" userId="fa14d244-da66-4eb9-a933-8314dc2af7dc" providerId="ADAL" clId="{2D7E542D-36C6-48ED-B1BC-6092F36DE576}" dt="2026-09-21T13:29:42.621" v="224"/>
        <pc:sldMkLst>
          <pc:docMk/>
          <pc:sldMk cId="2862264994" sldId="395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#1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D4AAA5-7777-43CA-8D17-5595E23E3A2E}" type="doc">
      <dgm:prSet loTypeId="urn:microsoft.com/office/officeart/2005/8/layout/vList5" loCatId="list" qsTypeId="urn:microsoft.com/office/officeart/2005/8/quickstyle/simple1#1" qsCatId="simple" csTypeId="urn:microsoft.com/office/officeart/2005/8/colors/colorful3#1" csCatId="colorful"/>
      <dgm:spPr/>
      <dgm:t>
        <a:bodyPr/>
        <a:lstStyle/>
        <a:p>
          <a:endParaRPr lang="en-US"/>
        </a:p>
      </dgm:t>
    </dgm:pt>
    <dgm:pt modelId="{DAE0C3A8-CBFC-42A1-9986-192FA7A7E6BB}">
      <dgm:prSet/>
      <dgm:spPr/>
      <dgm:t>
        <a:bodyPr/>
        <a:lstStyle/>
        <a:p>
          <a:r>
            <a:rPr lang="en-US" b="1"/>
            <a:t>Shahid Masud</a:t>
          </a:r>
          <a:endParaRPr lang="en-US"/>
        </a:p>
      </dgm:t>
    </dgm:pt>
    <dgm:pt modelId="{E242BBA5-C9B1-4E3C-8E22-5D02122C8082}" type="parTrans" cxnId="{8663215D-995E-4F71-8BA1-13B00AE825CA}">
      <dgm:prSet/>
      <dgm:spPr/>
      <dgm:t>
        <a:bodyPr/>
        <a:lstStyle/>
        <a:p>
          <a:endParaRPr lang="en-US"/>
        </a:p>
      </dgm:t>
    </dgm:pt>
    <dgm:pt modelId="{710D0285-8394-47BC-B955-9FABA1D37968}" type="sibTrans" cxnId="{8663215D-995E-4F71-8BA1-13B00AE825CA}">
      <dgm:prSet/>
      <dgm:spPr/>
      <dgm:t>
        <a:bodyPr/>
        <a:lstStyle/>
        <a:p>
          <a:endParaRPr lang="en-US"/>
        </a:p>
      </dgm:t>
    </dgm:pt>
    <dgm:pt modelId="{39AC9643-99C7-4E47-BEB7-9C230186B7BB}">
      <dgm:prSet/>
      <dgm:spPr/>
      <dgm:t>
        <a:bodyPr/>
        <a:lstStyle/>
        <a:p>
          <a:r>
            <a:rPr lang="en-US" b="1"/>
            <a:t>State Machines </a:t>
          </a:r>
          <a:endParaRPr lang="en-US"/>
        </a:p>
      </dgm:t>
    </dgm:pt>
    <dgm:pt modelId="{41095DCB-7C10-4549-9A71-605C8BB0F11A}" type="parTrans" cxnId="{9A07D380-1DB9-4AF5-83AB-913CF4ABD9B7}">
      <dgm:prSet/>
      <dgm:spPr/>
      <dgm:t>
        <a:bodyPr/>
        <a:lstStyle/>
        <a:p>
          <a:endParaRPr lang="en-US"/>
        </a:p>
      </dgm:t>
    </dgm:pt>
    <dgm:pt modelId="{44AF94BE-8B77-4AEC-B854-93B8D24EC0E6}" type="sibTrans" cxnId="{9A07D380-1DB9-4AF5-83AB-913CF4ABD9B7}">
      <dgm:prSet/>
      <dgm:spPr/>
      <dgm:t>
        <a:bodyPr/>
        <a:lstStyle/>
        <a:p>
          <a:endParaRPr lang="en-US"/>
        </a:p>
      </dgm:t>
    </dgm:pt>
    <dgm:pt modelId="{85B5DB3F-F769-439E-89A1-33685D5C9272}">
      <dgm:prSet/>
      <dgm:spPr/>
      <dgm:t>
        <a:bodyPr/>
        <a:lstStyle/>
        <a:p>
          <a:r>
            <a:rPr lang="en-US" b="1"/>
            <a:t>Vending Machine Example</a:t>
          </a:r>
          <a:endParaRPr lang="en-US"/>
        </a:p>
      </dgm:t>
    </dgm:pt>
    <dgm:pt modelId="{C9E2C8EA-2738-47B6-BDFA-C501C868FDB9}" type="parTrans" cxnId="{3907866E-420A-479C-ADA5-12D1FACA02C1}">
      <dgm:prSet/>
      <dgm:spPr/>
      <dgm:t>
        <a:bodyPr/>
        <a:lstStyle/>
        <a:p>
          <a:endParaRPr lang="en-US"/>
        </a:p>
      </dgm:t>
    </dgm:pt>
    <dgm:pt modelId="{89C96BCD-14F3-437C-AFDE-735A28794819}" type="sibTrans" cxnId="{3907866E-420A-479C-ADA5-12D1FACA02C1}">
      <dgm:prSet/>
      <dgm:spPr/>
      <dgm:t>
        <a:bodyPr/>
        <a:lstStyle/>
        <a:p>
          <a:endParaRPr lang="en-US"/>
        </a:p>
      </dgm:t>
    </dgm:pt>
    <dgm:pt modelId="{EF3AB41D-461D-4052-8EB9-0F83B2348CA4}" type="pres">
      <dgm:prSet presAssocID="{19D4AAA5-7777-43CA-8D17-5595E23E3A2E}" presName="Name0" presStyleCnt="0">
        <dgm:presLayoutVars>
          <dgm:dir/>
          <dgm:animLvl val="lvl"/>
          <dgm:resizeHandles val="exact"/>
        </dgm:presLayoutVars>
      </dgm:prSet>
      <dgm:spPr/>
    </dgm:pt>
    <dgm:pt modelId="{29E3B55A-C9AA-4D55-BFF7-E690F193A365}" type="pres">
      <dgm:prSet presAssocID="{DAE0C3A8-CBFC-42A1-9986-192FA7A7E6BB}" presName="linNode" presStyleCnt="0"/>
      <dgm:spPr/>
    </dgm:pt>
    <dgm:pt modelId="{D7986EA4-B74B-4DE9-A4CC-AFDFB2534E78}" type="pres">
      <dgm:prSet presAssocID="{DAE0C3A8-CBFC-42A1-9986-192FA7A7E6BB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F852FFE4-A34F-4B06-A35B-BA53758DED31}" type="pres">
      <dgm:prSet presAssocID="{710D0285-8394-47BC-B955-9FABA1D37968}" presName="sp" presStyleCnt="0"/>
      <dgm:spPr/>
    </dgm:pt>
    <dgm:pt modelId="{DE24F32C-C32D-4FAB-B5F3-D8B95E4026F2}" type="pres">
      <dgm:prSet presAssocID="{39AC9643-99C7-4E47-BEB7-9C230186B7BB}" presName="linNode" presStyleCnt="0"/>
      <dgm:spPr/>
    </dgm:pt>
    <dgm:pt modelId="{BCE73EA9-D85C-44F5-A965-DF91A545A388}" type="pres">
      <dgm:prSet presAssocID="{39AC9643-99C7-4E47-BEB7-9C230186B7BB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A5504389-0C37-441D-B48E-BB290F21D743}" type="pres">
      <dgm:prSet presAssocID="{44AF94BE-8B77-4AEC-B854-93B8D24EC0E6}" presName="sp" presStyleCnt="0"/>
      <dgm:spPr/>
    </dgm:pt>
    <dgm:pt modelId="{D0FDF84D-76AA-4937-B3C6-FA2C42D2F534}" type="pres">
      <dgm:prSet presAssocID="{85B5DB3F-F769-439E-89A1-33685D5C9272}" presName="linNode" presStyleCnt="0"/>
      <dgm:spPr/>
    </dgm:pt>
    <dgm:pt modelId="{C0004344-F3B5-44D7-8694-FBFBC67FEB5A}" type="pres">
      <dgm:prSet presAssocID="{85B5DB3F-F769-439E-89A1-33685D5C9272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06D50710-E6D6-4298-9DBE-20C39F7532C1}" type="presOf" srcId="{19D4AAA5-7777-43CA-8D17-5595E23E3A2E}" destId="{EF3AB41D-461D-4052-8EB9-0F83B2348CA4}" srcOrd="0" destOrd="0" presId="urn:microsoft.com/office/officeart/2005/8/layout/vList5"/>
    <dgm:cxn modelId="{8663215D-995E-4F71-8BA1-13B00AE825CA}" srcId="{19D4AAA5-7777-43CA-8D17-5595E23E3A2E}" destId="{DAE0C3A8-CBFC-42A1-9986-192FA7A7E6BB}" srcOrd="0" destOrd="0" parTransId="{E242BBA5-C9B1-4E3C-8E22-5D02122C8082}" sibTransId="{710D0285-8394-47BC-B955-9FABA1D37968}"/>
    <dgm:cxn modelId="{3907866E-420A-479C-ADA5-12D1FACA02C1}" srcId="{19D4AAA5-7777-43CA-8D17-5595E23E3A2E}" destId="{85B5DB3F-F769-439E-89A1-33685D5C9272}" srcOrd="2" destOrd="0" parTransId="{C9E2C8EA-2738-47B6-BDFA-C501C868FDB9}" sibTransId="{89C96BCD-14F3-437C-AFDE-735A28794819}"/>
    <dgm:cxn modelId="{9A07D380-1DB9-4AF5-83AB-913CF4ABD9B7}" srcId="{19D4AAA5-7777-43CA-8D17-5595E23E3A2E}" destId="{39AC9643-99C7-4E47-BEB7-9C230186B7BB}" srcOrd="1" destOrd="0" parTransId="{41095DCB-7C10-4549-9A71-605C8BB0F11A}" sibTransId="{44AF94BE-8B77-4AEC-B854-93B8D24EC0E6}"/>
    <dgm:cxn modelId="{C3E0F281-D132-45E1-B9E6-1C8AB8BA0F78}" type="presOf" srcId="{85B5DB3F-F769-439E-89A1-33685D5C9272}" destId="{C0004344-F3B5-44D7-8694-FBFBC67FEB5A}" srcOrd="0" destOrd="0" presId="urn:microsoft.com/office/officeart/2005/8/layout/vList5"/>
    <dgm:cxn modelId="{48AB9FA6-9709-4FC6-9FCD-583E97C3ACA6}" type="presOf" srcId="{DAE0C3A8-CBFC-42A1-9986-192FA7A7E6BB}" destId="{D7986EA4-B74B-4DE9-A4CC-AFDFB2534E78}" srcOrd="0" destOrd="0" presId="urn:microsoft.com/office/officeart/2005/8/layout/vList5"/>
    <dgm:cxn modelId="{843772DD-FFCD-41F6-85D0-E59749092A26}" type="presOf" srcId="{39AC9643-99C7-4E47-BEB7-9C230186B7BB}" destId="{BCE73EA9-D85C-44F5-A965-DF91A545A388}" srcOrd="0" destOrd="0" presId="urn:microsoft.com/office/officeart/2005/8/layout/vList5"/>
    <dgm:cxn modelId="{D442DB98-5568-4FBE-8D76-0F4E9332C859}" type="presParOf" srcId="{EF3AB41D-461D-4052-8EB9-0F83B2348CA4}" destId="{29E3B55A-C9AA-4D55-BFF7-E690F193A365}" srcOrd="0" destOrd="0" presId="urn:microsoft.com/office/officeart/2005/8/layout/vList5"/>
    <dgm:cxn modelId="{8C21E1F7-B495-4858-998F-BEB06487B330}" type="presParOf" srcId="{29E3B55A-C9AA-4D55-BFF7-E690F193A365}" destId="{D7986EA4-B74B-4DE9-A4CC-AFDFB2534E78}" srcOrd="0" destOrd="0" presId="urn:microsoft.com/office/officeart/2005/8/layout/vList5"/>
    <dgm:cxn modelId="{4DC6EB7A-F608-4C42-8FAC-A95C5EB570A2}" type="presParOf" srcId="{EF3AB41D-461D-4052-8EB9-0F83B2348CA4}" destId="{F852FFE4-A34F-4B06-A35B-BA53758DED31}" srcOrd="1" destOrd="0" presId="urn:microsoft.com/office/officeart/2005/8/layout/vList5"/>
    <dgm:cxn modelId="{A2AC360F-7A29-4203-8284-96AC4566F283}" type="presParOf" srcId="{EF3AB41D-461D-4052-8EB9-0F83B2348CA4}" destId="{DE24F32C-C32D-4FAB-B5F3-D8B95E4026F2}" srcOrd="2" destOrd="0" presId="urn:microsoft.com/office/officeart/2005/8/layout/vList5"/>
    <dgm:cxn modelId="{AFE2C190-7C50-479D-8AB9-3C06D8EB1DEE}" type="presParOf" srcId="{DE24F32C-C32D-4FAB-B5F3-D8B95E4026F2}" destId="{BCE73EA9-D85C-44F5-A965-DF91A545A388}" srcOrd="0" destOrd="0" presId="urn:microsoft.com/office/officeart/2005/8/layout/vList5"/>
    <dgm:cxn modelId="{3DC8BB4B-FA5A-4323-AEF8-AB1B69C0EC82}" type="presParOf" srcId="{EF3AB41D-461D-4052-8EB9-0F83B2348CA4}" destId="{A5504389-0C37-441D-B48E-BB290F21D743}" srcOrd="3" destOrd="0" presId="urn:microsoft.com/office/officeart/2005/8/layout/vList5"/>
    <dgm:cxn modelId="{A34F4D7A-0EAC-43EB-AC30-61F7FA75CFA7}" type="presParOf" srcId="{EF3AB41D-461D-4052-8EB9-0F83B2348CA4}" destId="{D0FDF84D-76AA-4937-B3C6-FA2C42D2F534}" srcOrd="4" destOrd="0" presId="urn:microsoft.com/office/officeart/2005/8/layout/vList5"/>
    <dgm:cxn modelId="{FBBF46EA-F8FF-46DD-9236-FF293DD2E0F5}" type="presParOf" srcId="{D0FDF84D-76AA-4937-B3C6-FA2C42D2F534}" destId="{C0004344-F3B5-44D7-8694-FBFBC67FEB5A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86EA4-B74B-4DE9-A4CC-AFDFB2534E78}">
      <dsp:nvSpPr>
        <dsp:cNvPr id="0" name=""/>
        <dsp:cNvSpPr/>
      </dsp:nvSpPr>
      <dsp:spPr>
        <a:xfrm>
          <a:off x="2926080" y="808"/>
          <a:ext cx="3291840" cy="53359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Shahid Masud</a:t>
          </a:r>
          <a:endParaRPr lang="en-US" sz="2200" kern="1200"/>
        </a:p>
      </dsp:txBody>
      <dsp:txXfrm>
        <a:off x="2952128" y="26856"/>
        <a:ext cx="3239744" cy="481499"/>
      </dsp:txXfrm>
    </dsp:sp>
    <dsp:sp modelId="{BCE73EA9-D85C-44F5-A965-DF91A545A388}">
      <dsp:nvSpPr>
        <dsp:cNvPr id="0" name=""/>
        <dsp:cNvSpPr/>
      </dsp:nvSpPr>
      <dsp:spPr>
        <a:xfrm>
          <a:off x="2926080" y="561083"/>
          <a:ext cx="3291840" cy="533595"/>
        </a:xfrm>
        <a:prstGeom prst="roundRect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State Machines </a:t>
          </a:r>
          <a:endParaRPr lang="en-US" sz="2200" kern="1200"/>
        </a:p>
      </dsp:txBody>
      <dsp:txXfrm>
        <a:off x="2952128" y="587131"/>
        <a:ext cx="3239744" cy="481499"/>
      </dsp:txXfrm>
    </dsp:sp>
    <dsp:sp modelId="{C0004344-F3B5-44D7-8694-FBFBC67FEB5A}">
      <dsp:nvSpPr>
        <dsp:cNvPr id="0" name=""/>
        <dsp:cNvSpPr/>
      </dsp:nvSpPr>
      <dsp:spPr>
        <a:xfrm>
          <a:off x="2926080" y="1121358"/>
          <a:ext cx="3291840" cy="533595"/>
        </a:xfrm>
        <a:prstGeom prst="roundRect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Vending Machine Example</a:t>
          </a:r>
          <a:endParaRPr lang="en-US" sz="2200" kern="1200"/>
        </a:p>
      </dsp:txBody>
      <dsp:txXfrm>
        <a:off x="2952128" y="1147406"/>
        <a:ext cx="3239744" cy="4814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5T03:25:40.51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30,'398'27,"14"1,1100-30,-1465 0,54-10,37-2,938 13,-524 3,-396 0,167-5,-280-1,71-18,-78 13,1 2,69-4,1069 10,-547 3,492-2,-942 14,7 0,-120-16,-38-1,0 3,0 0,0 1,32 7,-52-6,0 0,0 1,-1 0,1 1,-1 0,0 0,0 0,-1 0,1 1,-1 0,0 0,0 1,-1-1,1 1,5 11,5 9,-1 1,14 39,-23-53,128 349,-71-166,-56-176,-1-1,0 1,-1 0,1 31,6 35,-5-52,-2-1,-2 1,-2 34,-1-36,2 0,1 1,10 46,-9-57,0 0,-1 0,-2 30,-1-39,0 1,1 0,1-1,0 1,1 0,1-1,0 0,0 1,1-1,1 0,9 17,-11-26,0-1,0 1,1-1,-1 0,1 0,0-1,0 1,0-1,0 1,0-1,0-1,1 1,-1-1,1 1,-1-1,1 0,-1-1,7 1,13 0,0 0,33-5,-17 2,285 0,-302 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5T03:25:43.4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 1170,'-2'-150,"5"-162,14 187,-8 74,2 2,2 0,22-56,-15 48,51-105,-69 157,0 1,0 0,1 1,-1-1,1 0,0 1,0-1,0 1,1 0,-1 0,1 0,-1 1,1-1,0 1,0 0,0 0,1 0,3-1,10-2,0 0,0 1,22-1,-13 1,330-24,6 30,-124 1,1546-3,-1753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5T03:25:53.03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26,'1334'0,"-1295"-2,52-9,25-1,290 11,-384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8:21:09.5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2259 920 24532,'-2258'-919'0,"2258"17654"0,2258-17654 0,-2258-13978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21:27.980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0 88,'0'-5,"10"-6,8-1,5-4,4 1,2 3,1 4,0 3,0 2,4 2,7 1,9 1,12 0,5-1,9 1,7-1,-1 0,-5 0,-11 0,-12 0,-10 0,-8 0,-5 0,-3 0,-2 0,0 0,-4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21:29.815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0 2,'0'4,"5"3,6-1,6-6,6-3,2-1,8 0,2 1,10 1,12 1,6 0,6 1,6 0,-5 0,-10 0,-9 0,-10 0,-6 1,-5-1,-3 0,5 0,5 0,12 0,11 0,15 0,-1 0,-3 4,-9 3,0-1,8-1,6-2,-4 4,-15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8:21:30.970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1 113 0,'931'-113'0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21:32.849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1 1,'4'0,"8"0,5 0,5 0,4 0,2 0,10 0,14 0,2 0,-2 0,-7 0,-5 0,-4 0,-5 0,-2 0,-1 0,-1 0,0 0,1 0,-1 0,1 0,0 0,0 0,0 0,0 0,0 0,1 0,-1 0,0 0,-4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21:33.472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0 58,'5'0,"2"-10,8-12,3-3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21:34.756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1 485,'4'0,"8"0,5 0,5 0,4 0,2 0,1 0,0 0,0-5,1-2,-6-4,3 0,2-3,0 0,1 4,-1 2,1 3,-1 3,-1-4,5-5,12-10,-3-7,-3-3,-4 3,-3 2,-1 1,2-1,-3 0,2-1,1 0,-1 4,4 1,-4 0,-3 4,-1 4,-1 5,0 4,0 3,0 1,1 2,0 0,0 0,0 0,0-1,0 1,1-1,-6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21:35.939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0 249,'5'0,"6"0,6 0,6 0,2 0,3 0,1 0,5 0,12 0,7 0,4 0,2 0,1 0,-5 0,-8 0,-6 0,9-15,5-9,-2 0,10-7,-1-2,-7 5,-8 1,-7 7,-5 5,-4 6,-8 0,-2 1,-5 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21:37.160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7 1,'-5'0,"3"0,7 0,3 4,9 3,16 4,13 5,17 0,12-3,8 1,0 4,4 2,-2-1,-12-4,-12 0,-13-3,-9-3,-12 2,-5-1,-2-3,1-2,2 3,1 0,-4-1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21:38.151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1 0,'4'0,"8"0,5 0,19 0,28 5,32 6,33 6,13 1,-2-4,-16 2,-24-3,-24 1,-20-1,-16-3,-8-3,-6-3,-3-2,6-2,1 0,-4-1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21:39.443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1 0,'5'0,"6"0,6 0,5 0,9 0,17 0,11 0,15 0,13 0,12 0,2 0,5 5,-3 1,-8 0,-16-1,-16-1,-15-2,-10-1,-7 0,-4-1,-6-1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21:40.447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0 1,'5'0,"6"0,7 0,9 0,19 0,17 0,16 0,14 0,6 0,-4 0,-5 0,-12 0,-15 0,-13 0,-10 0,-12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21:41.324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1 1,'5'0,"6"0,6 0,5 0,4 0,2 0,6 0,21 0,10 0,15 0,7 0,8 0,-7 0,-9 0,-14 0,-12 0,-15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21:42.572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1 1,'0'5,"5"1,15 0,20-1,12-1,12-2,4-1,-4-1,-9 0,-8 0,-8 0,-5 0,-5-1,-1 1,-1 0,-1 0,1 0,0 0,0 0,1 0,0 0,0 0,0 0,1 0,-1 0,0 0,1 0,-1 0,0 0,0 0,1 0,-1 0,5 0,-3-5,-7-1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21:47.428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1 0,'4'0,"8"0,5 0,5 0,4 0,1 0,2 0,1 0,-1 0,1 0,-1 0,-1 0,1 0,-6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21:49.278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21:50.802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1 0,'4'0,"12"0,18 0,26 0,37 0,59 5,52 2,38 3,15 2,-2-3,-22-2,-41-2,-55-2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21:52.573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0 0,'5'0,"6"0,6 0,10 0,5 0,7 0,1 0,-1 0,-2 0,2 0,3 0,1 0,-3 0,-9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21:54.917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0 0,'5'0,"6"0,6 0,6 0,7 5,14 1,13 5,17 5,14 0,8 2,-4-2,-3-4,-2-3,-11-4,-14-3,-13-1,-14-2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21:58.938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1 94,'5'-4,"6"-3,6-4,15 0,30 1,48 3,54 3,37 1,27 2,9 1,-3-5,-26-1,-39 1,-39-5,-41 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22:02.124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1 0,'0'5,"5"2,6-1,16-1,12-2,15-1,12 4,10 1,-4-1,-5 4,-8-1,-10-1,-8 3,-6-1,-5-2,-2-2,-2-2,1-3,-1 0,6-1,21 0,15-1,12 1,1 0,-3-5,-16-2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8:22:03.371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0 1 0,'1299'0'0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8:22:05.364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0 0 0,'1214'0'0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22:08.861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0 1,'5'0,"11"0,8 0,4 0,12 0,14 0,7 0,7 0,8 0,-6 0,-9 0,-11 0,-8 0,-7 0,-5 0,-2 0,-1 0,-1 0,0 0,-4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22:10.073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0 81,'0'-5,"5"-2,6 1,6 1,5 2,4 1,7 1,2 0,10 1,12 0,1 1,4-1,-2 0,-3 0,-6 0,-7 0,-1-4,-3-3,-4 1,-3 1,-2-3,-2-1,-1 2,-5 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22:10.941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1 22,'5'0,"6"0,16 0,22 0,18 0,16 0,27 0,6 0,-4 0,-5-4,-18-3,-17 1,-22 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22:11.779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0 0,'0'5,"0"6,10 2,7-2,21-3,23-2,24-3,18-1,15-2,-3 0,-6-1,-8 1,-11-1,-12 1,-13 0,-14 0,-11-1,-7 1,-9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22:15.914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1 30,'5'-5,"6"-1,6 0,5 1,4 1,6 2,9 1,10 1,7 0,-2 0,-5 0,-7 0,-6 1,-5-1,-3 0,-2 0,0 0,-6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13:08.493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15:36.775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392 230,'-5'0,"-6"0,-6 0,-5 0,-4 0,-2 0,-1 10,5 7,5 7,3 3,2 2,1-4,1-1,3 0,3 0,2 2,3 0,0 2,2-1,-1 6,1 2,4-5,2-3,-1-2,-1 1,4 0,-1 1,4-5,5-1,-1 1,2 1,2 2,-2 1,1-3,2-7,2 0,-3 2,0-3,2-3,1 0,2 4,2 3,0-1,1-3,1-6,-1-2,1-4,-1-2,1-1,-1-1,1 0,-1 0,-5-4,-1-7,0 0,2-4,-5-4,1 2,1-1,-3-7,0 1,-2 0,-5-1,1 0,3-1,0-1,-4 1,-3-2,-3 1,-3 0,-1-1,-1-4,0-6,-6-7,-6 5,-5 5,-1 3,-2 3,-1-3,-4 4,4 2,0 0,-1 6,4 1,-1-5,-2 1,-1 5,-3 0,-1 0,-1-3,-6 3,-2 0,0-2,2 3,1-1,1 4,2 3,0 5,0 3,1 2,1 2,-1 0,0 1,0 0,-1-1,1 1,0-1,0 0,0 0,-1 0,-4 5,-6 6,3 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15:40.221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200 171,'0'-5,"-9"-1,-4 4,-4 4,1 5,3 7,3 6,0 4,0 2,3 3,-3 0,1 1,1-1,3 0,2 0,1 0,1-1,6 0,2 1,4-1,5 0,1 0,1-5,3-1,2 0,3 2,1 0,1 2,0 2,1-5,-5-2,-2-3,1-6,-5 1,1-3,1-2,2 2,2-1,2 3,2-1,0 3,0-1,1 2,-1-1,1-4,0-3,-1-2,0-3,1-2,-6-5,-1-6,0-2,-4-4,1-3,5 2,0-2,-5-1,0-2,-4-3,-5 0,-3-2,-3 0,-3-1,-1 0,0 1,-1-6,0-5,0-2,1 2,0 2,-5-2,-2 2,-4 5,0 5,-3 2,0 0,-1-1,-4 0,-3 0,-2 3,-3 2,-1 4,0 0,-1-2,-5 2,-6 0,-1-3,2 3,2 4,3 4,2 3,7-1,3 0,0 1,-1 2,-1 1,-1 2,-7 0,-7 6,-1 6,1 7,7 4,-1 4,-4 2,-1 6,-3 2,5-5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15:43.325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121 143,'-5'0,"-6"5,-1 6,-4 6,1 6,3 2,-1 3,2 1,2 1,3-1,3 0,1 0,2 0,0-1,0 1,1-1,4 0,7 0,1 1,2-6,5-1,-2 0,1-4,3-4,1-1,-3 4,1-3,0 2,-2 3,0-1,1 0,3-3,1 2,3 1,0-1,1-4,1-4,-1 1,1-1,-1-2,1-2,4 2,2 1,-1 3,-1 1,-1-3,-2-3,0-1,-2-8,1-2,-1-6,-5-5,-6-6,-2 2,-3 0,-3-3,-4-1,-2-2,-2-1,-1-1,-1 0,0-1,1-4,-1-12,1-2,-5-3,-2 2,-4 4,0 6,-3 3,-5 4,-2 2,-4 1,-2 0,-6 1,3 0,1 4,1 1,1 5,0 1,-1-3,0 3,1 3,-1 0,-1 2,1 2,0-1,0 0,0 3,-1 2,1 1,-5 3,-2 0,6 6,2 2,2 4,-1 1,0 2,0 10,-1-1,4 7,1 2,5-4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15:46.557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144 0,'-5'5,"-6"6,-7 6,-4 1,1 1,5 3,4 2,0 2,2 1,2 1,3 1,3-1,0 1,2 0,0-1,1 1,-1-1,1 0,-1 0,5-4,7-2,0 0,4 1,3-3,4-5,-2-1,0-2,1 2,2-2,1 2,2-2,-4 3,-1-2,0 2,2-2,1 2,1-2,-3 2,-2-1,1-4,2-3,1-3,1 2,1 1,1 4,1 5,-1-1,5-2,2-4,-5 1,-3 0,-1-3,-1-2,1 3,1 0,0-1,0-3,1-1,0-6,1-2,-1-6,-5-5,-5-10,-7-5,-5-2,-4-1,-1 1,-2 2,0 1,-1 0,1 1,1 1,-6-5,-5-1,-6 0,-6 1,3-4,-2 1,-1 0,-1 3,3 1,0 2,4 1,0 0,-2 1,3 0,-2 5,-2 2,3-1,-1 4,-3 4,-1 5,-3 4,-2 3,0 7,-1 2,-1 0,0-1,1-2,-1-1,1-2,-1 0,1-1,0 0,-1-1,1 1,0 0,0 0,0 0,-1 0,-4 4,-1 7,4 2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15:55.944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203 49,'0'-5,"-4"-6,-8-1,-5 1,-10 2,0 8,-1 9,1 3,3 4,7 10,6 5,5 2,4 1,1-1,2-1,0-1,0 0,0-2,0 1,4-1,2 0,-1 0,4-5,5-1,4 5,4 3,3 0,-3 1,5-5,1-7,-3-2,-2 1,0-3,-4 1,-1 3,1 3,3-3,-4 1,1-4,1 1,2-2,2 0,1-2,2 2,0-2,0-3,1-4,0-2,-1-2,1-1,-1-2,0 1,1-1,-1 1,0-6,0-5,-4-6,-3-6,2-7,0-9,-3-3,-5 2,-6 2,-3 3,-3 3,-3 2,0 1,-1 1,0 0,0 0,0 0,-4 1,-6-1,-7 0,-4 0,1-1,0 6,-2 1,-2 5,4 0,-4 3,-3 4,3-1,1 1,1-2,-2-5,-1 2,0 3,3-2,2 2,-1 3,3-2,0 1,-1 3,-2 1,-3 3,-1 1,-1 2,-1 0,-1 0,1 1,-1-1,1 0,-6 6,4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15:58.326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91 226,'-5'0,"-6"0,-6 0,0 5,2 6,5 6,3 5,8 4,8 2,8-4,1-1,2 1,3 0,1-3,3-1,0 1,2 2,-1-3,-4 0,-2 1,1-3,1-4,5 0,4 2,0-1,4 2,1-3,-1 2,-2 2,-3-1,-1-4,-2-4,-1-4,1-2,-2-2,1-1,0-1,0 0,0 0,5 1,1-1,6 1,-1-5,-1-6,-3-1,-7-4,-3-4,-2 2,1-1,-5-2,-4-2,-6-3,-4 0,-3-2,-1-1,-2 1,0-1,0 1,-4 4,-7 2,-1-1,-3 5,-4 4,-3 1,-2-3,-3-4,0 3,-5 3,-12-1,-3-2,2-3,-1-3,4 2,3 0,4-1,3 3,3 5,1 5,1-1,1 1,-1 2,1 3,-1 1,0 2,0 0,0 2,0-6,0-1,-1 1,1 0,0 2,0 1,-1 5,1 3,5 5,1 1,-5 2,-3 5,4 3,7 3,5 2,6 1,5 1,2 0,1-5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16:00.365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317 199,'-5'5,"-11"6,-7 2,-10 2,-9 0,3 2,3 2,3 4,2 1,7 3,7 1,7 0,4 1,4 0,2 0,1-1,1 1,-1-1,0 0,0 1,-1-1,6-5,5-1,1 0,4-3,4-1,2 2,4-3,1-4,-3 1,-2-3,1-2,1 1,6 0,3 2,0 0,5 2,0-1,3-3,5 2,-1-2,-4 3,-3-1,-4-2,-2-4,-3-2,-1-2,0-1,-1-1,6 0,6-6,1-5,4-7,-6-5,-5 2,-2-5,-8-3,-7-2,-1-5,-4 0,-3-5,-3-5,-3-3,-1-9,-2 1,1 1,-1 5,0 1,-4 5,-6 10,-2 1,-8 2,-5 6,-3 3,-1 0,-1 0,1 3,0 1,0 3,2 4,-1 0,1 2,-1 2,-3 3,-13-3,-2 1,-3 0,-7 3,1 1,0 1,6 1,5 1,7 0,4 5,3 2,-7 19,-2 14,1 1,7-2,9-3,4-3,4-2,6-1,4-2,2 0,3 0,1 0,-1-1,1 1,0 0,0 0,-1-4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16:02.279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0 399,'0'5,"0"6,0 6,5 10,6 0,7 1,4 0,4-5,-3-1,4-5,3-5,0-4,1-4,-1 2,0 0,-1-1,-5 4,-2 0,0 3,2 0,0-2,2-3,6-8,2-7,0-4,0 1,-2-2,-2-5,0-3,-1-3,-6-2,-6-2,-6-1,-5 0,-4 0,-2 0,-1-4,0-2,0-4,0-1,-5 2,-5 3,-2 2,-3 2,-4 2,-3 5,-2 3,-2 4,-1 0,-1 4,0 3,0 4,0 3,1 1,-6 2,-5 1,-7 0,1-1,2 1,4 4,4 7,3 0,7 4,8 8,6 6,6 1,-1 1,-1 0,3-1,0-1,2 0,1-2,1 1,0-1,0 0,0 0,0 0,1 0,-1 0,0 1,5-6,1-1,0 0,4 1,0-3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16:04.470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86 710,'0'5,"0"6,0 7,0 4,0 4,0 1,0 2,5-4,2-2,-1 0,3 1,6-3,4-1,0 1,1-3,1 0,-1 2,-1 3,2-4,2 1,2-3,1 0,1-3,2-4,-1-3,1-3,-1-3,1 0,-1-2,6 0,0 1,1-1,-2 1,-2-5,0-2,-7-4,13-10,9-11,2-9,-8-4,-5-2,-4 1,-8 4,-2 9,-5 5,-5 3,0 1,3-6,4-6,-1-3,-3 1,-5-3,-3-4,-8-3,-8-5,-12-1,-7-2,1-1,-4 0,-1 4,0 12,1 8,0 4,2 8,6 2,2 5,-1 4,0 4,-1 4,-2 1,-6 1,-11 1,-9 0,-10 0,-3-1,-1 1,6-1,4 0,12 5,7 6,7 6,2 5,2 4,1-3,4 0,5 5,7 3,-1 5,1 2,3 9,2 11,-4 0,1-1,1 1,1-6,2-6,1-6,1-6,1-3,0-3,1 0,-1-1,0 0,0 0,1 5,-1 2,5 0,1-1,0-1,-1-6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16:06.509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89 603,'0'5,"0"6,0 7,0 4,0 3,0 8,0 2,0 1,4 3,8-5,5-3,0-2,-2-2,0 1,-2-1,2-5,-2-1,2 1,2-4,4-5,-1 1,0-3,1-3,3-2,1-3,2-2,0-1,6 0,2-1,0 1,-2-1,-1 1,-1 0,-1 0,-2-1,1 1,-1 0,-1 0,1-4,0-7,0-2,-4-3,-7-3,-6-4,0-7,-3-4,4 4,-2 3,-1 1,-3-1,-3 1,-1-1,-1-5,-1-12,-1-3,-4-3,-7-12,-10-10,-7-3,-3-2,-1-3,6 2,1 16,2 12,-1 10,0 13,-2 10,0 8,-10 5,-4 5,-4 0,1 2,2-1,5 0,2-1,4 4,2 2,0 4,2 0,-1 4,5 3,2-1,4 1,1 3,-3 2,3 2,-1 2,-3 1,3 0,-2 1,4 0,4-1,3 1,4-1,2 1,1-1,2 0,0 0,-1 1,1-1,0 0,-1 0,0 0,0 1,0-6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16:08.893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30 146,'0'10,"0"7,0 11,-5 11,-1 2,0 0,1-2,1 1,2-1,1-2,0-3,1-2,1-2,-1-1,0-1,0 0,5-6,2 0,4 0,0 1,3-4,5-4,3 0,-2 2,0-2,2-4,2-3,11 2,9 3,7 0,-5 3,-6-2,-5-3,2 2,-2-3,-6 4,-3-2,-1 2,-1-1,1-3,1-3,-4-8,-1-3,1-2,-3-3,-1-7,2-4,3-3,-4-9,-4-2,-5-11,-4-2,-3-3,-2-2,-2-2,1-6,-1-8,0 4,0 2,1 8,-1 7,1 8,0 5,-5 8,-1 5,-5 0,-5-1,-5-1,2-2,-2 4,-1 4,-2 7,-2 4,-5 3,-4 2,-4 2,-1 0,2 0,3 0,1-1,-1 6,-1 0,6 5,3 1,2-3,5 3,1 4,4 4,-1-2,3 2,3 1,-1 3,-3 1,-5 2,1 1,-1 0,-2 1,3-5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16:11.159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313 1,'-5'0,"-6"0,-6 0,-1 4,-1 8,-7 5,-5 5,-1 4,0 1,5 7,3-3,5-2,6-1,0 0,3-1,2 1,4 0,1-1,2 1,1 0,5 1,2-1,5 0,-1 0,4-4,-1-2,1 0,4 1,3 2,-2 1,0-4,-3 0,0 0,2-4,-2 1,1-3,2-1,2 4,3-3,1 2,2-3,0-4,1-4,0-2,-1-3,1-2,4 0,2-1,9 0,2 1,-2-6,-4 0,-4-1,2-2,-1-1,-2 1,-2 3,3 3,0-4,-2-1,-1-3,-1 0,3-3,5-4,1-3,-2-4,2 3,-6 1,5-11,2-5,-8-1,-9 2,-8 1,-8 3,-5 1,-3 2,-7-5,-7 5,-1 1,-4 2,-7-1,-5 0,-7 0,-7-5,0-2,2 5,4 2,3 6,3 7,2 0,1 4,1 2,1 3,-6 3,-5 1,-7 1,-6 1,-2-1,-3 1,3-1,7 1,5-1,6 0,4 5,1 1,3 0,0-1,0-2,-1 0,1-2,-1-1,0 0,0 0,0 0,0-1,0 1,-1 0,6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16:13.444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394 148,'-5'4,"-1"8,0 5,1 5,1 4,2 2,1 1,1 0,0 0,0 1,0-1,0-1,1 1,-1-1,0 0,5-4,1-2,5 0,5 1,5-3,3 0,3-4,-4 0,0-2,0-4,1-3,-3 1,-1 0,6 3,-1 5,0-1,4-2,8-4,7-4,-4 3,-4 0,-3-2,-3-1,-1-3,-1 0,-1-2,0 1,1-2,0 1,0 0,0-1,0 1,0-5,0-6,0-2,-4-2,-2-5,0-3,1-2,2-3,1 5,-4 1,-5-1,-6-1,-5-2,-3 0,-2-1,-2-1,0 0,-5-1,-6 1,-6-1,-5 1,-3-1,-6 6,-18 1,-14 0,-16-6,-4-3,-1-1,-2 0,5 0,12 2,12 5,12 7,9 7,6 5,3 4,2 1,0 2,0 1,0-1,-1 0,-1 5,0 1,0-1,0-1,0-2,0 4,-6 1,0-2,-1-1,2 3,1 5,2 5,1 10,5-1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8:11:38.7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24516,'0'2885'0,"1452"-2885"0,-1452-2885 0,-1452 2885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8:12:02.365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858 429 0,'0'17'0,"-1"-1"0,-1 1 0,0 0 0,-1-1 0,0 1 0,-2-1 0,0 0 0,0 0 0,-1 0 0,-1-1 0,0 0 0,-1 0 0,-1 0 0,0-1 0,-1 0 0,0-1 0,0 0 0,-2 0 0,1-1 0,-1 0 0,-1-1 0,0 0 0,-1-1 0,1-1 0,-2 0 0,1 0 0,-1-1 0,0-1 0,-1 0 0,1-1 0,-1 0 0,0-1 0,-1-1 0,1-1 0,-1 0 0,1 0 0,-1-2 0,0 0 0,0 0 0,0-2 0,1 0 0,-1 0 0,0-2 0,0 0 0,1 0 0,0-1 0,0-1 0,0-1 0,0 0 0,1-1 0,-1 0 0,1-1 0,1-1 0,0 0 0,0 0 0,0-1 0,1-1 0,1 0 0,0-1 0,0 0 0,1-1 0,0 0 0,1 0 0,0-1 0,1 0 0,1-1 0,0 0 0,0 0 0,2 0 0,0-1 0,0 0 0,1 0 0,1 0 0,0-1 0,1 1 0,1-1 0,0 0 0,1 1 0,1-1 0,0 0 0,1 0 0,1 0 0,0 1 0,1-1 0,1 1 0,0-1 0,1 1 0,1 0 0,0 1 0,0-1 0,2 1 0,0 0 0,0 1 0,1 0 0,1 0 0,0 0 0,1 1 0,0 1 0,1 0 0,0 0 0,0 1 0,1 0 0,1 1 0,0 0 0,0 1 0,0 1 0,1 0 0,1 0 0,-1 2 0,1 0 0,0 0 0,0 1 0,0 1 0,0 0 0,1 1 0,0 1 0,0 0 0,-1 1 0,1 1 0,0 0 0,0 1 0,0 1 0,-1 0 0,1 1 0,-1 1 0,1 0 0,-1 1 0,0 1 0,-1 0 0,1 0 0,-1 2 0,0 0 0,-1 0 0,1 1 0,-2 1 0,1 0 0,-1 1 0,0 0 0,-1 1 0,-1 0 0,1 0 0,-2 1 0,0 1 0,0 0 0,-1 0 0,0 0 0,-1 1 0,-1 0 0,0 1 0,-1-1 0,-1 1 0,0 0 0,0 1 0,-2-1 0,0 1 0,-1-1 0,0 1 0,-1 0 0,-1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8:12:06.813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898 892 0,'-9'9'0,"-2"-1"0,1 0 0,-2-1 0,0 0 0,-1-2 0,0 0 0,-1 0 0,0-2 0,0 0 0,-2-1 0,1 0 0,-1-2 0,0 0 0,-1 0 0,0-2 0,-1 0 0,1-1 0,-1-1 0,0 0 0,0-2 0,-1 1 0,0-2 0,1 0 0,-1-1 0,0-1 0,0 0 0,0-1 0,1 0 0,-1-1 0,0-1 0,1 0 0,-1-1 0,1 0 0,0-1 0,0 0 0,1-1 0,-1 0 0,1-1 0,1 0 0,0-1 0,0 1 0,0-1 0,1-1 0,1 1 0,0-1 0,0 0 0,1-1 0,1 1 0,0-1 0,1 1 0,0-1 0,1 0 0,1 1 0,0-1 0,1 0 0,0 0 0,2 1 0,0 0 0,0-1 0,2 1 0,0 0 0,1 1 0,0-1 0,1 1 0,1 1 0,1-1 0,1 1 0,0 1 0,1 0 0,1 0 0,0 1 0,1 0 0,1 1 0,1 0 0,0 1 0,1 0 0,1 1 0,0 1 0,1 0 0,1 1 0,0 1 0,1 0 0,1 1 0,0 0 0,0 1 0,1 1 0,1 1 0,0 1 0,1 0 0,0 0 0,1 2 0,0 0 0,0 1 0,1 1 0,0 1 0,0 0 0,1 1 0,0 1 0,0 0 0,0 1 0,1 1 0,-1 1 0,1 0 0,0 1 0,-1 0 0,1 2 0,0 0 0,0 0 0,0 1 0,-1 1 0,1 0 0,-1 1 0,1 0 0,-1 1 0,-1 0 0,1 1 0,-1 0 0,0 1 0,0 0 0,-1 0 0,0 1 0,-1 0 0,0 1 0,0-1 0,-1 1 0,-1 0 0,0 0 0,0 1 0,-2-1 0,1 1 0,-2 0 0,0-1 0,0 1 0,-1 0 0,-1 0 0,-1-1 0,0 1 0,-1-1 0,-1 1 0,0-1 0,-1-1 0,-1 1 0,0-1 0,-2 0 0,0 0 0,-1-1 0,0 0 0,-1 0 0,-1-1 0,-1 0 0,-1-1 0,0 0 0,-1-1 0,0 0 0,-2-1 0,0-1 0,0 0 0,-2 0 0,0-1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12:15.159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568 28,'-5'0,"-11"5,-7 1,-6 0,-1-1,-1-1,-5 3,-6 5,-1 6,8 4,4-1,3 0,6 2,2 1,0 2,-2 1,3 0,0 2,4-1,-2 1,-1 4,1 2,4-1,4 0,4-3,3 0,1-2,1 0,1-1,0 0,-1 0,1 0,4-5,2-1,4 0,5 1,5-3,3-5,3 0,-4 1,0-1,5-3,-2 1,-1-2,0-3,1 3,6 3,1 0,1-3,-1-2,-1-4,-2-2,0-2,3-1,-3-5,-7-7,-7-6,-7-5,-4-3,-4-2,-1-1,-2 0,1-1,0 1,0 0,0 0,1 1,-1-1,-4 1,-1 0,0 0,1 0,2 0,1-1,1 1,-5 5,0 1,0 0,1-2,-3 0,0-2,1-1,-3-1,0 0,2-1,-3 1,1-1,-2 1,-1-1,-1 1,1 5,-2 1,-4 4,3 6,3 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8:12:19.555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1 612 0,'746'378'0,"-746"-1368"0,-645 990 0,544 612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12:24.846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0 1,'5'0,"1"5,10 6,16 21,27 42,27 44,33 39,20 31,10 18,-1 3,-1-11,-12-20,-4-16,-11-25,-11-13,-9-13,-3-11,-4-12,-3-13,-7-13,-8-13,-7-9,-6 2,1 3,0 5,3 3,0-3,-7-6,-12-4,-11-5,-5-8,-9-9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12:26.205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0 1474,'5'0,"11"0,13-5,10-6,9-7,5 1,4-2,2-8,9-8,18-13,13-22,14-14,16-16,6-6,9-9,-2 1,0 5,-15 12,-19 18,-24 17,-21 14,-16 16,-12 8,-6 3,-5 1,0-1,-5-2,0 3,0-5,3-2,7-3,3 5,-4 2,-6 4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12:28.519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1 4923,'0'-5,"0"-6,0-7,0-9,0-14,4-20,8-24,5-16,0-10,3-10,1-4,3 5,-2 8,-2 5,2 0,2 10,1 16,2 12,0-1,1-3,1 6,-6 4,0 0,-1 0,6-9,8-15,22-13,11-17,7-9,1-2,-3 7,-5 4,-4 3,-3 7,-9 7,-7 10,-7 7,-6 8,-3 7,-7 10,-2 5,-6 3,1-1,1-5,-1 1,1 2,-3 3,2 2,-3 4,-2 5,-4 3,-3 5,-3 1,0 2,3-5,2 0,0-1,-2 2,-1 1,4-4,5-1,5-3,6-1,-3 2,1 8,2 4,-3 1,-1 6,2 5,2 1,-3-3,0-3,1 2,-3-1,1-3,1-7,3-8,1-3,-2 0,-1 2,-4 3,-4 2,-1 7,-1-3,-3 0,2 3,-1 7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12:30.589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0 6439,'5'0,"1"-10,5-12,5-13,14-28,36-48,26-47,45-55,38-53,22-40,2-19,-13 1,-15 23,-17 19,-25 14,-21 20,-23 17,-21 20,-17 32,-12 26,-7 21,-3 17,-6 20,-2 16,-3 7,-4 1,0 4,0 2,2 4,-1 3,3-9,-2-12,3-11,-2-6,2-9,4 3,-3-1,-2-6,-5 1,-4-1,-2 9,-2 12,-1 16,-1 10,0 12,1 9,-1 1,1-10,-1-8,1-2,0 3,0 7,0 7,0 7,0 3,0 4,0 1,-4 6,-8 6,-5 7,0 3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12:33.751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1 8359,'4'0,"8"0,5 0,10 0,15-10,19-12,18-22,21-28,21-25,72-77,41-49,-4 0,-18 19,-6-4,-24 14,-28 21,-31 15,-22 17,-19 21,-13 27,-9 15,-1 11,0 7,4 5,6-4,0-5,-6 3,-4 2,-13 2,-9 6,-6 6,-3 2,-2 3,-1-6,1-10,-5-9,0-8,0-12,2-9,2-9,-4-1,0-2,-4 8,0 1,-3-7,1-5,-2-4,-3-5,-4-3,-2 5,-2-2,-2 1,0 0,-1 10,0 5,1-4,-5-4,-7 3,0 0,-4 8,1 8,3 4,4-2,3 9,-3 9,1-3,1-4,-3 3,0 4,-4 14,1 12,3 9,2 6,3-2,1-5,2-1,1 1,-4 3,-2 1,0 2,2 2,-4 0,-5 1,-1 0,-2 0,-3 5,-4 2,2-1,1-6,-2-8,-2 2,3-2,6-1,0 7,2-2,4 1,-1 4,1 3,1 1,-2-1,1-1,1-2,3 0,-3 0,0-1,1 0,2-1,-3 1,0-1,1 1,2 0,2-1,1 1,1 0,-4 0,-1-1,-5 1,0 0,2 0,2 0,-2 4,0 2,2 0,2-1,2-7,-4-2,-5 4,0 1,-4 2,2-1,2-5,4-2,4-1,1 2,-3 5,0 3,1 1,5 4,8 5,8 5,5 5,10 2,8 2,12 0,2 1,-2 5,-6 1,-1 0,7 3,-1 0,1-1,1 1,-3 1,-1-3,2-2,1-3,2 4,2 0,-5-1,-4-1,-7-2,-5-1,-7-2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12:34.918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0 1,'5'0,"11"0,17 4,13 8,13 5,6 5,-4-1,-11 0,-10-3,-7-4,-9-1,1 3,6-1,2-4,1 2,-6 3,-12 4,-14-2,-12-4,-9 1,-11 7,-5 5,-6 2,-2 2,3-5,3-3,3-4,2-1,-3 2,0-4,1 2,7-4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12:35.948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1 1,'0'19,"5"21,6 18,1 13,4 5,-1-6,-3-11,1-9,-2-10,3-6,3 1,3 4,-1 4,1-4,-3-5,-5-7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12:36.495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12:38.068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1 6,'0'5,"0"11,0 7,0 15,5 15,2 3,-1 2,-1 6,-2 0,-1 1,4-8,1-17,-1-25,-6-25,-3-16,-1-8,0-2,0-1,2 1,1 2,-5 3,0 1,-1 1,3 0,0 1,2 0,1-4,6 2,1 2,5 2,6 4,4 6,3 6,3 5,2 3,0 1,0 2,5 0,-3 5,-8 6,-2 11,-5 11,-5 9,0 7,-1 5,-3-3,-3-4,-1-7,-2-5,-1-4,0-2,0 3,-1 1,1-1,4-6,2-7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12:39.323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0 0,'5'0,"2"5,-1 6,3 11,1 12,-1 4,1 10,6 2,-2 17,3 25,3 21,-2 16,-5 9,2 11,-3-2,-3-15,-3-17,-3-12,-1-20,-2-24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12:40.246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604 1,'-10'14,"-12"25,-22 19,-18 14,-13 20,-3-2,7-11,16-14,11-14,10-10,10-8,4-4,1-7,-1-3,2 0,10-3,11 1,14 2,9 3,10 7,13 3,13 11,10 8,7 4,0 3,-4-4,-10-11,-16-12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12:41.511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22 515,'-5'0,"-1"4,0 12,1 13,6 10,8 9,7-4,1-5,-2-4,-4-3,-4-12,-3-14,-2-23,-2-27,0-16,-1-12,0-8,1 4,4 11,7 16,6 17,0 18,2 16,3 13,-3 9,1 5,-3 2,-5 1,-5-1,2-5,0-2,-3-20,-1-25,-3-23,0-18,-2-14,5 2,1-1,4 7,6 16,4 16,5 14,1 16,3 14,-5 10,-1 12,0 0,-4 1,-5-1,-5-1,1 5,3 1,0-5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12:42.556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337 101,'-4'0,"-8"0,-5 0,-5 0,1 5,0 1,-2 5,-2 5,4 5,-4 8,-4 9,0 7,-1 7,5-2,7 0,6 2,10-8,10-7,4 0,5-7,4-3,-2-1,1-6,7-5,-2-2,1-2,0-8,-5-14,0-24,-5-21,-4-20,0-16,-1-7,-4-1,-2 7,-2 9,-2 25,0 26,-2 33,1 32,-1 24,1 17,-1 16,6 2,1-10,5-14,5-13,5-16,-2-14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12:43.100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0 0,'0'10,"0"12,5 18,1 15,0 14,-1 13,4 8,-1 8,-1 1,4 3,-1 4,2 12,5 20,-1 6,2-8,-2-12,-4-18,0-17,-1-19,-2-26,-4-26,-2-24,-1-32,-2-9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12:44.148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0 13,'0'-5,"5"-1,6 5,6 2,6 7,2 5,3 7,1 4,1 3,-6 1,-1 1,-5 1,0-1,-4 1,-4-2,-4 1,-2-1,-3 1,-1-1,-5 0,-7 0,-6-4,-5-7,-3-2,2-2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12:45.540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0 98,'0'5,"0"6,0 11,0 7,5 7,6 13,7 7,4 9,4 7,1 6,2 0,1-14,-6-23,-1-27,-5-26,0-26,1-20,-3-15,-3-4,-5-9,-3 1,-3 10,-1 13,-2 12,1 10,-6 12,-1 5,0 13,2 16,6 13,8 12,7 1,1 5,2 1,3-2,3-2,-4-1,0-7,1-8,2-7,6-14,13-27,-2-8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12:46.766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81 1,'0'9,"-4"19,-3 12,-4 16,0 11,1 9,3-3,3-5,1-9,2-9,5-10,8-10,6-11,4-9,4 0,3 2,0-1,0 2,-4 5,-7 3,-6 3,-6 2,-8-3,-8-5,-8-6,-6-6,-3-2,-2-4,-1 0,1-1,-1 0,0 0,6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9T08:12:53.199"/>
    </inkml:context>
    <inkml:brush xml:id="br0">
      <inkml:brushProperty name="width" value="0.1" units="cm"/>
      <inkml:brushProperty name="height" value="0.6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0 374,'5'0,"6"0,6 0,6-5,2-1,3 0,1-4,-4-5,-2 1,0-3,-4-3,0-3,1 2,3-4,-4-8,-4-3,-5-1,-4 2,-8 7,-9 8,-6 7,-6 6,-4 4,-2 8,4 7,2 7,4 5,6 3,0-3,2-1,3 0,3 2,3 1,1 1,0 0,2 1,-1 0,1 1,-1-1,1 1,-1-1,0 0,0 1,5-1,1 0,5-5,5-1,5-4,3-6,3-5,1-8,1-8,5-9,2-5,-1-3,-1-3,-2-1,-6 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BAC88EB-EF31-4137-B7EA-7220F4238C02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34C1BD1-A055-4F50-B6DE-76A6CB5BD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681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C1BD1-A055-4F50-B6DE-76A6CB5BDC8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786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C1BD1-A055-4F50-B6DE-76A6CB5BDC8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786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3840D-C3E7-4061-BC18-4A61124D3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DB97F1-57ED-4506-B2C5-79A6674CA5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05DE9-7377-4DEE-9B0C-1E5F3A7C7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223B9-DBDD-4DB6-AA30-BC5C843876A5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FFCC6-76A8-4625-88C1-E171AF4D4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Digital System Design Lecture 8 Fall 2026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F508A-B5B4-4F26-B9D3-A855D91A5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B9BEF6-C47C-A80B-4C20-6A7E034C13F7}"/>
              </a:ext>
            </a:extLst>
          </p:cNvPr>
          <p:cNvSpPr/>
          <p:nvPr userDrawn="1"/>
        </p:nvSpPr>
        <p:spPr>
          <a:xfrm>
            <a:off x="0" y="1"/>
            <a:ext cx="12192000" cy="208230"/>
          </a:xfrm>
          <a:prstGeom prst="rect">
            <a:avLst/>
          </a:prstGeom>
          <a:gradFill>
            <a:gsLst>
              <a:gs pos="38000">
                <a:srgbClr val="002060"/>
              </a:gs>
              <a:gs pos="2000">
                <a:schemeClr val="accent1">
                  <a:lumMod val="45000"/>
                  <a:lumOff val="55000"/>
                </a:schemeClr>
              </a:gs>
              <a:gs pos="93000">
                <a:schemeClr val="accent1">
                  <a:alpha val="64000"/>
                  <a:lumMod val="69000"/>
                  <a:lumOff val="31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600" b="1" dirty="0"/>
              <a:t>Embedded Systems Lab (EESL)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376E37-7643-9D4F-C282-24E7631A90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54" t="10981" r="6250" b="16271"/>
          <a:stretch/>
        </p:blipFill>
        <p:spPr>
          <a:xfrm>
            <a:off x="-64015" y="6504131"/>
            <a:ext cx="1172246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09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776B5-44EF-453A-9E77-77ADE2731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50DE7-94C4-4D13-BF69-0BD5721C0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ABB6D-5CEA-4C43-BBD4-4F0556EC0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56FF1-E30B-48CE-ADFD-6859DDA2E613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B4035-42A5-48A8-9748-D5729C83A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Digital System Design Lecture 8 Fall 2026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0A024-07AE-4F0A-832D-13C6F42EC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23A44E-ABA4-FCEF-9BAE-1ED9F4E78B4F}"/>
              </a:ext>
            </a:extLst>
          </p:cNvPr>
          <p:cNvSpPr/>
          <p:nvPr userDrawn="1"/>
        </p:nvSpPr>
        <p:spPr>
          <a:xfrm>
            <a:off x="0" y="1"/>
            <a:ext cx="12192000" cy="208230"/>
          </a:xfrm>
          <a:prstGeom prst="rect">
            <a:avLst/>
          </a:prstGeom>
          <a:gradFill>
            <a:gsLst>
              <a:gs pos="38000">
                <a:srgbClr val="002060"/>
              </a:gs>
              <a:gs pos="2000">
                <a:schemeClr val="accent1">
                  <a:lumMod val="45000"/>
                  <a:lumOff val="55000"/>
                </a:schemeClr>
              </a:gs>
              <a:gs pos="93000">
                <a:schemeClr val="accent1">
                  <a:alpha val="64000"/>
                  <a:lumMod val="69000"/>
                  <a:lumOff val="31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600" b="1" dirty="0"/>
              <a:t>Embedded Systems Lab (EESL)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4D661B-E4B3-0DE3-02B4-793AD7F26F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54" t="10981" r="6250" b="16271"/>
          <a:stretch/>
        </p:blipFill>
        <p:spPr>
          <a:xfrm>
            <a:off x="-64015" y="6504131"/>
            <a:ext cx="1172246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979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23BFF-4493-408B-B07C-716378EEF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DD423A-7CAD-4749-B77F-DCF11EA3E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74D2A-59B6-47EA-8F00-76277322C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2411-99D3-49B9-BFD2-8A988D0AF873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90CF0-1E1E-4B32-8A48-8A23E6FBD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Digital System Design Lecture 8 Fall 2026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2EDBA-E94C-4886-A420-2ACBF26AD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33A80E-9E53-BEF9-3D9B-C3D0ECC52010}"/>
              </a:ext>
            </a:extLst>
          </p:cNvPr>
          <p:cNvSpPr/>
          <p:nvPr userDrawn="1"/>
        </p:nvSpPr>
        <p:spPr>
          <a:xfrm>
            <a:off x="0" y="1"/>
            <a:ext cx="12192000" cy="208230"/>
          </a:xfrm>
          <a:prstGeom prst="rect">
            <a:avLst/>
          </a:prstGeom>
          <a:gradFill>
            <a:gsLst>
              <a:gs pos="38000">
                <a:srgbClr val="002060"/>
              </a:gs>
              <a:gs pos="2000">
                <a:schemeClr val="accent1">
                  <a:lumMod val="45000"/>
                  <a:lumOff val="55000"/>
                </a:schemeClr>
              </a:gs>
              <a:gs pos="93000">
                <a:schemeClr val="accent1">
                  <a:alpha val="64000"/>
                  <a:lumMod val="69000"/>
                  <a:lumOff val="31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600" b="1" dirty="0"/>
              <a:t>Embedded Systems Lab (EESL)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1132A7-58A4-1A8C-3188-22970117A0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54" t="10981" r="6250" b="16271"/>
          <a:stretch/>
        </p:blipFill>
        <p:spPr>
          <a:xfrm>
            <a:off x="-64015" y="6504131"/>
            <a:ext cx="1172246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13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B35B6-70C8-4A36-9D4E-D5F22D64F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E99CC-8A7A-498C-B17A-FADC9CC21B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C31A37-1AAA-4901-BFA8-9FB2BB4C7D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7D913B-2588-44B7-A92F-2B44FE033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33F6E-9EE3-4446-8429-A18786E61F5D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7A14AC-486B-4355-BB4D-062FEEF4F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Digital System Design Lecture 8 Fall 2026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FCF1F-501F-4FCD-BF27-16C779CA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B35145-9A51-93C7-A1E2-518315843F3A}"/>
              </a:ext>
            </a:extLst>
          </p:cNvPr>
          <p:cNvSpPr/>
          <p:nvPr userDrawn="1"/>
        </p:nvSpPr>
        <p:spPr>
          <a:xfrm>
            <a:off x="0" y="1"/>
            <a:ext cx="12192000" cy="208230"/>
          </a:xfrm>
          <a:prstGeom prst="rect">
            <a:avLst/>
          </a:prstGeom>
          <a:gradFill>
            <a:gsLst>
              <a:gs pos="38000">
                <a:srgbClr val="002060"/>
              </a:gs>
              <a:gs pos="2000">
                <a:schemeClr val="accent1">
                  <a:lumMod val="45000"/>
                  <a:lumOff val="55000"/>
                </a:schemeClr>
              </a:gs>
              <a:gs pos="93000">
                <a:schemeClr val="accent1">
                  <a:alpha val="64000"/>
                  <a:lumMod val="69000"/>
                  <a:lumOff val="31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600" b="1" dirty="0"/>
              <a:t>Embedded Systems Lab (EESL)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217998-81F9-806F-A22F-0157E4F4C2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54" t="10981" r="6250" b="16271"/>
          <a:stretch/>
        </p:blipFill>
        <p:spPr>
          <a:xfrm>
            <a:off x="-64015" y="6504131"/>
            <a:ext cx="1172246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901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36614-418F-4B9C-BF97-491B5807F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C9012-A121-4D2A-97D3-ED918FF3D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C3B36A-F5BB-446B-9715-47856770EE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F7B1E-D7A7-45A5-BE52-91F2BB608F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2853A-FD31-4E64-8702-D7BE847C3F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0E8017-E968-4D7C-9334-7F619A125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9CE33-389C-4742-B355-F0103AB8E3BF}" type="datetime1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3D910D-9599-4342-A40E-4C1496937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Digital System Design Lecture 8 Fall 2026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5016F7-BDC3-40AF-BB87-DAF2E51EC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89BCC4-29F2-266E-E5DD-FDFD68534BA2}"/>
              </a:ext>
            </a:extLst>
          </p:cNvPr>
          <p:cNvSpPr/>
          <p:nvPr userDrawn="1"/>
        </p:nvSpPr>
        <p:spPr>
          <a:xfrm>
            <a:off x="0" y="1"/>
            <a:ext cx="12192000" cy="208230"/>
          </a:xfrm>
          <a:prstGeom prst="rect">
            <a:avLst/>
          </a:prstGeom>
          <a:gradFill>
            <a:gsLst>
              <a:gs pos="38000">
                <a:srgbClr val="002060"/>
              </a:gs>
              <a:gs pos="2000">
                <a:schemeClr val="accent1">
                  <a:lumMod val="45000"/>
                  <a:lumOff val="55000"/>
                </a:schemeClr>
              </a:gs>
              <a:gs pos="93000">
                <a:schemeClr val="accent1">
                  <a:alpha val="64000"/>
                  <a:lumMod val="69000"/>
                  <a:lumOff val="31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600" b="1" dirty="0"/>
              <a:t>Embedded Systems Lab (EESL)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9A6CE35-4E0F-A3B0-BE9F-8381DD684F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54" t="10981" r="6250" b="16271"/>
          <a:stretch/>
        </p:blipFill>
        <p:spPr>
          <a:xfrm>
            <a:off x="-64015" y="6504131"/>
            <a:ext cx="1172246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106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4CFF2-89A0-48E1-9FE1-8F0B6982A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201F0B-E05D-47E4-B0FC-FFFCF3F9D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28C58-F2E2-45FD-A8F8-2F8D24B28ECB}" type="datetime1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17F06-71C8-461D-9CF2-99FC56AAD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Digital System Design Lecture 8 Fall 2026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749BF1-5BE5-4F0E-8AF9-8816FEA7C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D650DD-9727-7E2A-E38D-F7DA1A279AB1}"/>
              </a:ext>
            </a:extLst>
          </p:cNvPr>
          <p:cNvSpPr/>
          <p:nvPr userDrawn="1"/>
        </p:nvSpPr>
        <p:spPr>
          <a:xfrm>
            <a:off x="0" y="1"/>
            <a:ext cx="12192000" cy="208230"/>
          </a:xfrm>
          <a:prstGeom prst="rect">
            <a:avLst/>
          </a:prstGeom>
          <a:gradFill>
            <a:gsLst>
              <a:gs pos="38000">
                <a:srgbClr val="002060"/>
              </a:gs>
              <a:gs pos="2000">
                <a:schemeClr val="accent1">
                  <a:lumMod val="45000"/>
                  <a:lumOff val="55000"/>
                </a:schemeClr>
              </a:gs>
              <a:gs pos="93000">
                <a:schemeClr val="accent1">
                  <a:alpha val="64000"/>
                  <a:lumMod val="69000"/>
                  <a:lumOff val="31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600" b="1" dirty="0"/>
              <a:t>Embedded Systems Lab (EESL)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B0EC8B-7B5E-8EF8-CB24-549947BE40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54" t="10981" r="6250" b="16271"/>
          <a:stretch/>
        </p:blipFill>
        <p:spPr>
          <a:xfrm>
            <a:off x="-64015" y="6504131"/>
            <a:ext cx="1172246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092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01CF20-F2F9-4E3B-B724-D34076BB1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E7837-9C36-447A-AB31-49950AEF369D}" type="datetime1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D340BB-6B77-4C6E-A02C-69147EB66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Digital System Design Lecture 8 Fall 2026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95520A-6C4D-4886-912E-CAD625E97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50AA2C-D568-C11C-8478-9EFEF4287B11}"/>
              </a:ext>
            </a:extLst>
          </p:cNvPr>
          <p:cNvSpPr/>
          <p:nvPr userDrawn="1"/>
        </p:nvSpPr>
        <p:spPr>
          <a:xfrm>
            <a:off x="0" y="1"/>
            <a:ext cx="12192000" cy="208230"/>
          </a:xfrm>
          <a:prstGeom prst="rect">
            <a:avLst/>
          </a:prstGeom>
          <a:gradFill>
            <a:gsLst>
              <a:gs pos="38000">
                <a:srgbClr val="002060"/>
              </a:gs>
              <a:gs pos="2000">
                <a:schemeClr val="accent1">
                  <a:lumMod val="45000"/>
                  <a:lumOff val="55000"/>
                </a:schemeClr>
              </a:gs>
              <a:gs pos="93000">
                <a:schemeClr val="accent1">
                  <a:alpha val="64000"/>
                  <a:lumMod val="69000"/>
                  <a:lumOff val="31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600" b="1" dirty="0"/>
              <a:t>Embedded Systems Lab (EESL)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25B0C9-48CC-6283-E7F7-6E0EA07A95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54" t="10981" r="6250" b="16271"/>
          <a:stretch/>
        </p:blipFill>
        <p:spPr>
          <a:xfrm>
            <a:off x="-64015" y="6504131"/>
            <a:ext cx="1172246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477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32879-A03A-4892-A024-EE449FA04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1E83D-B95F-46F6-A7BC-42DAF1BBA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6952F2-4C1C-4372-B942-C4D4B66218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F1E55F-CFE5-4F68-8006-1462092E6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E63BD-C766-4780-BCFE-38B73632D14B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E56BAA-503B-4224-B2E0-1459F1863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Digital System Design Lecture 8 Fall 2026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E73EE6-D1AB-4876-A96A-93A66F6E7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386369-202A-92A8-44C2-54C1F324340E}"/>
              </a:ext>
            </a:extLst>
          </p:cNvPr>
          <p:cNvSpPr/>
          <p:nvPr userDrawn="1"/>
        </p:nvSpPr>
        <p:spPr>
          <a:xfrm>
            <a:off x="0" y="1"/>
            <a:ext cx="12192000" cy="208230"/>
          </a:xfrm>
          <a:prstGeom prst="rect">
            <a:avLst/>
          </a:prstGeom>
          <a:gradFill>
            <a:gsLst>
              <a:gs pos="38000">
                <a:srgbClr val="002060"/>
              </a:gs>
              <a:gs pos="2000">
                <a:schemeClr val="accent1">
                  <a:lumMod val="45000"/>
                  <a:lumOff val="55000"/>
                </a:schemeClr>
              </a:gs>
              <a:gs pos="93000">
                <a:schemeClr val="accent1">
                  <a:alpha val="64000"/>
                  <a:lumMod val="69000"/>
                  <a:lumOff val="31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600" b="1" dirty="0"/>
              <a:t>Embedded Systems Lab (EESL)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176133-BF3B-0DF8-2715-982C00A208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54" t="10981" r="6250" b="16271"/>
          <a:stretch/>
        </p:blipFill>
        <p:spPr>
          <a:xfrm>
            <a:off x="-64015" y="6504131"/>
            <a:ext cx="1172246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290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87FB1-9F1E-4C4C-A5D9-7F599368E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254B4B-A8E8-4FC8-9ECF-BA61E3E97C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01690A-0294-45F3-9BE1-F515F9EADC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C087EE-E206-4592-A913-3779AA4ED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5FF0E-DFEB-4A2C-A68C-FEDA4EFA8C8B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2D0301-AF71-4144-AA60-0F588B8A1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Digital System Design Lecture 8 Fall 2026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094D4-DFC6-49AC-8133-278E52E3F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F1BB32-66B4-310C-98A6-06E0B69A4BB1}"/>
              </a:ext>
            </a:extLst>
          </p:cNvPr>
          <p:cNvSpPr/>
          <p:nvPr userDrawn="1"/>
        </p:nvSpPr>
        <p:spPr>
          <a:xfrm>
            <a:off x="0" y="1"/>
            <a:ext cx="12192000" cy="208230"/>
          </a:xfrm>
          <a:prstGeom prst="rect">
            <a:avLst/>
          </a:prstGeom>
          <a:gradFill>
            <a:gsLst>
              <a:gs pos="38000">
                <a:srgbClr val="002060"/>
              </a:gs>
              <a:gs pos="2000">
                <a:schemeClr val="accent1">
                  <a:lumMod val="45000"/>
                  <a:lumOff val="55000"/>
                </a:schemeClr>
              </a:gs>
              <a:gs pos="93000">
                <a:schemeClr val="accent1">
                  <a:alpha val="64000"/>
                  <a:lumMod val="69000"/>
                  <a:lumOff val="31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600" b="1" dirty="0"/>
              <a:t>Embedded Systems Lab (EESL)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397964-04B1-BAB0-12C5-B24FF55F27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54" t="10981" r="6250" b="16271"/>
          <a:stretch/>
        </p:blipFill>
        <p:spPr>
          <a:xfrm>
            <a:off x="-64015" y="6504131"/>
            <a:ext cx="1172246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516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D9429-1A23-4A3D-AF7B-DE2B0035C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4A334D-2F7B-40AF-A2E5-F5A3EA9FE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3AE2D-FE0C-4951-8720-2CCA679E2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92390-B09A-4A50-A4F4-70C6189DC7FC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9C3F6-CF06-45D2-94F3-E437B4065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Digital System Design Lecture 8 Fall 2026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D7579-0A63-4597-8137-796600126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997CFF-C6BF-5CDC-6E32-D29844AA3F3A}"/>
              </a:ext>
            </a:extLst>
          </p:cNvPr>
          <p:cNvSpPr/>
          <p:nvPr userDrawn="1"/>
        </p:nvSpPr>
        <p:spPr>
          <a:xfrm>
            <a:off x="0" y="1"/>
            <a:ext cx="12192000" cy="208230"/>
          </a:xfrm>
          <a:prstGeom prst="rect">
            <a:avLst/>
          </a:prstGeom>
          <a:gradFill>
            <a:gsLst>
              <a:gs pos="38000">
                <a:srgbClr val="002060"/>
              </a:gs>
              <a:gs pos="2000">
                <a:schemeClr val="accent1">
                  <a:lumMod val="45000"/>
                  <a:lumOff val="55000"/>
                </a:schemeClr>
              </a:gs>
              <a:gs pos="93000">
                <a:schemeClr val="accent1">
                  <a:alpha val="64000"/>
                  <a:lumMod val="69000"/>
                  <a:lumOff val="31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600" b="1" dirty="0"/>
              <a:t>Embedded Systems Lab (EESL)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ACE64A-8DBD-7296-F8CD-816282F789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54" t="10981" r="6250" b="16271"/>
          <a:stretch/>
        </p:blipFill>
        <p:spPr>
          <a:xfrm>
            <a:off x="-64015" y="6504131"/>
            <a:ext cx="1172246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510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0471A3-3E35-48B2-B116-6650F0F561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32AB57-FD8D-4372-82BD-D7B27F1805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97433-F1AC-4812-9F01-FB9A0A86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3A0-3050-418D-A589-46B628546E78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6F403-4181-4A14-AEAF-D3E0F3FF0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Digital System Design Lecture 8 Fall 2026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B3E3D-4FF1-44B6-9828-E98A82D9C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5E5738-FC71-9732-1B14-9962CD20900A}"/>
              </a:ext>
            </a:extLst>
          </p:cNvPr>
          <p:cNvSpPr/>
          <p:nvPr userDrawn="1"/>
        </p:nvSpPr>
        <p:spPr>
          <a:xfrm>
            <a:off x="0" y="1"/>
            <a:ext cx="12192000" cy="208230"/>
          </a:xfrm>
          <a:prstGeom prst="rect">
            <a:avLst/>
          </a:prstGeom>
          <a:gradFill>
            <a:gsLst>
              <a:gs pos="38000">
                <a:srgbClr val="002060"/>
              </a:gs>
              <a:gs pos="2000">
                <a:schemeClr val="accent1">
                  <a:lumMod val="45000"/>
                  <a:lumOff val="55000"/>
                </a:schemeClr>
              </a:gs>
              <a:gs pos="93000">
                <a:schemeClr val="accent1">
                  <a:alpha val="64000"/>
                  <a:lumMod val="69000"/>
                  <a:lumOff val="31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600" b="1" dirty="0"/>
              <a:t>Embedded Systems Lab (EESL)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18EC72-1F59-327A-A895-AA6B665F97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54" t="10981" r="6250" b="16271"/>
          <a:stretch/>
        </p:blipFill>
        <p:spPr>
          <a:xfrm>
            <a:off x="-64015" y="6504131"/>
            <a:ext cx="1172246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266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9000">
              <a:schemeClr val="accent2">
                <a:lumMod val="5000"/>
                <a:lumOff val="95000"/>
                <a:alpha val="97000"/>
              </a:schemeClr>
            </a:gs>
            <a:gs pos="100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45000"/>
                <a:lumOff val="55000"/>
              </a:schemeClr>
            </a:gs>
            <a:gs pos="96000">
              <a:schemeClr val="accent2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5AB4CE-7494-4FC7-A158-5D9D51A7C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687A1D-65C4-4CE5-B966-634FE42AD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DD2D-5641-4DB3-A619-770A4EE55A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51431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1BE2C-A4F7-4351-9DC8-7D79EDCF1CDD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39003-8A04-46D7-8E19-F21EBA9EF1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87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nn-NO"/>
              <a:t>Digital System Design Lecture 8 Fall 2026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83E2D-E4EE-4D56-8E79-926F2E1CED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1431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A6D07-5968-41CB-8B0B-EFD52ABB584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6058B2-DCCF-C9A7-8E17-8C2B86B1B457}"/>
              </a:ext>
            </a:extLst>
          </p:cNvPr>
          <p:cNvSpPr/>
          <p:nvPr userDrawn="1"/>
        </p:nvSpPr>
        <p:spPr>
          <a:xfrm>
            <a:off x="0" y="1"/>
            <a:ext cx="12192000" cy="208230"/>
          </a:xfrm>
          <a:prstGeom prst="rect">
            <a:avLst/>
          </a:prstGeom>
          <a:gradFill>
            <a:gsLst>
              <a:gs pos="38000">
                <a:srgbClr val="002060"/>
              </a:gs>
              <a:gs pos="2000">
                <a:schemeClr val="accent1">
                  <a:lumMod val="45000"/>
                  <a:lumOff val="55000"/>
                </a:schemeClr>
              </a:gs>
              <a:gs pos="93000">
                <a:schemeClr val="accent1">
                  <a:alpha val="64000"/>
                  <a:lumMod val="69000"/>
                  <a:lumOff val="31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600" b="1" dirty="0"/>
              <a:t>Embedded Systems Lab (EESL)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C617CB-E496-B95F-DD95-82624E08C5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l="12054" t="10981" r="6250" b="16271"/>
          <a:stretch/>
        </p:blipFill>
        <p:spPr>
          <a:xfrm>
            <a:off x="-64015" y="6504131"/>
            <a:ext cx="1172246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657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4.png"/><Relationship Id="rId4" Type="http://schemas.openxmlformats.org/officeDocument/2006/relationships/customXml" Target="../ink/ink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customXml" Target="../ink/ink12.xml"/><Relationship Id="rId26" Type="http://schemas.openxmlformats.org/officeDocument/2006/relationships/customXml" Target="../ink/ink16.xml"/><Relationship Id="rId39" Type="http://schemas.openxmlformats.org/officeDocument/2006/relationships/image" Target="../media/image26.png"/><Relationship Id="rId21" Type="http://schemas.openxmlformats.org/officeDocument/2006/relationships/image" Target="../media/image17.png"/><Relationship Id="rId34" Type="http://schemas.openxmlformats.org/officeDocument/2006/relationships/customXml" Target="../ink/ink20.xml"/><Relationship Id="rId42" Type="http://schemas.openxmlformats.org/officeDocument/2006/relationships/customXml" Target="../ink/ink24.xml"/><Relationship Id="rId47" Type="http://schemas.openxmlformats.org/officeDocument/2006/relationships/image" Target="../media/image30.png"/><Relationship Id="rId50" Type="http://schemas.openxmlformats.org/officeDocument/2006/relationships/customXml" Target="../ink/ink28.xml"/><Relationship Id="rId55" Type="http://schemas.openxmlformats.org/officeDocument/2006/relationships/image" Target="../media/image34.png"/><Relationship Id="rId7" Type="http://schemas.openxmlformats.org/officeDocument/2006/relationships/image" Target="../media/image10.png"/><Relationship Id="rId2" Type="http://schemas.openxmlformats.org/officeDocument/2006/relationships/customXml" Target="../ink/ink4.xml"/><Relationship Id="rId16" Type="http://schemas.openxmlformats.org/officeDocument/2006/relationships/customXml" Target="../ink/ink11.xml"/><Relationship Id="rId29" Type="http://schemas.openxmlformats.org/officeDocument/2006/relationships/image" Target="../media/image21.png"/><Relationship Id="rId11" Type="http://schemas.openxmlformats.org/officeDocument/2006/relationships/image" Target="../media/image12.png"/><Relationship Id="rId24" Type="http://schemas.openxmlformats.org/officeDocument/2006/relationships/customXml" Target="../ink/ink15.xml"/><Relationship Id="rId32" Type="http://schemas.openxmlformats.org/officeDocument/2006/relationships/customXml" Target="../ink/ink19.xml"/><Relationship Id="rId37" Type="http://schemas.openxmlformats.org/officeDocument/2006/relationships/image" Target="../media/image25.png"/><Relationship Id="rId40" Type="http://schemas.openxmlformats.org/officeDocument/2006/relationships/customXml" Target="../ink/ink23.xml"/><Relationship Id="rId45" Type="http://schemas.openxmlformats.org/officeDocument/2006/relationships/image" Target="../media/image29.png"/><Relationship Id="rId53" Type="http://schemas.openxmlformats.org/officeDocument/2006/relationships/image" Target="../media/image33.png"/><Relationship Id="rId5" Type="http://schemas.openxmlformats.org/officeDocument/2006/relationships/image" Target="../media/image9.png"/><Relationship Id="rId19" Type="http://schemas.openxmlformats.org/officeDocument/2006/relationships/image" Target="../media/image16.png"/><Relationship Id="rId4" Type="http://schemas.openxmlformats.org/officeDocument/2006/relationships/customXml" Target="../ink/ink5.xml"/><Relationship Id="rId9" Type="http://schemas.openxmlformats.org/officeDocument/2006/relationships/image" Target="../media/image11.png"/><Relationship Id="rId14" Type="http://schemas.openxmlformats.org/officeDocument/2006/relationships/customXml" Target="../ink/ink10.xml"/><Relationship Id="rId22" Type="http://schemas.openxmlformats.org/officeDocument/2006/relationships/customXml" Target="../ink/ink14.xml"/><Relationship Id="rId27" Type="http://schemas.openxmlformats.org/officeDocument/2006/relationships/image" Target="../media/image20.png"/><Relationship Id="rId30" Type="http://schemas.openxmlformats.org/officeDocument/2006/relationships/customXml" Target="../ink/ink18.xml"/><Relationship Id="rId35" Type="http://schemas.openxmlformats.org/officeDocument/2006/relationships/image" Target="../media/image24.png"/><Relationship Id="rId43" Type="http://schemas.openxmlformats.org/officeDocument/2006/relationships/image" Target="../media/image28.png"/><Relationship Id="rId48" Type="http://schemas.openxmlformats.org/officeDocument/2006/relationships/customXml" Target="../ink/ink27.xml"/><Relationship Id="rId56" Type="http://schemas.openxmlformats.org/officeDocument/2006/relationships/customXml" Target="../ink/ink31.xml"/><Relationship Id="rId8" Type="http://schemas.openxmlformats.org/officeDocument/2006/relationships/customXml" Target="../ink/ink7.xml"/><Relationship Id="rId51" Type="http://schemas.openxmlformats.org/officeDocument/2006/relationships/image" Target="../media/image32.png"/><Relationship Id="rId3" Type="http://schemas.openxmlformats.org/officeDocument/2006/relationships/image" Target="../media/image8.png"/><Relationship Id="rId12" Type="http://schemas.openxmlformats.org/officeDocument/2006/relationships/customXml" Target="../ink/ink9.xml"/><Relationship Id="rId17" Type="http://schemas.openxmlformats.org/officeDocument/2006/relationships/image" Target="../media/image15.png"/><Relationship Id="rId25" Type="http://schemas.openxmlformats.org/officeDocument/2006/relationships/image" Target="../media/image19.png"/><Relationship Id="rId33" Type="http://schemas.openxmlformats.org/officeDocument/2006/relationships/image" Target="../media/image23.png"/><Relationship Id="rId38" Type="http://schemas.openxmlformats.org/officeDocument/2006/relationships/customXml" Target="../ink/ink22.xml"/><Relationship Id="rId46" Type="http://schemas.openxmlformats.org/officeDocument/2006/relationships/customXml" Target="../ink/ink26.xml"/><Relationship Id="rId20" Type="http://schemas.openxmlformats.org/officeDocument/2006/relationships/customXml" Target="../ink/ink13.xml"/><Relationship Id="rId41" Type="http://schemas.openxmlformats.org/officeDocument/2006/relationships/image" Target="../media/image27.png"/><Relationship Id="rId54" Type="http://schemas.openxmlformats.org/officeDocument/2006/relationships/customXml" Target="../ink/ink3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15" Type="http://schemas.openxmlformats.org/officeDocument/2006/relationships/image" Target="../media/image14.png"/><Relationship Id="rId23" Type="http://schemas.openxmlformats.org/officeDocument/2006/relationships/image" Target="../media/image18.png"/><Relationship Id="rId28" Type="http://schemas.openxmlformats.org/officeDocument/2006/relationships/customXml" Target="../ink/ink17.xml"/><Relationship Id="rId36" Type="http://schemas.openxmlformats.org/officeDocument/2006/relationships/customXml" Target="../ink/ink21.xml"/><Relationship Id="rId49" Type="http://schemas.openxmlformats.org/officeDocument/2006/relationships/image" Target="../media/image31.png"/><Relationship Id="rId57" Type="http://schemas.openxmlformats.org/officeDocument/2006/relationships/image" Target="../media/image35.png"/><Relationship Id="rId10" Type="http://schemas.openxmlformats.org/officeDocument/2006/relationships/customXml" Target="../ink/ink8.xml"/><Relationship Id="rId31" Type="http://schemas.openxmlformats.org/officeDocument/2006/relationships/image" Target="../media/image22.png"/><Relationship Id="rId44" Type="http://schemas.openxmlformats.org/officeDocument/2006/relationships/customXml" Target="../ink/ink25.xml"/><Relationship Id="rId52" Type="http://schemas.openxmlformats.org/officeDocument/2006/relationships/customXml" Target="../ink/ink2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35.xml"/><Relationship Id="rId13" Type="http://schemas.openxmlformats.org/officeDocument/2006/relationships/image" Target="../media/image41.png"/><Relationship Id="rId18" Type="http://schemas.openxmlformats.org/officeDocument/2006/relationships/customXml" Target="../ink/ink40.xml"/><Relationship Id="rId26" Type="http://schemas.openxmlformats.org/officeDocument/2006/relationships/customXml" Target="../ink/ink44.xml"/><Relationship Id="rId3" Type="http://schemas.openxmlformats.org/officeDocument/2006/relationships/image" Target="../media/image36.png"/><Relationship Id="rId21" Type="http://schemas.openxmlformats.org/officeDocument/2006/relationships/image" Target="../media/image45.png"/><Relationship Id="rId7" Type="http://schemas.openxmlformats.org/officeDocument/2006/relationships/image" Target="../media/image38.png"/><Relationship Id="rId12" Type="http://schemas.openxmlformats.org/officeDocument/2006/relationships/customXml" Target="../ink/ink37.xml"/><Relationship Id="rId17" Type="http://schemas.openxmlformats.org/officeDocument/2006/relationships/image" Target="../media/image43.png"/><Relationship Id="rId25" Type="http://schemas.openxmlformats.org/officeDocument/2006/relationships/image" Target="../media/image47.png"/><Relationship Id="rId2" Type="http://schemas.openxmlformats.org/officeDocument/2006/relationships/customXml" Target="../ink/ink32.xml"/><Relationship Id="rId16" Type="http://schemas.openxmlformats.org/officeDocument/2006/relationships/customXml" Target="../ink/ink39.xml"/><Relationship Id="rId20" Type="http://schemas.openxmlformats.org/officeDocument/2006/relationships/customXml" Target="../ink/ink41.xml"/><Relationship Id="rId29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4.xml"/><Relationship Id="rId11" Type="http://schemas.openxmlformats.org/officeDocument/2006/relationships/image" Target="../media/image40.png"/><Relationship Id="rId24" Type="http://schemas.openxmlformats.org/officeDocument/2006/relationships/customXml" Target="../ink/ink43.xml"/><Relationship Id="rId5" Type="http://schemas.openxmlformats.org/officeDocument/2006/relationships/image" Target="../media/image37.png"/><Relationship Id="rId15" Type="http://schemas.openxmlformats.org/officeDocument/2006/relationships/image" Target="../media/image42.png"/><Relationship Id="rId23" Type="http://schemas.openxmlformats.org/officeDocument/2006/relationships/image" Target="../media/image46.png"/><Relationship Id="rId28" Type="http://schemas.openxmlformats.org/officeDocument/2006/relationships/customXml" Target="../ink/ink45.xml"/><Relationship Id="rId10" Type="http://schemas.openxmlformats.org/officeDocument/2006/relationships/customXml" Target="../ink/ink36.xml"/><Relationship Id="rId19" Type="http://schemas.openxmlformats.org/officeDocument/2006/relationships/image" Target="../media/image44.png"/><Relationship Id="rId4" Type="http://schemas.openxmlformats.org/officeDocument/2006/relationships/customXml" Target="../ink/ink33.xml"/><Relationship Id="rId9" Type="http://schemas.openxmlformats.org/officeDocument/2006/relationships/image" Target="../media/image39.png"/><Relationship Id="rId14" Type="http://schemas.openxmlformats.org/officeDocument/2006/relationships/customXml" Target="../ink/ink38.xml"/><Relationship Id="rId22" Type="http://schemas.openxmlformats.org/officeDocument/2006/relationships/customXml" Target="../ink/ink42.xml"/><Relationship Id="rId27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5.png"/><Relationship Id="rId18" Type="http://schemas.openxmlformats.org/officeDocument/2006/relationships/customXml" Target="../ink/ink54.xml"/><Relationship Id="rId26" Type="http://schemas.openxmlformats.org/officeDocument/2006/relationships/customXml" Target="../ink/ink58.xml"/><Relationship Id="rId39" Type="http://schemas.openxmlformats.org/officeDocument/2006/relationships/image" Target="../media/image68.png"/><Relationship Id="rId21" Type="http://schemas.openxmlformats.org/officeDocument/2006/relationships/image" Target="../media/image59.png"/><Relationship Id="rId34" Type="http://schemas.openxmlformats.org/officeDocument/2006/relationships/customXml" Target="../ink/ink62.xml"/><Relationship Id="rId42" Type="http://schemas.openxmlformats.org/officeDocument/2006/relationships/customXml" Target="../ink/ink66.xml"/><Relationship Id="rId47" Type="http://schemas.openxmlformats.org/officeDocument/2006/relationships/image" Target="../media/image72.png"/><Relationship Id="rId7" Type="http://schemas.openxmlformats.org/officeDocument/2006/relationships/image" Target="../media/image52.png"/><Relationship Id="rId2" Type="http://schemas.openxmlformats.org/officeDocument/2006/relationships/customXml" Target="../ink/ink46.xml"/><Relationship Id="rId16" Type="http://schemas.openxmlformats.org/officeDocument/2006/relationships/customXml" Target="../ink/ink53.xml"/><Relationship Id="rId29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8.xml"/><Relationship Id="rId11" Type="http://schemas.openxmlformats.org/officeDocument/2006/relationships/image" Target="../media/image54.png"/><Relationship Id="rId24" Type="http://schemas.openxmlformats.org/officeDocument/2006/relationships/customXml" Target="../ink/ink57.xml"/><Relationship Id="rId32" Type="http://schemas.openxmlformats.org/officeDocument/2006/relationships/customXml" Target="../ink/ink61.xml"/><Relationship Id="rId37" Type="http://schemas.openxmlformats.org/officeDocument/2006/relationships/image" Target="../media/image67.png"/><Relationship Id="rId40" Type="http://schemas.openxmlformats.org/officeDocument/2006/relationships/customXml" Target="../ink/ink65.xml"/><Relationship Id="rId45" Type="http://schemas.openxmlformats.org/officeDocument/2006/relationships/image" Target="../media/image71.png"/><Relationship Id="rId5" Type="http://schemas.openxmlformats.org/officeDocument/2006/relationships/image" Target="../media/image51.png"/><Relationship Id="rId15" Type="http://schemas.openxmlformats.org/officeDocument/2006/relationships/image" Target="../media/image56.png"/><Relationship Id="rId23" Type="http://schemas.openxmlformats.org/officeDocument/2006/relationships/image" Target="../media/image60.png"/><Relationship Id="rId28" Type="http://schemas.openxmlformats.org/officeDocument/2006/relationships/customXml" Target="../ink/ink59.xml"/><Relationship Id="rId36" Type="http://schemas.openxmlformats.org/officeDocument/2006/relationships/customXml" Target="../ink/ink63.xml"/><Relationship Id="rId10" Type="http://schemas.openxmlformats.org/officeDocument/2006/relationships/customXml" Target="../ink/ink50.xml"/><Relationship Id="rId19" Type="http://schemas.openxmlformats.org/officeDocument/2006/relationships/image" Target="../media/image58.png"/><Relationship Id="rId31" Type="http://schemas.openxmlformats.org/officeDocument/2006/relationships/image" Target="../media/image64.png"/><Relationship Id="rId44" Type="http://schemas.openxmlformats.org/officeDocument/2006/relationships/customXml" Target="../ink/ink67.xml"/><Relationship Id="rId4" Type="http://schemas.openxmlformats.org/officeDocument/2006/relationships/customXml" Target="../ink/ink47.xml"/><Relationship Id="rId9" Type="http://schemas.openxmlformats.org/officeDocument/2006/relationships/image" Target="../media/image53.png"/><Relationship Id="rId14" Type="http://schemas.openxmlformats.org/officeDocument/2006/relationships/customXml" Target="../ink/ink52.xml"/><Relationship Id="rId22" Type="http://schemas.openxmlformats.org/officeDocument/2006/relationships/customXml" Target="../ink/ink56.xml"/><Relationship Id="rId27" Type="http://schemas.openxmlformats.org/officeDocument/2006/relationships/image" Target="../media/image62.png"/><Relationship Id="rId30" Type="http://schemas.openxmlformats.org/officeDocument/2006/relationships/customXml" Target="../ink/ink60.xml"/><Relationship Id="rId35" Type="http://schemas.openxmlformats.org/officeDocument/2006/relationships/image" Target="../media/image66.png"/><Relationship Id="rId43" Type="http://schemas.openxmlformats.org/officeDocument/2006/relationships/image" Target="../media/image70.png"/><Relationship Id="rId8" Type="http://schemas.openxmlformats.org/officeDocument/2006/relationships/customXml" Target="../ink/ink49.xml"/><Relationship Id="rId3" Type="http://schemas.openxmlformats.org/officeDocument/2006/relationships/image" Target="../media/image50.png"/><Relationship Id="rId12" Type="http://schemas.openxmlformats.org/officeDocument/2006/relationships/customXml" Target="../ink/ink51.xml"/><Relationship Id="rId17" Type="http://schemas.openxmlformats.org/officeDocument/2006/relationships/image" Target="../media/image57.png"/><Relationship Id="rId25" Type="http://schemas.openxmlformats.org/officeDocument/2006/relationships/image" Target="../media/image61.png"/><Relationship Id="rId33" Type="http://schemas.openxmlformats.org/officeDocument/2006/relationships/image" Target="../media/image65.png"/><Relationship Id="rId38" Type="http://schemas.openxmlformats.org/officeDocument/2006/relationships/customXml" Target="../ink/ink64.xml"/><Relationship Id="rId46" Type="http://schemas.openxmlformats.org/officeDocument/2006/relationships/customXml" Target="../ink/ink68.xml"/><Relationship Id="rId20" Type="http://schemas.openxmlformats.org/officeDocument/2006/relationships/customXml" Target="../ink/ink55.xml"/><Relationship Id="rId41" Type="http://schemas.openxmlformats.org/officeDocument/2006/relationships/image" Target="../media/image6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2000">
              <a:schemeClr val="accent2">
                <a:lumMod val="5000"/>
                <a:lumOff val="95000"/>
                <a:alpha val="97000"/>
              </a:schemeClr>
            </a:gs>
            <a:gs pos="100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45000"/>
                <a:lumOff val="55000"/>
              </a:schemeClr>
            </a:gs>
            <a:gs pos="97000">
              <a:schemeClr val="accent2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6E4D8-BC9E-42D1-9788-9DA786975F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1805" y="543463"/>
            <a:ext cx="10589342" cy="3200400"/>
          </a:xfrm>
        </p:spPr>
        <p:txBody>
          <a:bodyPr>
            <a:normAutofit/>
          </a:bodyPr>
          <a:lstStyle/>
          <a:p>
            <a:r>
              <a:rPr lang="en-US" sz="6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Berlin Sans FB Demi" panose="020E0802020502020306" pitchFamily="34" charset="0"/>
              </a:rPr>
              <a:t>EE 421 / CS 425</a:t>
            </a:r>
            <a:br>
              <a:rPr lang="en-US" sz="66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Berlin Sans FB Demi" panose="020E0802020502020306" pitchFamily="34" charset="0"/>
              </a:rPr>
            </a:br>
            <a:r>
              <a:rPr lang="en-US" sz="66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Berlin Sans FB Demi" panose="020E0802020502020306" pitchFamily="34" charset="0"/>
              </a:rPr>
              <a:t>Digital System Design </a:t>
            </a:r>
            <a:br>
              <a:rPr lang="en-US" sz="66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Berlin Sans FB Demi" panose="020E0802020502020306" pitchFamily="34" charset="0"/>
              </a:rPr>
            </a:br>
            <a:r>
              <a:rPr lang="en-US" sz="66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Berlin Sans FB Demi" panose="020E0802020502020306" pitchFamily="34" charset="0"/>
              </a:rPr>
              <a:t>Fall 2026 Lecture 8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DFFD2C67-DF18-A78A-6544-0B5B0BF59C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5452747"/>
              </p:ext>
            </p:extLst>
          </p:nvPr>
        </p:nvGraphicFramePr>
        <p:xfrm>
          <a:off x="1524000" y="4466687"/>
          <a:ext cx="9144000" cy="1655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DFE5D1-CAAA-4983-9B29-1BD03EC30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Digital System Design Lecture 8 Fall 2026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4E0833-4DC4-6802-49BC-E1B05D509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140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C1969-4E71-49AA-9E02-16B9327EC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F8486-4224-4362-982B-82D585B6A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280" y="1602971"/>
            <a:ext cx="10515600" cy="4351338"/>
          </a:xfrm>
        </p:spPr>
        <p:txBody>
          <a:bodyPr/>
          <a:lstStyle/>
          <a:p>
            <a:r>
              <a:rPr lang="en-US" dirty="0"/>
              <a:t>State Diagrams</a:t>
            </a:r>
          </a:p>
          <a:p>
            <a:r>
              <a:rPr lang="en-US" dirty="0"/>
              <a:t>Introduction to State Machines</a:t>
            </a:r>
          </a:p>
          <a:p>
            <a:r>
              <a:rPr lang="en-US" dirty="0"/>
              <a:t>Moore State Machine and Mealy State Machine</a:t>
            </a:r>
          </a:p>
          <a:p>
            <a:r>
              <a:rPr lang="en-US" dirty="0"/>
              <a:t>State Tables Description of State Machines</a:t>
            </a:r>
          </a:p>
          <a:p>
            <a:r>
              <a:rPr lang="en-US" dirty="0"/>
              <a:t>Design Example of a State Machine (Vending Machine)</a:t>
            </a:r>
          </a:p>
          <a:p>
            <a:r>
              <a:rPr lang="en-US" dirty="0"/>
              <a:t>Sequential State Machine Circuit Design</a:t>
            </a:r>
          </a:p>
          <a:p>
            <a:r>
              <a:rPr lang="en-US" dirty="0"/>
              <a:t>One Hot Encoding and ASMD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DD0E17-A37B-49D3-A97E-4AB755861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Digital System Design Lecture 8 Fall 2026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5F904C-92EF-2685-F1EF-0367E058C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89F45E-9ECB-F48E-1832-E158DE9C4B9F}"/>
              </a:ext>
            </a:extLst>
          </p:cNvPr>
          <p:cNvSpPr txBox="1"/>
          <p:nvPr/>
        </p:nvSpPr>
        <p:spPr>
          <a:xfrm>
            <a:off x="8377789" y="681037"/>
            <a:ext cx="3336170" cy="1569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</a:rPr>
              <a:t>ANNOUNCEMENT </a:t>
            </a:r>
          </a:p>
          <a:p>
            <a:pPr algn="ctr"/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</a:rPr>
              <a:t>QUIZ 2 </a:t>
            </a:r>
          </a:p>
          <a:p>
            <a:pPr algn="ctr"/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</a:rPr>
              <a:t>Next Lecture</a:t>
            </a:r>
          </a:p>
        </p:txBody>
      </p:sp>
    </p:spTree>
    <p:extLst>
      <p:ext uri="{BB962C8B-B14F-4D97-AF65-F5344CB8AC3E}">
        <p14:creationId xmlns:p14="http://schemas.microsoft.com/office/powerpoint/2010/main" val="2978323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repeatCount="indefinite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3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4424C-D85A-93F1-93F3-6C112836A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055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Practice Questions from Past Papers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2F0BE8-FC75-9D98-D25F-4996D747D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Digital System Design Lecture 8 Fall 2026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D8549F-3D42-41FE-2835-8171A5956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BFFAC9-D0D3-A4EA-552C-85EF97F9D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" y="1050205"/>
            <a:ext cx="6962775" cy="57311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FEAAC9-18F8-A62F-8D32-557BCCEA5EB7}"/>
              </a:ext>
            </a:extLst>
          </p:cNvPr>
          <p:cNvSpPr txBox="1"/>
          <p:nvPr/>
        </p:nvSpPr>
        <p:spPr>
          <a:xfrm>
            <a:off x="8305800" y="1571625"/>
            <a:ext cx="1736373" cy="313932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Check folders:</a:t>
            </a:r>
          </a:p>
          <a:p>
            <a:endParaRPr lang="en-US" b="1" dirty="0"/>
          </a:p>
          <a:p>
            <a:r>
              <a:rPr lang="en-US" b="1" dirty="0"/>
              <a:t>SSE → EE 421</a:t>
            </a:r>
          </a:p>
          <a:p>
            <a:endParaRPr lang="en-US" b="1" dirty="0"/>
          </a:p>
          <a:p>
            <a:r>
              <a:rPr lang="en-US" b="1" dirty="0"/>
              <a:t>and</a:t>
            </a:r>
          </a:p>
          <a:p>
            <a:endParaRPr lang="en-US" b="1" dirty="0"/>
          </a:p>
          <a:p>
            <a:r>
              <a:rPr lang="en-US" b="1" dirty="0"/>
              <a:t>CS  → CMPE 424</a:t>
            </a:r>
          </a:p>
          <a:p>
            <a:endParaRPr lang="en-US" b="1" dirty="0"/>
          </a:p>
          <a:p>
            <a:r>
              <a:rPr lang="en-US" b="1" dirty="0"/>
              <a:t>a</a:t>
            </a:r>
            <a:r>
              <a:rPr lang="en-US" b="1"/>
              <a:t>nd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CS  → CS 424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AEBA43-F02C-3534-36B6-E4EAFEE1BA52}"/>
              </a:ext>
            </a:extLst>
          </p:cNvPr>
          <p:cNvSpPr/>
          <p:nvPr/>
        </p:nvSpPr>
        <p:spPr>
          <a:xfrm>
            <a:off x="1190625" y="1050205"/>
            <a:ext cx="2943225" cy="207095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18EB80-EB31-18EA-3C51-EE1876EBAAC9}"/>
              </a:ext>
            </a:extLst>
          </p:cNvPr>
          <p:cNvSpPr/>
          <p:nvPr/>
        </p:nvSpPr>
        <p:spPr>
          <a:xfrm>
            <a:off x="342900" y="4467225"/>
            <a:ext cx="676275" cy="243721"/>
          </a:xfrm>
          <a:prstGeom prst="rect">
            <a:avLst/>
          </a:prstGeom>
          <a:noFill/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34C9496-8831-C99C-07DA-B02F09786112}"/>
              </a:ext>
            </a:extLst>
          </p:cNvPr>
          <p:cNvCxnSpPr/>
          <p:nvPr/>
        </p:nvCxnSpPr>
        <p:spPr>
          <a:xfrm flipH="1">
            <a:off x="1085850" y="4467225"/>
            <a:ext cx="352425" cy="15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B925367-FB22-95FA-D5F0-03A189324221}"/>
              </a:ext>
            </a:extLst>
          </p:cNvPr>
          <p:cNvCxnSpPr/>
          <p:nvPr/>
        </p:nvCxnSpPr>
        <p:spPr>
          <a:xfrm flipH="1">
            <a:off x="4176712" y="1035523"/>
            <a:ext cx="352425" cy="15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7183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91755-5372-4FDE-9FB9-3ECC32A5B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535994" cy="1039304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State Diagram of D Flipflop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E40E01E-51FA-4229-A57B-FB92C713E8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413613"/>
              </p:ext>
            </p:extLst>
          </p:nvPr>
        </p:nvGraphicFramePr>
        <p:xfrm>
          <a:off x="442452" y="1862405"/>
          <a:ext cx="4035748" cy="118872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017874">
                  <a:extLst>
                    <a:ext uri="{9D8B030D-6E8A-4147-A177-3AD203B41FA5}">
                      <a16:colId xmlns:a16="http://schemas.microsoft.com/office/drawing/2014/main" val="2969263632"/>
                    </a:ext>
                  </a:extLst>
                </a:gridCol>
                <a:gridCol w="2017874">
                  <a:extLst>
                    <a:ext uri="{9D8B030D-6E8A-4147-A177-3AD203B41FA5}">
                      <a16:colId xmlns:a16="http://schemas.microsoft.com/office/drawing/2014/main" val="11131009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Input (D)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Next State (Q)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3832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 (D)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258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 (D)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677550"/>
                  </a:ext>
                </a:extLst>
              </a:tr>
            </a:tbl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7DDA08E0-6D4A-4F18-BB4A-924DC88EA22D}"/>
              </a:ext>
            </a:extLst>
          </p:cNvPr>
          <p:cNvSpPr/>
          <p:nvPr/>
        </p:nvSpPr>
        <p:spPr>
          <a:xfrm>
            <a:off x="5719913" y="3030230"/>
            <a:ext cx="840658" cy="81116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251A4FC-F029-4232-BD95-59099ECE696B}"/>
              </a:ext>
            </a:extLst>
          </p:cNvPr>
          <p:cNvSpPr/>
          <p:nvPr/>
        </p:nvSpPr>
        <p:spPr>
          <a:xfrm>
            <a:off x="10164094" y="3030231"/>
            <a:ext cx="840658" cy="81116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011DB51C-02E9-470C-8592-8609539CDD2A}"/>
              </a:ext>
            </a:extLst>
          </p:cNvPr>
          <p:cNvSpPr/>
          <p:nvPr/>
        </p:nvSpPr>
        <p:spPr>
          <a:xfrm>
            <a:off x="6096000" y="1887232"/>
            <a:ext cx="4488423" cy="2175386"/>
          </a:xfrm>
          <a:prstGeom prst="arc">
            <a:avLst>
              <a:gd name="adj1" fmla="val 10747051"/>
              <a:gd name="adj2" fmla="val 83874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 b="1"/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E29FA752-3930-4C02-A0CD-24814794468C}"/>
              </a:ext>
            </a:extLst>
          </p:cNvPr>
          <p:cNvSpPr/>
          <p:nvPr/>
        </p:nvSpPr>
        <p:spPr>
          <a:xfrm flipV="1">
            <a:off x="6118121" y="2795384"/>
            <a:ext cx="4488423" cy="2175386"/>
          </a:xfrm>
          <a:prstGeom prst="arc">
            <a:avLst>
              <a:gd name="adj1" fmla="val 10747051"/>
              <a:gd name="adj2" fmla="val 83874"/>
            </a:avLst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F6BDC0-1B14-4B49-AFB8-8D126E59A6F3}"/>
              </a:ext>
            </a:extLst>
          </p:cNvPr>
          <p:cNvSpPr txBox="1"/>
          <p:nvPr/>
        </p:nvSpPr>
        <p:spPr>
          <a:xfrm>
            <a:off x="11283700" y="2381813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1/1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3F2542-BC67-4D31-8498-CA11FB26EDF5}"/>
              </a:ext>
            </a:extLst>
          </p:cNvPr>
          <p:cNvSpPr txBox="1"/>
          <p:nvPr/>
        </p:nvSpPr>
        <p:spPr>
          <a:xfrm>
            <a:off x="8176289" y="439615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0/0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D339E737-BBAD-4119-8404-3EC894E784A0}"/>
              </a:ext>
            </a:extLst>
          </p:cNvPr>
          <p:cNvSpPr/>
          <p:nvPr/>
        </p:nvSpPr>
        <p:spPr>
          <a:xfrm rot="21210062">
            <a:off x="4892781" y="2954880"/>
            <a:ext cx="924666" cy="995363"/>
          </a:xfrm>
          <a:prstGeom prst="arc">
            <a:avLst>
              <a:gd name="adj1" fmla="val 1924774"/>
              <a:gd name="adj2" fmla="val 20266513"/>
            </a:avLst>
          </a:prstGeom>
          <a:ln w="28575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D96E8B-E21D-4DA5-9307-412A7A21B636}"/>
              </a:ext>
            </a:extLst>
          </p:cNvPr>
          <p:cNvSpPr txBox="1"/>
          <p:nvPr/>
        </p:nvSpPr>
        <p:spPr>
          <a:xfrm>
            <a:off x="5115625" y="389670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0/0</a:t>
            </a: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74981454-C497-47FF-A233-A249A22A71A2}"/>
              </a:ext>
            </a:extLst>
          </p:cNvPr>
          <p:cNvSpPr/>
          <p:nvPr/>
        </p:nvSpPr>
        <p:spPr>
          <a:xfrm rot="389938" flipH="1">
            <a:off x="10920962" y="2946066"/>
            <a:ext cx="924666" cy="995363"/>
          </a:xfrm>
          <a:prstGeom prst="arc">
            <a:avLst>
              <a:gd name="adj1" fmla="val 1924774"/>
              <a:gd name="adj2" fmla="val 20519470"/>
            </a:avLst>
          </a:prstGeom>
          <a:ln w="28575"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 b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0807B0-623A-4740-AAA9-B3B79342A212}"/>
              </a:ext>
            </a:extLst>
          </p:cNvPr>
          <p:cNvSpPr txBox="1"/>
          <p:nvPr/>
        </p:nvSpPr>
        <p:spPr>
          <a:xfrm>
            <a:off x="8140970" y="3244334"/>
            <a:ext cx="660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DFF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6D8CBC-E312-480D-B6B4-B27F191765BB}"/>
              </a:ext>
            </a:extLst>
          </p:cNvPr>
          <p:cNvSpPr txBox="1"/>
          <p:nvPr/>
        </p:nvSpPr>
        <p:spPr>
          <a:xfrm>
            <a:off x="7928472" y="1898793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1/1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695FE5A2-6EC1-4A89-B34C-CEA15895688A}"/>
              </a:ext>
            </a:extLst>
          </p:cNvPr>
          <p:cNvSpPr/>
          <p:nvPr/>
        </p:nvSpPr>
        <p:spPr>
          <a:xfrm rot="14362363">
            <a:off x="4832144" y="3538267"/>
            <a:ext cx="235974" cy="259219"/>
          </a:xfrm>
          <a:prstGeom prst="rightArrow">
            <a:avLst>
              <a:gd name="adj1" fmla="val 38370"/>
              <a:gd name="adj2" fmla="val 67033"/>
            </a:avLst>
          </a:prstGeom>
          <a:solidFill>
            <a:srgbClr val="00206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63C94D06-9B4C-4966-9BA7-BC065FF6495F}"/>
              </a:ext>
            </a:extLst>
          </p:cNvPr>
          <p:cNvSpPr/>
          <p:nvPr/>
        </p:nvSpPr>
        <p:spPr>
          <a:xfrm rot="7101904">
            <a:off x="11688092" y="3484056"/>
            <a:ext cx="235974" cy="259219"/>
          </a:xfrm>
          <a:prstGeom prst="rightArrow">
            <a:avLst>
              <a:gd name="adj1" fmla="val 38370"/>
              <a:gd name="adj2" fmla="val 67033"/>
            </a:avLst>
          </a:prstGeom>
          <a:solidFill>
            <a:srgbClr val="00206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EE6EE16B-A78D-45A2-A5D8-E53187245034}"/>
              </a:ext>
            </a:extLst>
          </p:cNvPr>
          <p:cNvSpPr/>
          <p:nvPr/>
        </p:nvSpPr>
        <p:spPr>
          <a:xfrm rot="540267">
            <a:off x="8605652" y="1775570"/>
            <a:ext cx="235974" cy="259219"/>
          </a:xfrm>
          <a:prstGeom prst="rightArrow">
            <a:avLst>
              <a:gd name="adj1" fmla="val 38370"/>
              <a:gd name="adj2" fmla="val 67033"/>
            </a:avLst>
          </a:prstGeom>
          <a:solidFill>
            <a:srgbClr val="00206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F0E550FE-FBFC-47F3-AC63-B0F954B9DEF7}"/>
              </a:ext>
            </a:extLst>
          </p:cNvPr>
          <p:cNvSpPr/>
          <p:nvPr/>
        </p:nvSpPr>
        <p:spPr>
          <a:xfrm rot="10800000">
            <a:off x="8417212" y="4850505"/>
            <a:ext cx="235974" cy="259219"/>
          </a:xfrm>
          <a:prstGeom prst="rightArrow">
            <a:avLst>
              <a:gd name="adj1" fmla="val 38370"/>
              <a:gd name="adj2" fmla="val 67033"/>
            </a:avLst>
          </a:prstGeom>
          <a:solidFill>
            <a:srgbClr val="00206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11B88B5-8F06-4BC5-B5C7-C7FA1A10BE6F}"/>
              </a:ext>
            </a:extLst>
          </p:cNvPr>
          <p:cNvCxnSpPr>
            <a:stCxn id="14" idx="1"/>
          </p:cNvCxnSpPr>
          <p:nvPr/>
        </p:nvCxnSpPr>
        <p:spPr>
          <a:xfrm flipH="1">
            <a:off x="4041058" y="4127533"/>
            <a:ext cx="1074567" cy="268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CD0C133-1798-4D41-8E83-ACB5FA798BE3}"/>
              </a:ext>
            </a:extLst>
          </p:cNvPr>
          <p:cNvCxnSpPr>
            <a:cxnSpLocks/>
            <a:endCxn id="20" idx="0"/>
          </p:cNvCxnSpPr>
          <p:nvPr/>
        </p:nvCxnSpPr>
        <p:spPr>
          <a:xfrm flipH="1">
            <a:off x="5388674" y="4320779"/>
            <a:ext cx="170112" cy="7327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9BA2ABB-E5A1-4DAA-A074-B8723A0E9A4B}"/>
              </a:ext>
            </a:extLst>
          </p:cNvPr>
          <p:cNvSpPr txBox="1"/>
          <p:nvPr/>
        </p:nvSpPr>
        <p:spPr>
          <a:xfrm>
            <a:off x="2654710" y="4396150"/>
            <a:ext cx="1653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to System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D2B361-1DBB-4096-9F12-BA617936E2F0}"/>
              </a:ext>
            </a:extLst>
          </p:cNvPr>
          <p:cNvSpPr txBox="1"/>
          <p:nvPr/>
        </p:nvSpPr>
        <p:spPr>
          <a:xfrm>
            <a:off x="4478200" y="5053570"/>
            <a:ext cx="1820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 of System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B1F14CA-CC8E-4F5F-86D7-6D15D4317028}"/>
              </a:ext>
            </a:extLst>
          </p:cNvPr>
          <p:cNvCxnSpPr>
            <a:cxnSpLocks/>
          </p:cNvCxnSpPr>
          <p:nvPr/>
        </p:nvCxnSpPr>
        <p:spPr>
          <a:xfrm flipH="1" flipV="1">
            <a:off x="5611016" y="2384970"/>
            <a:ext cx="393323" cy="816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6F28580-7A66-4BCA-B695-4B6C1B9B9718}"/>
              </a:ext>
            </a:extLst>
          </p:cNvPr>
          <p:cNvSpPr txBox="1"/>
          <p:nvPr/>
        </p:nvSpPr>
        <p:spPr>
          <a:xfrm>
            <a:off x="4878225" y="1831923"/>
            <a:ext cx="9174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Internal</a:t>
            </a:r>
          </a:p>
          <a:p>
            <a:r>
              <a:rPr lang="en-US" dirty="0"/>
              <a:t>States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3079ACE-3DE5-424A-B179-C34C0ED3BC52}"/>
              </a:ext>
            </a:extLst>
          </p:cNvPr>
          <p:cNvCxnSpPr>
            <a:cxnSpLocks/>
          </p:cNvCxnSpPr>
          <p:nvPr/>
        </p:nvCxnSpPr>
        <p:spPr>
          <a:xfrm flipV="1">
            <a:off x="10790408" y="1775861"/>
            <a:ext cx="145692" cy="1412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393BBE6-0E67-4ACB-A1C1-6755F9F7D0C3}"/>
              </a:ext>
            </a:extLst>
          </p:cNvPr>
          <p:cNvSpPr txBox="1"/>
          <p:nvPr/>
        </p:nvSpPr>
        <p:spPr>
          <a:xfrm>
            <a:off x="10588211" y="998620"/>
            <a:ext cx="9174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Internal</a:t>
            </a:r>
          </a:p>
          <a:p>
            <a:r>
              <a:rPr lang="en-US" dirty="0"/>
              <a:t>States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44E9AF-75FA-4D3F-97D4-3F08AE0C9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Digital System Design Lecture 8 Fall 2026</a:t>
            </a:r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1C74309-54CD-ECC3-D771-A66D93F68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309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/>
      <p:bldP spid="11" grpId="0"/>
      <p:bldP spid="13" grpId="0" animBg="1"/>
      <p:bldP spid="14" grpId="0"/>
      <p:bldP spid="15" grpId="0" animBg="1"/>
      <p:bldP spid="17" grpId="0"/>
      <p:bldP spid="22" grpId="0" animBg="1"/>
      <p:bldP spid="23" grpId="0" animBg="1"/>
      <p:bldP spid="24" grpId="0" animBg="1"/>
      <p:bldP spid="25" grpId="0" animBg="1"/>
      <p:bldP spid="19" grpId="0"/>
      <p:bldP spid="20" grpId="0"/>
      <p:bldP spid="27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BD349-EB53-4696-9EF6-8456E2E7C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State Diagram of T Flipflop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F53008C-78E4-4842-B905-F67E71C2C4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246482"/>
              </p:ext>
            </p:extLst>
          </p:nvPr>
        </p:nvGraphicFramePr>
        <p:xfrm>
          <a:off x="293012" y="1862405"/>
          <a:ext cx="4036870" cy="118872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018435">
                  <a:extLst>
                    <a:ext uri="{9D8B030D-6E8A-4147-A177-3AD203B41FA5}">
                      <a16:colId xmlns:a16="http://schemas.microsoft.com/office/drawing/2014/main" val="2969263632"/>
                    </a:ext>
                  </a:extLst>
                </a:gridCol>
                <a:gridCol w="2018435">
                  <a:extLst>
                    <a:ext uri="{9D8B030D-6E8A-4147-A177-3AD203B41FA5}">
                      <a16:colId xmlns:a16="http://schemas.microsoft.com/office/drawing/2014/main" val="11131009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Input (T)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Next State (Q)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3832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Q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258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Q’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677550"/>
                  </a:ext>
                </a:extLst>
              </a:tr>
            </a:tbl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8C1E857B-F90A-4BC7-B79C-FCEC2885F6D5}"/>
              </a:ext>
            </a:extLst>
          </p:cNvPr>
          <p:cNvSpPr/>
          <p:nvPr/>
        </p:nvSpPr>
        <p:spPr>
          <a:xfrm>
            <a:off x="5719913" y="3030230"/>
            <a:ext cx="840658" cy="811161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A90FC30-D842-4764-9BB4-CCE656534744}"/>
              </a:ext>
            </a:extLst>
          </p:cNvPr>
          <p:cNvSpPr/>
          <p:nvPr/>
        </p:nvSpPr>
        <p:spPr>
          <a:xfrm>
            <a:off x="10164094" y="3030231"/>
            <a:ext cx="840658" cy="81116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34A04E54-5C86-4382-8999-30AC1B425BFC}"/>
              </a:ext>
            </a:extLst>
          </p:cNvPr>
          <p:cNvSpPr/>
          <p:nvPr/>
        </p:nvSpPr>
        <p:spPr>
          <a:xfrm>
            <a:off x="6096000" y="1887232"/>
            <a:ext cx="4488423" cy="2175386"/>
          </a:xfrm>
          <a:prstGeom prst="arc">
            <a:avLst>
              <a:gd name="adj1" fmla="val 10747051"/>
              <a:gd name="adj2" fmla="val 83874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 b="1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8A0A832D-9115-48BF-B323-402E04CA26A4}"/>
              </a:ext>
            </a:extLst>
          </p:cNvPr>
          <p:cNvSpPr/>
          <p:nvPr/>
        </p:nvSpPr>
        <p:spPr>
          <a:xfrm flipV="1">
            <a:off x="6118121" y="2795384"/>
            <a:ext cx="4488423" cy="2175386"/>
          </a:xfrm>
          <a:prstGeom prst="arc">
            <a:avLst>
              <a:gd name="adj1" fmla="val 10747051"/>
              <a:gd name="adj2" fmla="val 83874"/>
            </a:avLst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58B96D-F0B2-4705-B7DD-F5A509105F6C}"/>
              </a:ext>
            </a:extLst>
          </p:cNvPr>
          <p:cNvSpPr txBox="1"/>
          <p:nvPr/>
        </p:nvSpPr>
        <p:spPr>
          <a:xfrm>
            <a:off x="11383295" y="26055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C53B4F-8BF8-465C-AFA6-CF5A15A7040B}"/>
              </a:ext>
            </a:extLst>
          </p:cNvPr>
          <p:cNvSpPr txBox="1"/>
          <p:nvPr/>
        </p:nvSpPr>
        <p:spPr>
          <a:xfrm>
            <a:off x="8055563" y="450910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1</a:t>
            </a: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B6DE1FC1-8963-4865-9212-08536DC0045C}"/>
              </a:ext>
            </a:extLst>
          </p:cNvPr>
          <p:cNvSpPr/>
          <p:nvPr/>
        </p:nvSpPr>
        <p:spPr>
          <a:xfrm rot="21210062">
            <a:off x="4892781" y="2954880"/>
            <a:ext cx="924666" cy="995363"/>
          </a:xfrm>
          <a:prstGeom prst="arc">
            <a:avLst>
              <a:gd name="adj1" fmla="val 1924774"/>
              <a:gd name="adj2" fmla="val 20519470"/>
            </a:avLst>
          </a:prstGeom>
          <a:ln w="28575"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9CB524-25FE-412F-A18D-C60FD09B2DA1}"/>
              </a:ext>
            </a:extLst>
          </p:cNvPr>
          <p:cNvSpPr txBox="1"/>
          <p:nvPr/>
        </p:nvSpPr>
        <p:spPr>
          <a:xfrm>
            <a:off x="5038082" y="26055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0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FE311888-EF50-4643-BDED-8CD8CDAED362}"/>
              </a:ext>
            </a:extLst>
          </p:cNvPr>
          <p:cNvSpPr/>
          <p:nvPr/>
        </p:nvSpPr>
        <p:spPr>
          <a:xfrm rot="389938" flipH="1">
            <a:off x="10920962" y="2946066"/>
            <a:ext cx="924666" cy="995363"/>
          </a:xfrm>
          <a:prstGeom prst="arc">
            <a:avLst>
              <a:gd name="adj1" fmla="val 1924774"/>
              <a:gd name="adj2" fmla="val 20519470"/>
            </a:avLst>
          </a:prstGeom>
          <a:ln w="28575"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 b="1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514A7A-F19F-480B-90A6-967028FA1C59}"/>
              </a:ext>
            </a:extLst>
          </p:cNvPr>
          <p:cNvSpPr txBox="1"/>
          <p:nvPr/>
        </p:nvSpPr>
        <p:spPr>
          <a:xfrm>
            <a:off x="8140970" y="3244334"/>
            <a:ext cx="61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TFF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57232D-FC41-48BE-9320-941D6F301B9F}"/>
              </a:ext>
            </a:extLst>
          </p:cNvPr>
          <p:cNvSpPr txBox="1"/>
          <p:nvPr/>
        </p:nvSpPr>
        <p:spPr>
          <a:xfrm>
            <a:off x="8022174" y="188723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1</a:t>
            </a: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6D5FEA4B-2A5D-4178-9E66-97923AB6E6B5}"/>
              </a:ext>
            </a:extLst>
          </p:cNvPr>
          <p:cNvSpPr/>
          <p:nvPr/>
        </p:nvSpPr>
        <p:spPr>
          <a:xfrm rot="10800000">
            <a:off x="8362332" y="4833195"/>
            <a:ext cx="235974" cy="259219"/>
          </a:xfrm>
          <a:prstGeom prst="rightArrow">
            <a:avLst>
              <a:gd name="adj1" fmla="val 38370"/>
              <a:gd name="adj2" fmla="val 67033"/>
            </a:avLst>
          </a:prstGeom>
          <a:solidFill>
            <a:srgbClr val="00206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EAC6FA30-CE92-44C7-A5FB-80FD88B0C031}"/>
              </a:ext>
            </a:extLst>
          </p:cNvPr>
          <p:cNvSpPr/>
          <p:nvPr/>
        </p:nvSpPr>
        <p:spPr>
          <a:xfrm rot="357016">
            <a:off x="8349532" y="1764714"/>
            <a:ext cx="235974" cy="259219"/>
          </a:xfrm>
          <a:prstGeom prst="rightArrow">
            <a:avLst>
              <a:gd name="adj1" fmla="val 38370"/>
              <a:gd name="adj2" fmla="val 67033"/>
            </a:avLst>
          </a:prstGeom>
          <a:solidFill>
            <a:srgbClr val="00206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0231C8D1-7CA6-4B70-B9DF-4B4671F3AD74}"/>
              </a:ext>
            </a:extLst>
          </p:cNvPr>
          <p:cNvSpPr/>
          <p:nvPr/>
        </p:nvSpPr>
        <p:spPr>
          <a:xfrm rot="4057311">
            <a:off x="4832144" y="3538267"/>
            <a:ext cx="235974" cy="259219"/>
          </a:xfrm>
          <a:prstGeom prst="rightArrow">
            <a:avLst>
              <a:gd name="adj1" fmla="val 38370"/>
              <a:gd name="adj2" fmla="val 67033"/>
            </a:avLst>
          </a:prstGeom>
          <a:solidFill>
            <a:srgbClr val="00206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C8944578-DF40-4F62-B658-DD7D2EB5067E}"/>
              </a:ext>
            </a:extLst>
          </p:cNvPr>
          <p:cNvSpPr/>
          <p:nvPr/>
        </p:nvSpPr>
        <p:spPr>
          <a:xfrm rot="6468425">
            <a:off x="11704708" y="3438857"/>
            <a:ext cx="235974" cy="259219"/>
          </a:xfrm>
          <a:prstGeom prst="rightArrow">
            <a:avLst>
              <a:gd name="adj1" fmla="val 38370"/>
              <a:gd name="adj2" fmla="val 67033"/>
            </a:avLst>
          </a:prstGeom>
          <a:solidFill>
            <a:srgbClr val="00206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575531-8B35-4586-BC0E-9136CB599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Digital System Design Lecture 8 Fall 2026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35C3F-8EDE-BA33-0FF2-493D35C22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08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3" grpId="0" animBg="1"/>
      <p:bldP spid="15" grpId="0"/>
      <p:bldP spid="17" grpId="0"/>
      <p:bldP spid="19" grpId="0" animBg="1"/>
      <p:bldP spid="21" grpId="0"/>
      <p:bldP spid="23" grpId="0" animBg="1"/>
      <p:bldP spid="27" grpId="0"/>
      <p:bldP spid="33" grpId="0" animBg="1"/>
      <p:bldP spid="34" grpId="0" animBg="1"/>
      <p:bldP spid="35" grpId="0" animBg="1"/>
      <p:bldP spid="3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C30E3-DAE2-4483-9794-AFD114BD5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0515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Linking State Table with State Diagram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4E1B95B-F424-4A33-936A-789072612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0705233"/>
              </p:ext>
            </p:extLst>
          </p:nvPr>
        </p:nvGraphicFramePr>
        <p:xfrm>
          <a:off x="1562768" y="1750639"/>
          <a:ext cx="8128000" cy="237744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15706437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5329619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7201592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4386812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7108207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2060"/>
                          </a:solidFill>
                        </a:rPr>
                        <a:t>Q (t)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2060"/>
                          </a:solidFill>
                        </a:rPr>
                        <a:t>Q (t+1)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2060"/>
                          </a:solidFill>
                        </a:rPr>
                        <a:t>Z (Output)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345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Input X=0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Input X=1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Input X=0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Input X=1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090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70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800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1357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88136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4978F37-1039-4277-8A64-BC6029118F46}"/>
              </a:ext>
            </a:extLst>
          </p:cNvPr>
          <p:cNvSpPr txBox="1"/>
          <p:nvPr/>
        </p:nvSpPr>
        <p:spPr>
          <a:xfrm>
            <a:off x="1562768" y="1265640"/>
            <a:ext cx="7959551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Complete State Description Including Inputs, Present State, Outputs and Next State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85C8EDC-AACA-4767-84E6-D11850277653}"/>
              </a:ext>
            </a:extLst>
          </p:cNvPr>
          <p:cNvSpPr/>
          <p:nvPr/>
        </p:nvSpPr>
        <p:spPr>
          <a:xfrm>
            <a:off x="2493190" y="5176637"/>
            <a:ext cx="690114" cy="60161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F5CB3DC4-C024-461D-AD3A-FB58E8B178C7}"/>
              </a:ext>
            </a:extLst>
          </p:cNvPr>
          <p:cNvSpPr/>
          <p:nvPr/>
        </p:nvSpPr>
        <p:spPr>
          <a:xfrm flipH="1">
            <a:off x="2838245" y="4339473"/>
            <a:ext cx="3690601" cy="1613429"/>
          </a:xfrm>
          <a:prstGeom prst="arc">
            <a:avLst>
              <a:gd name="adj1" fmla="val 10679021"/>
              <a:gd name="adj2" fmla="val 83874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000" b="1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B3B65A1D-B29A-4FD7-9360-8A242410B971}"/>
              </a:ext>
            </a:extLst>
          </p:cNvPr>
          <p:cNvSpPr/>
          <p:nvPr/>
        </p:nvSpPr>
        <p:spPr>
          <a:xfrm flipH="1" flipV="1">
            <a:off x="6510441" y="5394031"/>
            <a:ext cx="1648535" cy="844630"/>
          </a:xfrm>
          <a:prstGeom prst="arc">
            <a:avLst>
              <a:gd name="adj1" fmla="val 10747051"/>
              <a:gd name="adj2" fmla="val 21584335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0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BD9FB4-09E3-44D0-ABEC-C4FBBAA7728A}"/>
              </a:ext>
            </a:extLst>
          </p:cNvPr>
          <p:cNvSpPr txBox="1"/>
          <p:nvPr/>
        </p:nvSpPr>
        <p:spPr>
          <a:xfrm>
            <a:off x="7258139" y="5860295"/>
            <a:ext cx="5661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X/0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C25405-9DAF-4A62-95D8-A6CE089FAE6C}"/>
              </a:ext>
            </a:extLst>
          </p:cNvPr>
          <p:cNvSpPr txBox="1"/>
          <p:nvPr/>
        </p:nvSpPr>
        <p:spPr>
          <a:xfrm>
            <a:off x="4652973" y="4302328"/>
            <a:ext cx="554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0/0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7DAC84A7-3517-41B1-9C9D-85A6056DB6FD}"/>
              </a:ext>
            </a:extLst>
          </p:cNvPr>
          <p:cNvSpPr/>
          <p:nvPr/>
        </p:nvSpPr>
        <p:spPr>
          <a:xfrm rot="11044496">
            <a:off x="7087018" y="6142533"/>
            <a:ext cx="235974" cy="192256"/>
          </a:xfrm>
          <a:prstGeom prst="rightArrow">
            <a:avLst>
              <a:gd name="adj1" fmla="val 38370"/>
              <a:gd name="adj2" fmla="val 67033"/>
            </a:avLst>
          </a:prstGeom>
          <a:solidFill>
            <a:srgbClr val="00206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25FF1596-67ED-4929-BF04-3C0662352299}"/>
              </a:ext>
            </a:extLst>
          </p:cNvPr>
          <p:cNvSpPr/>
          <p:nvPr/>
        </p:nvSpPr>
        <p:spPr>
          <a:xfrm rot="11604753">
            <a:off x="5170655" y="4299506"/>
            <a:ext cx="235974" cy="192256"/>
          </a:xfrm>
          <a:prstGeom prst="rightArrow">
            <a:avLst>
              <a:gd name="adj1" fmla="val 38370"/>
              <a:gd name="adj2" fmla="val 67033"/>
            </a:avLst>
          </a:prstGeom>
          <a:solidFill>
            <a:srgbClr val="00206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53D87172-0B02-4915-BE89-FC714DD48F1D}"/>
              </a:ext>
            </a:extLst>
          </p:cNvPr>
          <p:cNvSpPr/>
          <p:nvPr/>
        </p:nvSpPr>
        <p:spPr>
          <a:xfrm rot="21210062">
            <a:off x="1778571" y="5123172"/>
            <a:ext cx="780659" cy="738236"/>
          </a:xfrm>
          <a:prstGeom prst="arc">
            <a:avLst>
              <a:gd name="adj1" fmla="val 1924774"/>
              <a:gd name="adj2" fmla="val 20519470"/>
            </a:avLst>
          </a:prstGeom>
          <a:ln w="28575"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000" b="1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5757023C-1D88-4EAB-941D-607D8E2219EC}"/>
              </a:ext>
            </a:extLst>
          </p:cNvPr>
          <p:cNvSpPr/>
          <p:nvPr/>
        </p:nvSpPr>
        <p:spPr>
          <a:xfrm rot="4057311">
            <a:off x="1703516" y="5462750"/>
            <a:ext cx="175016" cy="259219"/>
          </a:xfrm>
          <a:prstGeom prst="rightArrow">
            <a:avLst>
              <a:gd name="adj1" fmla="val 38370"/>
              <a:gd name="adj2" fmla="val 67033"/>
            </a:avLst>
          </a:prstGeom>
          <a:solidFill>
            <a:srgbClr val="00206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4C1E4DC-CC58-4C6A-82AC-4D5C6BD751A8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3183304" y="5477446"/>
            <a:ext cx="11240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8FB87BB7-E0A8-46B6-870C-34759F16636C}"/>
              </a:ext>
            </a:extLst>
          </p:cNvPr>
          <p:cNvSpPr/>
          <p:nvPr/>
        </p:nvSpPr>
        <p:spPr>
          <a:xfrm>
            <a:off x="4320028" y="5187207"/>
            <a:ext cx="690114" cy="601618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542ED28-372A-4188-8C72-7B83211FCCE6}"/>
              </a:ext>
            </a:extLst>
          </p:cNvPr>
          <p:cNvCxnSpPr>
            <a:cxnSpLocks/>
          </p:cNvCxnSpPr>
          <p:nvPr/>
        </p:nvCxnSpPr>
        <p:spPr>
          <a:xfrm>
            <a:off x="5010142" y="5511538"/>
            <a:ext cx="11240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22E26BCC-EFF8-4B95-84FD-C6416873E721}"/>
              </a:ext>
            </a:extLst>
          </p:cNvPr>
          <p:cNvSpPr/>
          <p:nvPr/>
        </p:nvSpPr>
        <p:spPr>
          <a:xfrm>
            <a:off x="6124745" y="5229060"/>
            <a:ext cx="690114" cy="60161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2F287DA-E692-472C-A8E8-54A89819E2E2}"/>
              </a:ext>
            </a:extLst>
          </p:cNvPr>
          <p:cNvSpPr/>
          <p:nvPr/>
        </p:nvSpPr>
        <p:spPr>
          <a:xfrm>
            <a:off x="7929462" y="5218122"/>
            <a:ext cx="690114" cy="60161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B7738DC-F66B-4DD7-834A-0C0B4690DE9F}"/>
              </a:ext>
            </a:extLst>
          </p:cNvPr>
          <p:cNvCxnSpPr>
            <a:cxnSpLocks/>
          </p:cNvCxnSpPr>
          <p:nvPr/>
        </p:nvCxnSpPr>
        <p:spPr>
          <a:xfrm>
            <a:off x="6814859" y="5511538"/>
            <a:ext cx="11240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40CBCDE-48A0-4D8D-805C-2A4E8B3C049B}"/>
              </a:ext>
            </a:extLst>
          </p:cNvPr>
          <p:cNvSpPr txBox="1"/>
          <p:nvPr/>
        </p:nvSpPr>
        <p:spPr>
          <a:xfrm>
            <a:off x="7033961" y="5160537"/>
            <a:ext cx="554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1/0</a:t>
            </a: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B6D01298-F49E-4D59-AA33-4DA88B1ABBEA}"/>
              </a:ext>
            </a:extLst>
          </p:cNvPr>
          <p:cNvSpPr/>
          <p:nvPr/>
        </p:nvSpPr>
        <p:spPr>
          <a:xfrm>
            <a:off x="3610295" y="5333141"/>
            <a:ext cx="175016" cy="259219"/>
          </a:xfrm>
          <a:prstGeom prst="rightArrow">
            <a:avLst>
              <a:gd name="adj1" fmla="val 38370"/>
              <a:gd name="adj2" fmla="val 67033"/>
            </a:avLst>
          </a:prstGeom>
          <a:solidFill>
            <a:srgbClr val="00206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45D9C234-6F0C-4290-82F6-C89555A35387}"/>
              </a:ext>
            </a:extLst>
          </p:cNvPr>
          <p:cNvSpPr/>
          <p:nvPr/>
        </p:nvSpPr>
        <p:spPr>
          <a:xfrm>
            <a:off x="5448938" y="5381928"/>
            <a:ext cx="175016" cy="259219"/>
          </a:xfrm>
          <a:prstGeom prst="rightArrow">
            <a:avLst>
              <a:gd name="adj1" fmla="val 38370"/>
              <a:gd name="adj2" fmla="val 67033"/>
            </a:avLst>
          </a:prstGeom>
          <a:solidFill>
            <a:srgbClr val="00206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60CA8701-F5A5-4657-97C1-6185B014739E}"/>
              </a:ext>
            </a:extLst>
          </p:cNvPr>
          <p:cNvSpPr/>
          <p:nvPr/>
        </p:nvSpPr>
        <p:spPr>
          <a:xfrm>
            <a:off x="7468433" y="5376271"/>
            <a:ext cx="175016" cy="259219"/>
          </a:xfrm>
          <a:prstGeom prst="rightArrow">
            <a:avLst>
              <a:gd name="adj1" fmla="val 38370"/>
              <a:gd name="adj2" fmla="val 67033"/>
            </a:avLst>
          </a:prstGeom>
          <a:solidFill>
            <a:srgbClr val="00206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/>
          </a:p>
        </p:txBody>
      </p:sp>
      <p:sp>
        <p:nvSpPr>
          <p:cNvPr id="37" name="Arc 36">
            <a:extLst>
              <a:ext uri="{FF2B5EF4-FFF2-40B4-BE49-F238E27FC236}">
                <a16:creationId xmlns:a16="http://schemas.microsoft.com/office/drawing/2014/main" id="{512601BD-422A-4E5A-8E3C-3FF60F6EE9E2}"/>
              </a:ext>
            </a:extLst>
          </p:cNvPr>
          <p:cNvSpPr/>
          <p:nvPr/>
        </p:nvSpPr>
        <p:spPr>
          <a:xfrm rot="15810062">
            <a:off x="4262644" y="5748220"/>
            <a:ext cx="780659" cy="738236"/>
          </a:xfrm>
          <a:prstGeom prst="arc">
            <a:avLst>
              <a:gd name="adj1" fmla="val 1924774"/>
              <a:gd name="adj2" fmla="val 20519470"/>
            </a:avLst>
          </a:prstGeom>
          <a:ln w="28575"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000" b="1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6B219980-2DC1-4047-A321-EAFA415E9733}"/>
              </a:ext>
            </a:extLst>
          </p:cNvPr>
          <p:cNvSpPr/>
          <p:nvPr/>
        </p:nvSpPr>
        <p:spPr>
          <a:xfrm rot="11603526" flipH="1">
            <a:off x="4465396" y="6365605"/>
            <a:ext cx="175016" cy="259219"/>
          </a:xfrm>
          <a:prstGeom prst="rightArrow">
            <a:avLst>
              <a:gd name="adj1" fmla="val 38370"/>
              <a:gd name="adj2" fmla="val 67033"/>
            </a:avLst>
          </a:prstGeom>
          <a:solidFill>
            <a:srgbClr val="00206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FD5955-C9FC-482E-86A5-CDDAA0B02D54}"/>
              </a:ext>
            </a:extLst>
          </p:cNvPr>
          <p:cNvSpPr txBox="1"/>
          <p:nvPr/>
        </p:nvSpPr>
        <p:spPr>
          <a:xfrm>
            <a:off x="5328913" y="5066974"/>
            <a:ext cx="554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0/1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51C47CD-89FD-4C7C-B81A-D6F884AF0E9F}"/>
              </a:ext>
            </a:extLst>
          </p:cNvPr>
          <p:cNvSpPr txBox="1"/>
          <p:nvPr/>
        </p:nvSpPr>
        <p:spPr>
          <a:xfrm>
            <a:off x="3500958" y="4997239"/>
            <a:ext cx="554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1/0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CFF4CB2-EC88-4765-8750-48E0EE2AEA7C}"/>
              </a:ext>
            </a:extLst>
          </p:cNvPr>
          <p:cNvSpPr txBox="1"/>
          <p:nvPr/>
        </p:nvSpPr>
        <p:spPr>
          <a:xfrm>
            <a:off x="1562768" y="5860295"/>
            <a:ext cx="554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0/0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F493A6-B78C-4F50-ACF8-6F2C52405920}"/>
              </a:ext>
            </a:extLst>
          </p:cNvPr>
          <p:cNvSpPr txBox="1"/>
          <p:nvPr/>
        </p:nvSpPr>
        <p:spPr>
          <a:xfrm>
            <a:off x="3960707" y="6362272"/>
            <a:ext cx="554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1/0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7D0279-D687-4662-B27A-752ECD334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Digital System Design Lecture 8 Fall 2026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23074-F516-A4C6-C849-4317B3A57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945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0" grpId="0" animBg="1"/>
      <p:bldP spid="12" grpId="0"/>
      <p:bldP spid="17" grpId="0"/>
      <p:bldP spid="18" grpId="0" animBg="1"/>
      <p:bldP spid="19" grpId="0" animBg="1"/>
      <p:bldP spid="13" grpId="0" animBg="1"/>
      <p:bldP spid="20" grpId="0" animBg="1"/>
      <p:bldP spid="26" grpId="0" animBg="1"/>
      <p:bldP spid="28" grpId="0" animBg="1"/>
      <p:bldP spid="29" grpId="0" animBg="1"/>
      <p:bldP spid="31" grpId="0"/>
      <p:bldP spid="32" grpId="0" animBg="1"/>
      <p:bldP spid="33" grpId="0" animBg="1"/>
      <p:bldP spid="34" grpId="0" animBg="1"/>
      <p:bldP spid="37" grpId="0" animBg="1"/>
      <p:bldP spid="39" grpId="0" animBg="1"/>
      <p:bldP spid="40" grpId="0"/>
      <p:bldP spid="41" grpId="0"/>
      <p:bldP spid="42" grpId="0"/>
      <p:bldP spid="4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8FD3D-BE17-4B7C-9710-5C5539169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Types of State Machines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CF5BC-053F-4CAD-B0BC-E8B32DA76B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49961"/>
          </a:xfrm>
          <a:solidFill>
            <a:srgbClr val="FFFFCC"/>
          </a:solidFill>
        </p:spPr>
        <p:txBody>
          <a:bodyPr/>
          <a:lstStyle/>
          <a:p>
            <a:r>
              <a:rPr lang="en-US" b="1" dirty="0">
                <a:highlight>
                  <a:srgbClr val="FFFF00"/>
                </a:highlight>
              </a:rPr>
              <a:t>Mealy Machine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Output depends upon Internal State plus External Inputs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Output can change at any time and not necessarily after a Clocked event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>
                <a:highlight>
                  <a:srgbClr val="00FF00"/>
                </a:highlight>
              </a:rPr>
              <a:t>Moore Machine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Output depends upon External Inputs and Current Internal State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Output is Synchronized with the Change in Internal States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8B9DE3-0D72-4B63-B226-77528127B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Digital System Design Lecture 8 Fall 2026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816948-606A-26BC-E398-D266DA777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7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3AAF20-0346-01CA-EFC8-1373A806890F}"/>
              </a:ext>
            </a:extLst>
          </p:cNvPr>
          <p:cNvSpPr/>
          <p:nvPr/>
        </p:nvSpPr>
        <p:spPr>
          <a:xfrm>
            <a:off x="766762" y="3286125"/>
            <a:ext cx="10810875" cy="142875"/>
          </a:xfrm>
          <a:prstGeom prst="rect">
            <a:avLst/>
          </a:prstGeom>
          <a:gradFill flip="none" rotWithShape="1">
            <a:gsLst>
              <a:gs pos="2000">
                <a:srgbClr val="FF0000"/>
              </a:gs>
              <a:gs pos="84000">
                <a:schemeClr val="accent5">
                  <a:lumMod val="97000"/>
                  <a:lumOff val="3000"/>
                </a:schemeClr>
              </a:gs>
              <a:gs pos="91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29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0B289-4A68-4B59-9A6C-631BD524F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Mealy State Machine Block Diagram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4660C6-B718-4AFD-A16B-E5E9F74D9472}"/>
              </a:ext>
            </a:extLst>
          </p:cNvPr>
          <p:cNvSpPr/>
          <p:nvPr/>
        </p:nvSpPr>
        <p:spPr>
          <a:xfrm>
            <a:off x="3477127" y="2526632"/>
            <a:ext cx="1515979" cy="902368"/>
          </a:xfrm>
          <a:prstGeom prst="rect">
            <a:avLst/>
          </a:prstGeom>
          <a:solidFill>
            <a:srgbClr val="00B050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 Next State Logic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25168D-6063-4668-BF16-A865FD8A6B8A}"/>
              </a:ext>
            </a:extLst>
          </p:cNvPr>
          <p:cNvSpPr/>
          <p:nvPr/>
        </p:nvSpPr>
        <p:spPr>
          <a:xfrm>
            <a:off x="5558590" y="2526632"/>
            <a:ext cx="1299410" cy="902368"/>
          </a:xfrm>
          <a:prstGeom prst="rect">
            <a:avLst/>
          </a:prstGeom>
          <a:solidFill>
            <a:schemeClr val="accent5">
              <a:lumMod val="5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State Registers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EE7155-8649-46F9-9F85-38E48364467A}"/>
              </a:ext>
            </a:extLst>
          </p:cNvPr>
          <p:cNvSpPr/>
          <p:nvPr/>
        </p:nvSpPr>
        <p:spPr>
          <a:xfrm>
            <a:off x="7423484" y="2526632"/>
            <a:ext cx="1299410" cy="902368"/>
          </a:xfrm>
          <a:prstGeom prst="rect">
            <a:avLst/>
          </a:prstGeom>
          <a:solidFill>
            <a:srgbClr val="FFC000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Output Logic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067B2A4-A4E7-41D9-BA1F-8EBE03547AF3}"/>
              </a:ext>
            </a:extLst>
          </p:cNvPr>
          <p:cNvCxnSpPr/>
          <p:nvPr/>
        </p:nvCxnSpPr>
        <p:spPr>
          <a:xfrm>
            <a:off x="2474495" y="2791326"/>
            <a:ext cx="1002632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AF26D78-3304-4E13-B09B-B52A791BCE87}"/>
              </a:ext>
            </a:extLst>
          </p:cNvPr>
          <p:cNvCxnSpPr>
            <a:cxnSpLocks/>
          </p:cNvCxnSpPr>
          <p:nvPr/>
        </p:nvCxnSpPr>
        <p:spPr>
          <a:xfrm flipV="1">
            <a:off x="3068053" y="2141621"/>
            <a:ext cx="0" cy="64970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B8EB813-6A5D-462A-BE8A-4C37657131CC}"/>
              </a:ext>
            </a:extLst>
          </p:cNvPr>
          <p:cNvCxnSpPr/>
          <p:nvPr/>
        </p:nvCxnSpPr>
        <p:spPr>
          <a:xfrm>
            <a:off x="3068053" y="2141621"/>
            <a:ext cx="403057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5E4C2D9-C85C-407C-89B5-EAB69D0002DE}"/>
              </a:ext>
            </a:extLst>
          </p:cNvPr>
          <p:cNvCxnSpPr/>
          <p:nvPr/>
        </p:nvCxnSpPr>
        <p:spPr>
          <a:xfrm>
            <a:off x="7098632" y="2141622"/>
            <a:ext cx="0" cy="61361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4F096DF-754C-4664-B95F-FC534F0C75F4}"/>
              </a:ext>
            </a:extLst>
          </p:cNvPr>
          <p:cNvCxnSpPr/>
          <p:nvPr/>
        </p:nvCxnSpPr>
        <p:spPr>
          <a:xfrm>
            <a:off x="7098632" y="2755232"/>
            <a:ext cx="324852" cy="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DB3675E-E1D1-478E-95E1-565D598F1C3C}"/>
              </a:ext>
            </a:extLst>
          </p:cNvPr>
          <p:cNvCxnSpPr/>
          <p:nvPr/>
        </p:nvCxnSpPr>
        <p:spPr>
          <a:xfrm>
            <a:off x="6858000" y="3152274"/>
            <a:ext cx="565484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C074A07-48F1-43D8-8BEE-9C17493C6EB6}"/>
              </a:ext>
            </a:extLst>
          </p:cNvPr>
          <p:cNvCxnSpPr/>
          <p:nvPr/>
        </p:nvCxnSpPr>
        <p:spPr>
          <a:xfrm>
            <a:off x="7140742" y="3152274"/>
            <a:ext cx="0" cy="66173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6DA6B0-7CC2-4FC6-A224-A5C2485A95E4}"/>
              </a:ext>
            </a:extLst>
          </p:cNvPr>
          <p:cNvCxnSpPr/>
          <p:nvPr/>
        </p:nvCxnSpPr>
        <p:spPr>
          <a:xfrm flipH="1">
            <a:off x="3068053" y="3826042"/>
            <a:ext cx="407268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9819476-3952-465A-A1D9-EFACFB7BDE29}"/>
              </a:ext>
            </a:extLst>
          </p:cNvPr>
          <p:cNvCxnSpPr/>
          <p:nvPr/>
        </p:nvCxnSpPr>
        <p:spPr>
          <a:xfrm flipV="1">
            <a:off x="3068053" y="3284621"/>
            <a:ext cx="0" cy="52939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73088A0-96D9-46B0-B7C5-04004BD8DCA6}"/>
              </a:ext>
            </a:extLst>
          </p:cNvPr>
          <p:cNvCxnSpPr/>
          <p:nvPr/>
        </p:nvCxnSpPr>
        <p:spPr>
          <a:xfrm>
            <a:off x="3068053" y="3272589"/>
            <a:ext cx="40907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ED120C2-A540-46C0-A5A7-E674CCBD7A3A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4993106" y="2977816"/>
            <a:ext cx="565484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37B2FF1-4CAA-4F4E-9311-504BDDB6E67F}"/>
              </a:ext>
            </a:extLst>
          </p:cNvPr>
          <p:cNvSpPr txBox="1"/>
          <p:nvPr/>
        </p:nvSpPr>
        <p:spPr>
          <a:xfrm>
            <a:off x="1968631" y="2373596"/>
            <a:ext cx="8579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Inputs</a:t>
            </a:r>
          </a:p>
          <a:p>
            <a:r>
              <a:rPr lang="en-US" sz="2000" b="1" dirty="0"/>
              <a:t>X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BD03DC2-493C-4412-8876-68B6037B834F}"/>
              </a:ext>
            </a:extLst>
          </p:cNvPr>
          <p:cNvSpPr txBox="1"/>
          <p:nvPr/>
        </p:nvSpPr>
        <p:spPr>
          <a:xfrm>
            <a:off x="8815331" y="2203466"/>
            <a:ext cx="10502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Outputs</a:t>
            </a:r>
          </a:p>
          <a:p>
            <a:r>
              <a:rPr lang="en-US" sz="2000" b="1" dirty="0"/>
              <a:t>Y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0DF3C9B-135E-4D7B-9A2E-CDCBE06DAFDD}"/>
              </a:ext>
            </a:extLst>
          </p:cNvPr>
          <p:cNvCxnSpPr>
            <a:stCxn id="6" idx="3"/>
          </p:cNvCxnSpPr>
          <p:nvPr/>
        </p:nvCxnSpPr>
        <p:spPr>
          <a:xfrm>
            <a:off x="8722894" y="2977816"/>
            <a:ext cx="92643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CFE1051-6BC3-4711-A7E3-B2FB4D07B886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6207528" y="3435290"/>
            <a:ext cx="0" cy="33387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0DF86EE0-92A6-4317-B999-82AD52426B47}"/>
              </a:ext>
            </a:extLst>
          </p:cNvPr>
          <p:cNvGrpSpPr/>
          <p:nvPr/>
        </p:nvGrpSpPr>
        <p:grpSpPr>
          <a:xfrm>
            <a:off x="6089210" y="3282254"/>
            <a:ext cx="561486" cy="498351"/>
            <a:chOff x="6089210" y="3282254"/>
            <a:chExt cx="561486" cy="498351"/>
          </a:xfrm>
        </p:grpSpPr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7B7BC862-57A2-4C98-AFD9-025E5DFB226F}"/>
                </a:ext>
              </a:extLst>
            </p:cNvPr>
            <p:cNvSpPr/>
            <p:nvPr/>
          </p:nvSpPr>
          <p:spPr>
            <a:xfrm>
              <a:off x="6089210" y="3282254"/>
              <a:ext cx="236635" cy="153036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B0A9A16-BC08-4074-BB1C-018C9711CF29}"/>
                </a:ext>
              </a:extLst>
            </p:cNvPr>
            <p:cNvSpPr txBox="1"/>
            <p:nvPr/>
          </p:nvSpPr>
          <p:spPr>
            <a:xfrm>
              <a:off x="6185504" y="3411273"/>
              <a:ext cx="4651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Clk</a:t>
              </a:r>
              <a:endParaRPr lang="en-US" dirty="0"/>
            </a:p>
          </p:txBody>
        </p:sp>
      </p:grp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8D9CC6-87D7-499A-838C-9267265FF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Digital System Design Lecture 8 Fall 2026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B8FB1D-835E-16A4-60C8-A613943BF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8</a:t>
            </a:fld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A89FB74-1256-2402-6C1E-F27C58966D37}"/>
              </a:ext>
            </a:extLst>
          </p:cNvPr>
          <p:cNvSpPr/>
          <p:nvPr/>
        </p:nvSpPr>
        <p:spPr>
          <a:xfrm>
            <a:off x="7074066" y="3098715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C6DA2D0-7454-003E-8DBF-80209A5870E3}"/>
              </a:ext>
            </a:extLst>
          </p:cNvPr>
          <p:cNvSpPr/>
          <p:nvPr/>
        </p:nvSpPr>
        <p:spPr>
          <a:xfrm>
            <a:off x="2980392" y="2695073"/>
            <a:ext cx="171450" cy="1744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1B0F7D8-245C-18A4-0655-83452E16711E}"/>
              </a:ext>
            </a:extLst>
          </p:cNvPr>
          <p:cNvGrpSpPr/>
          <p:nvPr/>
        </p:nvGrpSpPr>
        <p:grpSpPr>
          <a:xfrm>
            <a:off x="5597335" y="3528602"/>
            <a:ext cx="545308" cy="152400"/>
            <a:chOff x="997742" y="4181475"/>
            <a:chExt cx="545308" cy="15240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1DD7F27-1CFE-1BEB-D3A7-91DEC368D595}"/>
                </a:ext>
              </a:extLst>
            </p:cNvPr>
            <p:cNvGrpSpPr/>
            <p:nvPr/>
          </p:nvGrpSpPr>
          <p:grpSpPr>
            <a:xfrm>
              <a:off x="1214437" y="4181475"/>
              <a:ext cx="328613" cy="152400"/>
              <a:chOff x="1214437" y="4181475"/>
              <a:chExt cx="328613" cy="152400"/>
            </a:xfrm>
          </p:grpSpPr>
          <p:cxnSp>
            <p:nvCxnSpPr>
              <p:cNvPr id="17" name="Connector: Elbow 16">
                <a:extLst>
                  <a:ext uri="{FF2B5EF4-FFF2-40B4-BE49-F238E27FC236}">
                    <a16:creationId xmlns:a16="http://schemas.microsoft.com/office/drawing/2014/main" id="{A26E1F8B-3C05-338B-2574-0CB0F02A9DEC}"/>
                  </a:ext>
                </a:extLst>
              </p:cNvPr>
              <p:cNvCxnSpPr/>
              <p:nvPr/>
            </p:nvCxnSpPr>
            <p:spPr>
              <a:xfrm>
                <a:off x="1323975" y="4181475"/>
                <a:ext cx="219075" cy="152400"/>
              </a:xfrm>
              <a:prstGeom prst="bentConnector3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nector: Elbow 17">
                <a:extLst>
                  <a:ext uri="{FF2B5EF4-FFF2-40B4-BE49-F238E27FC236}">
                    <a16:creationId xmlns:a16="http://schemas.microsoft.com/office/drawing/2014/main" id="{89BF66AB-0435-C867-5626-F069562DCAEC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214437" y="4181475"/>
                <a:ext cx="219075" cy="152400"/>
              </a:xfrm>
              <a:prstGeom prst="bentConnector3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D4DBC2B-4227-A75A-0F07-66C5FF1F2FCB}"/>
                </a:ext>
              </a:extLst>
            </p:cNvPr>
            <p:cNvGrpSpPr/>
            <p:nvPr/>
          </p:nvGrpSpPr>
          <p:grpSpPr>
            <a:xfrm>
              <a:off x="997742" y="4181475"/>
              <a:ext cx="328613" cy="152400"/>
              <a:chOff x="1214437" y="4181475"/>
              <a:chExt cx="328613" cy="152400"/>
            </a:xfrm>
          </p:grpSpPr>
          <p:cxnSp>
            <p:nvCxnSpPr>
              <p:cNvPr id="23" name="Connector: Elbow 22">
                <a:extLst>
                  <a:ext uri="{FF2B5EF4-FFF2-40B4-BE49-F238E27FC236}">
                    <a16:creationId xmlns:a16="http://schemas.microsoft.com/office/drawing/2014/main" id="{0F3FB782-6CC8-A30B-C8A5-7712D30B8796}"/>
                  </a:ext>
                </a:extLst>
              </p:cNvPr>
              <p:cNvCxnSpPr/>
              <p:nvPr/>
            </p:nvCxnSpPr>
            <p:spPr>
              <a:xfrm>
                <a:off x="1323975" y="4181475"/>
                <a:ext cx="219075" cy="152400"/>
              </a:xfrm>
              <a:prstGeom prst="bentConnector3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Connector: Elbow 24">
                <a:extLst>
                  <a:ext uri="{FF2B5EF4-FFF2-40B4-BE49-F238E27FC236}">
                    <a16:creationId xmlns:a16="http://schemas.microsoft.com/office/drawing/2014/main" id="{7A29940E-A3AD-865E-78BC-A44523442BA5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214437" y="4181475"/>
                <a:ext cx="219075" cy="152400"/>
              </a:xfrm>
              <a:prstGeom prst="bentConnector3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00153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DA217-C7B7-454F-BBAD-89942A752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State Machine Block Diagrams - Comparison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5D6C270-9420-4C7F-868F-D53C47F7A6BA}"/>
              </a:ext>
            </a:extLst>
          </p:cNvPr>
          <p:cNvGrpSpPr/>
          <p:nvPr/>
        </p:nvGrpSpPr>
        <p:grpSpPr>
          <a:xfrm>
            <a:off x="1607683" y="1433444"/>
            <a:ext cx="7896988" cy="1622576"/>
            <a:chOff x="1968631" y="2203466"/>
            <a:chExt cx="7896988" cy="162257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6DF7EA5-0EA0-4516-BFAB-2EAEDF1F262E}"/>
                </a:ext>
              </a:extLst>
            </p:cNvPr>
            <p:cNvSpPr/>
            <p:nvPr/>
          </p:nvSpPr>
          <p:spPr>
            <a:xfrm>
              <a:off x="3477127" y="2526632"/>
              <a:ext cx="1515979" cy="902368"/>
            </a:xfrm>
            <a:prstGeom prst="rect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 Next State Logic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E31D237-38C0-42C7-99A5-BD5F7CCFD779}"/>
                </a:ext>
              </a:extLst>
            </p:cNvPr>
            <p:cNvSpPr/>
            <p:nvPr/>
          </p:nvSpPr>
          <p:spPr>
            <a:xfrm>
              <a:off x="5558590" y="2526632"/>
              <a:ext cx="1299410" cy="902368"/>
            </a:xfrm>
            <a:prstGeom prst="rect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State Registers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CAFD50E-CD53-4C27-8F48-B86AB4676395}"/>
                </a:ext>
              </a:extLst>
            </p:cNvPr>
            <p:cNvSpPr/>
            <p:nvPr/>
          </p:nvSpPr>
          <p:spPr>
            <a:xfrm>
              <a:off x="7423484" y="2526632"/>
              <a:ext cx="1299410" cy="902368"/>
            </a:xfrm>
            <a:prstGeom prst="rect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Output Logic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818F2E3-F344-40F6-8F81-81958FB2695D}"/>
                </a:ext>
              </a:extLst>
            </p:cNvPr>
            <p:cNvCxnSpPr/>
            <p:nvPr/>
          </p:nvCxnSpPr>
          <p:spPr>
            <a:xfrm>
              <a:off x="2474495" y="2791326"/>
              <a:ext cx="1002632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A17C1DF3-A86C-4E6E-9E33-6641283D5828}"/>
                </a:ext>
              </a:extLst>
            </p:cNvPr>
            <p:cNvCxnSpPr/>
            <p:nvPr/>
          </p:nvCxnSpPr>
          <p:spPr>
            <a:xfrm>
              <a:off x="6858000" y="2977816"/>
              <a:ext cx="565484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652BC67-28B6-4E48-9899-2B2796D66EFE}"/>
                </a:ext>
              </a:extLst>
            </p:cNvPr>
            <p:cNvCxnSpPr>
              <a:cxnSpLocks/>
            </p:cNvCxnSpPr>
            <p:nvPr/>
          </p:nvCxnSpPr>
          <p:spPr>
            <a:xfrm>
              <a:off x="7140742" y="2977816"/>
              <a:ext cx="0" cy="83619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977F773-AF1E-4EC6-A821-51440CE24BD9}"/>
                </a:ext>
              </a:extLst>
            </p:cNvPr>
            <p:cNvCxnSpPr/>
            <p:nvPr/>
          </p:nvCxnSpPr>
          <p:spPr>
            <a:xfrm flipH="1">
              <a:off x="3068053" y="3826042"/>
              <a:ext cx="407268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F208873-FA24-4253-AEBB-5ED3B626BE53}"/>
                </a:ext>
              </a:extLst>
            </p:cNvPr>
            <p:cNvCxnSpPr/>
            <p:nvPr/>
          </p:nvCxnSpPr>
          <p:spPr>
            <a:xfrm flipV="1">
              <a:off x="3068053" y="3284621"/>
              <a:ext cx="0" cy="52939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83EE4B4-D643-40DE-99BD-DC038668187D}"/>
                </a:ext>
              </a:extLst>
            </p:cNvPr>
            <p:cNvCxnSpPr/>
            <p:nvPr/>
          </p:nvCxnSpPr>
          <p:spPr>
            <a:xfrm>
              <a:off x="3068053" y="3272589"/>
              <a:ext cx="409074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C411361-8966-4E9D-8D7D-B3F54E7F0C23}"/>
                </a:ext>
              </a:extLst>
            </p:cNvPr>
            <p:cNvCxnSpPr>
              <a:stCxn id="5" idx="3"/>
              <a:endCxn id="6" idx="1"/>
            </p:cNvCxnSpPr>
            <p:nvPr/>
          </p:nvCxnSpPr>
          <p:spPr>
            <a:xfrm>
              <a:off x="4993106" y="2977816"/>
              <a:ext cx="565484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42BCEDE-423D-43D0-AE6A-3D2A2AA7C94A}"/>
                </a:ext>
              </a:extLst>
            </p:cNvPr>
            <p:cNvSpPr txBox="1"/>
            <p:nvPr/>
          </p:nvSpPr>
          <p:spPr>
            <a:xfrm>
              <a:off x="1968631" y="2373596"/>
              <a:ext cx="8579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Inputs</a:t>
              </a:r>
            </a:p>
            <a:p>
              <a:r>
                <a:rPr lang="en-US" sz="2000" b="1" dirty="0"/>
                <a:t>X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5885240-6788-4117-9AE9-46415C5853AA}"/>
                </a:ext>
              </a:extLst>
            </p:cNvPr>
            <p:cNvSpPr txBox="1"/>
            <p:nvPr/>
          </p:nvSpPr>
          <p:spPr>
            <a:xfrm>
              <a:off x="8815331" y="2203466"/>
              <a:ext cx="105028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Outputs</a:t>
              </a:r>
            </a:p>
            <a:p>
              <a:r>
                <a:rPr lang="en-US" sz="2000" b="1" dirty="0"/>
                <a:t>Y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AE7E344-D2E4-40C4-B20A-B9DD8AEBEC56}"/>
                </a:ext>
              </a:extLst>
            </p:cNvPr>
            <p:cNvCxnSpPr>
              <a:stCxn id="7" idx="3"/>
            </p:cNvCxnSpPr>
            <p:nvPr/>
          </p:nvCxnSpPr>
          <p:spPr>
            <a:xfrm>
              <a:off x="8722894" y="2977816"/>
              <a:ext cx="926433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EE11A5D6-794E-4D74-9096-73C9E56EFB30}"/>
              </a:ext>
            </a:extLst>
          </p:cNvPr>
          <p:cNvSpPr txBox="1"/>
          <p:nvPr/>
        </p:nvSpPr>
        <p:spPr>
          <a:xfrm>
            <a:off x="4054642" y="34290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5770E3D-FC7F-42E4-B434-4F8F58DB31EA}"/>
              </a:ext>
            </a:extLst>
          </p:cNvPr>
          <p:cNvGrpSpPr/>
          <p:nvPr/>
        </p:nvGrpSpPr>
        <p:grpSpPr>
          <a:xfrm>
            <a:off x="1479556" y="4836696"/>
            <a:ext cx="7896988" cy="1684421"/>
            <a:chOff x="332336" y="2141621"/>
            <a:chExt cx="7896988" cy="1684421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E91FC31-B574-49FA-B808-3D0AAF0A42A5}"/>
                </a:ext>
              </a:extLst>
            </p:cNvPr>
            <p:cNvSpPr/>
            <p:nvPr/>
          </p:nvSpPr>
          <p:spPr>
            <a:xfrm>
              <a:off x="1840832" y="2526632"/>
              <a:ext cx="1515979" cy="902368"/>
            </a:xfrm>
            <a:prstGeom prst="rect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 Next State Logic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F08DDB3-C875-4CCF-B0C1-9AC402FE1036}"/>
                </a:ext>
              </a:extLst>
            </p:cNvPr>
            <p:cNvSpPr/>
            <p:nvPr/>
          </p:nvSpPr>
          <p:spPr>
            <a:xfrm>
              <a:off x="3922295" y="2526632"/>
              <a:ext cx="1299410" cy="902368"/>
            </a:xfrm>
            <a:prstGeom prst="rect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State Registers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93C1E5F-D48C-4DE7-AC06-9B54AE7ADC11}"/>
                </a:ext>
              </a:extLst>
            </p:cNvPr>
            <p:cNvSpPr/>
            <p:nvPr/>
          </p:nvSpPr>
          <p:spPr>
            <a:xfrm>
              <a:off x="5787189" y="2526632"/>
              <a:ext cx="1299410" cy="902368"/>
            </a:xfrm>
            <a:prstGeom prst="rect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Output Logic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90A1EE53-0909-4DD4-B787-01AD97CE519A}"/>
                </a:ext>
              </a:extLst>
            </p:cNvPr>
            <p:cNvCxnSpPr/>
            <p:nvPr/>
          </p:nvCxnSpPr>
          <p:spPr>
            <a:xfrm>
              <a:off x="838200" y="2791326"/>
              <a:ext cx="1002632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1CE2E51-F32C-466F-9B24-753B623B59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31758" y="2141621"/>
              <a:ext cx="0" cy="64970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5BFB97E-E142-4B32-B18E-27EAAD10337A}"/>
                </a:ext>
              </a:extLst>
            </p:cNvPr>
            <p:cNvCxnSpPr/>
            <p:nvPr/>
          </p:nvCxnSpPr>
          <p:spPr>
            <a:xfrm>
              <a:off x="1431758" y="2141621"/>
              <a:ext cx="4030579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97C7381-CD9E-4EA1-B57F-E566C1542F55}"/>
                </a:ext>
              </a:extLst>
            </p:cNvPr>
            <p:cNvCxnSpPr/>
            <p:nvPr/>
          </p:nvCxnSpPr>
          <p:spPr>
            <a:xfrm>
              <a:off x="5462337" y="2141622"/>
              <a:ext cx="0" cy="61361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8CCF970-492D-4EC6-AB9B-BAA2D4EB8CDD}"/>
                </a:ext>
              </a:extLst>
            </p:cNvPr>
            <p:cNvCxnSpPr/>
            <p:nvPr/>
          </p:nvCxnSpPr>
          <p:spPr>
            <a:xfrm>
              <a:off x="5462337" y="2755232"/>
              <a:ext cx="324852" cy="0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FAD98A9-9244-4AF7-AF2C-4975D1D99B10}"/>
                </a:ext>
              </a:extLst>
            </p:cNvPr>
            <p:cNvCxnSpPr/>
            <p:nvPr/>
          </p:nvCxnSpPr>
          <p:spPr>
            <a:xfrm>
              <a:off x="5221705" y="3152274"/>
              <a:ext cx="565484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1DA9F70-7F4C-4D20-BB94-92CDD22094AC}"/>
                </a:ext>
              </a:extLst>
            </p:cNvPr>
            <p:cNvCxnSpPr/>
            <p:nvPr/>
          </p:nvCxnSpPr>
          <p:spPr>
            <a:xfrm>
              <a:off x="5504447" y="3152274"/>
              <a:ext cx="0" cy="66173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5BE429B-E459-47BF-91A1-98B3B18FBFE9}"/>
                </a:ext>
              </a:extLst>
            </p:cNvPr>
            <p:cNvCxnSpPr/>
            <p:nvPr/>
          </p:nvCxnSpPr>
          <p:spPr>
            <a:xfrm flipH="1">
              <a:off x="1431758" y="3826042"/>
              <a:ext cx="407268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2151CC7-9F27-40DB-8C2A-C1D4FF0CCE5E}"/>
                </a:ext>
              </a:extLst>
            </p:cNvPr>
            <p:cNvCxnSpPr/>
            <p:nvPr/>
          </p:nvCxnSpPr>
          <p:spPr>
            <a:xfrm flipV="1">
              <a:off x="1431758" y="3284621"/>
              <a:ext cx="0" cy="52939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6EAB6EC3-2928-463F-A300-80DD1ACE7AEE}"/>
                </a:ext>
              </a:extLst>
            </p:cNvPr>
            <p:cNvCxnSpPr/>
            <p:nvPr/>
          </p:nvCxnSpPr>
          <p:spPr>
            <a:xfrm>
              <a:off x="1431758" y="3272589"/>
              <a:ext cx="409074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425A2242-DD39-4975-A57E-63509BFF81C5}"/>
                </a:ext>
              </a:extLst>
            </p:cNvPr>
            <p:cNvCxnSpPr>
              <a:stCxn id="27" idx="3"/>
              <a:endCxn id="28" idx="1"/>
            </p:cNvCxnSpPr>
            <p:nvPr/>
          </p:nvCxnSpPr>
          <p:spPr>
            <a:xfrm>
              <a:off x="3356811" y="2977816"/>
              <a:ext cx="565484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C1B01CF-685E-4573-A9AE-ADEC4CB79159}"/>
                </a:ext>
              </a:extLst>
            </p:cNvPr>
            <p:cNvSpPr txBox="1"/>
            <p:nvPr/>
          </p:nvSpPr>
          <p:spPr>
            <a:xfrm>
              <a:off x="332336" y="2373596"/>
              <a:ext cx="8579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Inputs</a:t>
              </a:r>
            </a:p>
            <a:p>
              <a:r>
                <a:rPr lang="en-US" sz="2000" b="1" dirty="0"/>
                <a:t>X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C833A96-23B0-472A-8D10-AFDF6F389511}"/>
                </a:ext>
              </a:extLst>
            </p:cNvPr>
            <p:cNvSpPr txBox="1"/>
            <p:nvPr/>
          </p:nvSpPr>
          <p:spPr>
            <a:xfrm>
              <a:off x="7179036" y="2203466"/>
              <a:ext cx="105028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Outputs</a:t>
              </a:r>
            </a:p>
            <a:p>
              <a:r>
                <a:rPr lang="en-US" sz="2000" b="1" dirty="0"/>
                <a:t>Y</a:t>
              </a: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CBCE0DE5-20CA-438E-B07B-05C2425B2838}"/>
                </a:ext>
              </a:extLst>
            </p:cNvPr>
            <p:cNvCxnSpPr>
              <a:stCxn id="29" idx="3"/>
            </p:cNvCxnSpPr>
            <p:nvPr/>
          </p:nvCxnSpPr>
          <p:spPr>
            <a:xfrm>
              <a:off x="7086599" y="2977816"/>
              <a:ext cx="926433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20B5F742-4E53-4A3F-837A-E63BC0811DB1}"/>
              </a:ext>
            </a:extLst>
          </p:cNvPr>
          <p:cNvSpPr txBox="1"/>
          <p:nvPr/>
        </p:nvSpPr>
        <p:spPr>
          <a:xfrm>
            <a:off x="252663" y="2514599"/>
            <a:ext cx="888192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Moore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93C8172-B9A9-41EA-8349-D33FEE229B62}"/>
              </a:ext>
            </a:extLst>
          </p:cNvPr>
          <p:cNvSpPr txBox="1"/>
          <p:nvPr/>
        </p:nvSpPr>
        <p:spPr>
          <a:xfrm>
            <a:off x="310178" y="5021652"/>
            <a:ext cx="830677" cy="4001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Mealy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1DF736E-0F34-47DA-852D-EA3C552B895E}"/>
              </a:ext>
            </a:extLst>
          </p:cNvPr>
          <p:cNvSpPr txBox="1"/>
          <p:nvPr/>
        </p:nvSpPr>
        <p:spPr>
          <a:xfrm>
            <a:off x="3969728" y="3886198"/>
            <a:ext cx="1412887" cy="40011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Side by side</a:t>
            </a:r>
          </a:p>
        </p:txBody>
      </p: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3709FBED-2C43-44ED-9769-52B3CBF6A838}"/>
              </a:ext>
            </a:extLst>
          </p:cNvPr>
          <p:cNvSpPr/>
          <p:nvPr/>
        </p:nvSpPr>
        <p:spPr>
          <a:xfrm>
            <a:off x="5582067" y="5961702"/>
            <a:ext cx="236635" cy="153036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FDC14911-3B57-4550-BC00-FC8EA1492EF1}"/>
              </a:ext>
            </a:extLst>
          </p:cNvPr>
          <p:cNvSpPr/>
          <p:nvPr/>
        </p:nvSpPr>
        <p:spPr>
          <a:xfrm>
            <a:off x="5729029" y="2497922"/>
            <a:ext cx="236635" cy="153036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88B669A-5A5D-49CC-A756-C2E1B3F1A20F}"/>
              </a:ext>
            </a:extLst>
          </p:cNvPr>
          <p:cNvCxnSpPr>
            <a:stCxn id="49" idx="3"/>
          </p:cNvCxnSpPr>
          <p:nvPr/>
        </p:nvCxnSpPr>
        <p:spPr>
          <a:xfrm flipH="1">
            <a:off x="5847346" y="2650958"/>
            <a:ext cx="1" cy="252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84AE0DB-83A7-4116-84BD-B3D354D8BD4E}"/>
              </a:ext>
            </a:extLst>
          </p:cNvPr>
          <p:cNvCxnSpPr>
            <a:cxnSpLocks/>
          </p:cNvCxnSpPr>
          <p:nvPr/>
        </p:nvCxnSpPr>
        <p:spPr>
          <a:xfrm>
            <a:off x="5700385" y="6122390"/>
            <a:ext cx="0" cy="2663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C493047F-F2E2-491C-A6FE-8D7F8EAB6367}"/>
              </a:ext>
            </a:extLst>
          </p:cNvPr>
          <p:cNvSpPr txBox="1"/>
          <p:nvPr/>
        </p:nvSpPr>
        <p:spPr>
          <a:xfrm>
            <a:off x="5797393" y="2616808"/>
            <a:ext cx="497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Clk</a:t>
            </a:r>
            <a:endParaRPr lang="en-US" sz="20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393FC91-134D-4808-8A4A-25E759490CBB}"/>
              </a:ext>
            </a:extLst>
          </p:cNvPr>
          <p:cNvSpPr txBox="1"/>
          <p:nvPr/>
        </p:nvSpPr>
        <p:spPr>
          <a:xfrm>
            <a:off x="5674948" y="6102208"/>
            <a:ext cx="497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Clk</a:t>
            </a:r>
            <a:endParaRPr lang="en-US" sz="20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861C27-F4DB-469A-A3A0-83A9FBC0F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83764" y="6546685"/>
            <a:ext cx="4114800" cy="365125"/>
          </a:xfrm>
        </p:spPr>
        <p:txBody>
          <a:bodyPr/>
          <a:lstStyle/>
          <a:p>
            <a:r>
              <a:rPr lang="nn-NO"/>
              <a:t>Digital System Design Lecture 8 Fall 2026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30F2D-C131-3371-0C3C-DE6B09D9E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9</a:t>
            </a:fld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90A35CE-67D2-5DD0-EE38-490B542EE052}"/>
              </a:ext>
            </a:extLst>
          </p:cNvPr>
          <p:cNvSpPr/>
          <p:nvPr/>
        </p:nvSpPr>
        <p:spPr>
          <a:xfrm>
            <a:off x="6580229" y="5768518"/>
            <a:ext cx="142875" cy="1388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1E26A4B-ACAB-DF3D-56F7-FD137626BE27}"/>
              </a:ext>
            </a:extLst>
          </p:cNvPr>
          <p:cNvSpPr/>
          <p:nvPr/>
        </p:nvSpPr>
        <p:spPr>
          <a:xfrm>
            <a:off x="6706853" y="2156411"/>
            <a:ext cx="142875" cy="1388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0B91A7A-1452-F9F8-02A5-8A7D3DB1EF5C}"/>
              </a:ext>
            </a:extLst>
          </p:cNvPr>
          <p:cNvSpPr/>
          <p:nvPr/>
        </p:nvSpPr>
        <p:spPr>
          <a:xfrm>
            <a:off x="2489808" y="5383453"/>
            <a:ext cx="195805" cy="1920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7FC6E12-B5F2-3521-670F-899661CE8597}"/>
                  </a:ext>
                </a:extLst>
              </p14:cNvPr>
              <p14:cNvContentPartPr/>
              <p14:nvPr/>
            </p14:nvContentPartPr>
            <p14:xfrm>
              <a:off x="3419310" y="4789935"/>
              <a:ext cx="3457080" cy="6134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7FC6E12-B5F2-3521-670F-899661CE85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65670" y="4682295"/>
                <a:ext cx="3564720" cy="82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B116DC5-8A02-BE8A-D2B9-B3840C8E8B60}"/>
                  </a:ext>
                </a:extLst>
              </p14:cNvPr>
              <p14:cNvContentPartPr/>
              <p14:nvPr/>
            </p14:nvContentPartPr>
            <p14:xfrm>
              <a:off x="2541990" y="4836735"/>
              <a:ext cx="1131480" cy="4215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B116DC5-8A02-BE8A-D2B9-B3840C8E8B6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88350" y="4728735"/>
                <a:ext cx="1239120" cy="63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335F399-C202-F04B-ADA9-3D1AC5615A98}"/>
                  </a:ext>
                </a:extLst>
              </p14:cNvPr>
              <p14:cNvContentPartPr/>
              <p14:nvPr/>
            </p14:nvContentPartPr>
            <p14:xfrm>
              <a:off x="2304750" y="2000295"/>
              <a:ext cx="723240" cy="97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335F399-C202-F04B-ADA9-3D1AC5615A9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51110" y="1892295"/>
                <a:ext cx="830880" cy="225360"/>
              </a:xfrm>
              <a:prstGeom prst="rect">
                <a:avLst/>
              </a:prstGeom>
            </p:spPr>
          </p:pic>
        </mc:Fallback>
      </mc:AlternateContent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921E7A33-DE9D-0E28-1FFA-047B463A8269}"/>
              </a:ext>
            </a:extLst>
          </p:cNvPr>
          <p:cNvSpPr/>
          <p:nvPr/>
        </p:nvSpPr>
        <p:spPr>
          <a:xfrm>
            <a:off x="863704" y="4362259"/>
            <a:ext cx="1695450" cy="541421"/>
          </a:xfrm>
          <a:custGeom>
            <a:avLst/>
            <a:gdLst>
              <a:gd name="connsiteX0" fmla="*/ 0 w 1695450"/>
              <a:gd name="connsiteY0" fmla="*/ 491854 h 491854"/>
              <a:gd name="connsiteX1" fmla="*/ 381000 w 1695450"/>
              <a:gd name="connsiteY1" fmla="*/ 6079 h 491854"/>
              <a:gd name="connsiteX2" fmla="*/ 1695450 w 1695450"/>
              <a:gd name="connsiteY2" fmla="*/ 263254 h 491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95450" h="491854">
                <a:moveTo>
                  <a:pt x="0" y="491854"/>
                </a:moveTo>
                <a:cubicBezTo>
                  <a:pt x="49212" y="268016"/>
                  <a:pt x="98425" y="44179"/>
                  <a:pt x="381000" y="6079"/>
                </a:cubicBezTo>
                <a:cubicBezTo>
                  <a:pt x="663575" y="-32021"/>
                  <a:pt x="1179512" y="115616"/>
                  <a:pt x="1695450" y="263254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88BCF9EB-857B-16CA-5074-4DEBBB80F8DE}"/>
              </a:ext>
            </a:extLst>
          </p:cNvPr>
          <p:cNvSpPr/>
          <p:nvPr/>
        </p:nvSpPr>
        <p:spPr>
          <a:xfrm>
            <a:off x="1209675" y="2152650"/>
            <a:ext cx="1276350" cy="479706"/>
          </a:xfrm>
          <a:custGeom>
            <a:avLst/>
            <a:gdLst>
              <a:gd name="connsiteX0" fmla="*/ 0 w 1276350"/>
              <a:gd name="connsiteY0" fmla="*/ 476250 h 479706"/>
              <a:gd name="connsiteX1" fmla="*/ 733425 w 1276350"/>
              <a:gd name="connsiteY1" fmla="*/ 409575 h 479706"/>
              <a:gd name="connsiteX2" fmla="*/ 1276350 w 1276350"/>
              <a:gd name="connsiteY2" fmla="*/ 0 h 479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76350" h="479706">
                <a:moveTo>
                  <a:pt x="0" y="476250"/>
                </a:moveTo>
                <a:cubicBezTo>
                  <a:pt x="260350" y="482600"/>
                  <a:pt x="520700" y="488950"/>
                  <a:pt x="733425" y="409575"/>
                </a:cubicBezTo>
                <a:cubicBezTo>
                  <a:pt x="946150" y="330200"/>
                  <a:pt x="1111250" y="165100"/>
                  <a:pt x="1276350" y="0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1654420-5E8C-A4F0-AEF0-B03A945D94F7}"/>
              </a:ext>
            </a:extLst>
          </p:cNvPr>
          <p:cNvGrpSpPr/>
          <p:nvPr/>
        </p:nvGrpSpPr>
        <p:grpSpPr>
          <a:xfrm>
            <a:off x="5197642" y="2757167"/>
            <a:ext cx="545308" cy="152400"/>
            <a:chOff x="997742" y="4181475"/>
            <a:chExt cx="545308" cy="15240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A36DC7A4-4966-D0C9-57C7-40F1D872DD23}"/>
                </a:ext>
              </a:extLst>
            </p:cNvPr>
            <p:cNvGrpSpPr/>
            <p:nvPr/>
          </p:nvGrpSpPr>
          <p:grpSpPr>
            <a:xfrm>
              <a:off x="1214437" y="4181475"/>
              <a:ext cx="328613" cy="152400"/>
              <a:chOff x="1214437" y="4181475"/>
              <a:chExt cx="328613" cy="152400"/>
            </a:xfrm>
          </p:grpSpPr>
          <p:cxnSp>
            <p:nvCxnSpPr>
              <p:cNvPr id="60" name="Connector: Elbow 59">
                <a:extLst>
                  <a:ext uri="{FF2B5EF4-FFF2-40B4-BE49-F238E27FC236}">
                    <a16:creationId xmlns:a16="http://schemas.microsoft.com/office/drawing/2014/main" id="{206C65A4-E052-97E6-8469-6FF046C40C9D}"/>
                  </a:ext>
                </a:extLst>
              </p:cNvPr>
              <p:cNvCxnSpPr/>
              <p:nvPr/>
            </p:nvCxnSpPr>
            <p:spPr>
              <a:xfrm>
                <a:off x="1323975" y="4181475"/>
                <a:ext cx="219075" cy="152400"/>
              </a:xfrm>
              <a:prstGeom prst="bentConnector3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Connector: Elbow 60">
                <a:extLst>
                  <a:ext uri="{FF2B5EF4-FFF2-40B4-BE49-F238E27FC236}">
                    <a16:creationId xmlns:a16="http://schemas.microsoft.com/office/drawing/2014/main" id="{C22DB89A-2484-7F04-BE11-A9C2EE060434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214437" y="4181475"/>
                <a:ext cx="219075" cy="152400"/>
              </a:xfrm>
              <a:prstGeom prst="bentConnector3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6ABC1672-5B80-F423-D12A-7095B4502FAD}"/>
                </a:ext>
              </a:extLst>
            </p:cNvPr>
            <p:cNvGrpSpPr/>
            <p:nvPr/>
          </p:nvGrpSpPr>
          <p:grpSpPr>
            <a:xfrm>
              <a:off x="997742" y="4181475"/>
              <a:ext cx="328613" cy="152400"/>
              <a:chOff x="1214437" y="4181475"/>
              <a:chExt cx="328613" cy="152400"/>
            </a:xfrm>
          </p:grpSpPr>
          <p:cxnSp>
            <p:nvCxnSpPr>
              <p:cNvPr id="58" name="Connector: Elbow 57">
                <a:extLst>
                  <a:ext uri="{FF2B5EF4-FFF2-40B4-BE49-F238E27FC236}">
                    <a16:creationId xmlns:a16="http://schemas.microsoft.com/office/drawing/2014/main" id="{81DFB46B-4E66-0336-41F7-0A825CC58F68}"/>
                  </a:ext>
                </a:extLst>
              </p:cNvPr>
              <p:cNvCxnSpPr/>
              <p:nvPr/>
            </p:nvCxnSpPr>
            <p:spPr>
              <a:xfrm>
                <a:off x="1323975" y="4181475"/>
                <a:ext cx="219075" cy="152400"/>
              </a:xfrm>
              <a:prstGeom prst="bentConnector3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Connector: Elbow 58">
                <a:extLst>
                  <a:ext uri="{FF2B5EF4-FFF2-40B4-BE49-F238E27FC236}">
                    <a16:creationId xmlns:a16="http://schemas.microsoft.com/office/drawing/2014/main" id="{8C85AF95-3A94-5C2F-BCA5-045B1948A1CB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214437" y="4181475"/>
                <a:ext cx="219075" cy="152400"/>
              </a:xfrm>
              <a:prstGeom prst="bentConnector3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E7F0483-43B8-2627-9792-ABD25E1DF4CF}"/>
              </a:ext>
            </a:extLst>
          </p:cNvPr>
          <p:cNvGrpSpPr/>
          <p:nvPr/>
        </p:nvGrpSpPr>
        <p:grpSpPr>
          <a:xfrm>
            <a:off x="5058080" y="6233612"/>
            <a:ext cx="545308" cy="152400"/>
            <a:chOff x="997742" y="4181475"/>
            <a:chExt cx="545308" cy="152400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214AC9FC-8C55-9568-73F2-A99E2939D46E}"/>
                </a:ext>
              </a:extLst>
            </p:cNvPr>
            <p:cNvGrpSpPr/>
            <p:nvPr/>
          </p:nvGrpSpPr>
          <p:grpSpPr>
            <a:xfrm>
              <a:off x="1214437" y="4181475"/>
              <a:ext cx="328613" cy="152400"/>
              <a:chOff x="1214437" y="4181475"/>
              <a:chExt cx="328613" cy="152400"/>
            </a:xfrm>
          </p:grpSpPr>
          <p:cxnSp>
            <p:nvCxnSpPr>
              <p:cNvPr id="67" name="Connector: Elbow 66">
                <a:extLst>
                  <a:ext uri="{FF2B5EF4-FFF2-40B4-BE49-F238E27FC236}">
                    <a16:creationId xmlns:a16="http://schemas.microsoft.com/office/drawing/2014/main" id="{4280CBE0-1732-6CDE-83EB-A789EFDD4FF5}"/>
                  </a:ext>
                </a:extLst>
              </p:cNvPr>
              <p:cNvCxnSpPr/>
              <p:nvPr/>
            </p:nvCxnSpPr>
            <p:spPr>
              <a:xfrm>
                <a:off x="1323975" y="4181475"/>
                <a:ext cx="219075" cy="152400"/>
              </a:xfrm>
              <a:prstGeom prst="bentConnector3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Connector: Elbow 67">
                <a:extLst>
                  <a:ext uri="{FF2B5EF4-FFF2-40B4-BE49-F238E27FC236}">
                    <a16:creationId xmlns:a16="http://schemas.microsoft.com/office/drawing/2014/main" id="{62B65730-6E2A-349B-BA1F-79BBC589B735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214437" y="4181475"/>
                <a:ext cx="219075" cy="152400"/>
              </a:xfrm>
              <a:prstGeom prst="bentConnector3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021FF2D5-C212-33CB-0847-D475E331FAB1}"/>
                </a:ext>
              </a:extLst>
            </p:cNvPr>
            <p:cNvGrpSpPr/>
            <p:nvPr/>
          </p:nvGrpSpPr>
          <p:grpSpPr>
            <a:xfrm>
              <a:off x="997742" y="4181475"/>
              <a:ext cx="328613" cy="152400"/>
              <a:chOff x="1214437" y="4181475"/>
              <a:chExt cx="328613" cy="152400"/>
            </a:xfrm>
          </p:grpSpPr>
          <p:cxnSp>
            <p:nvCxnSpPr>
              <p:cNvPr id="65" name="Connector: Elbow 64">
                <a:extLst>
                  <a:ext uri="{FF2B5EF4-FFF2-40B4-BE49-F238E27FC236}">
                    <a16:creationId xmlns:a16="http://schemas.microsoft.com/office/drawing/2014/main" id="{4C130621-8569-DBE6-CBC7-34E2DA9E9F6E}"/>
                  </a:ext>
                </a:extLst>
              </p:cNvPr>
              <p:cNvCxnSpPr/>
              <p:nvPr/>
            </p:nvCxnSpPr>
            <p:spPr>
              <a:xfrm>
                <a:off x="1323975" y="4181475"/>
                <a:ext cx="219075" cy="152400"/>
              </a:xfrm>
              <a:prstGeom prst="bentConnector3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Connector: Elbow 65">
                <a:extLst>
                  <a:ext uri="{FF2B5EF4-FFF2-40B4-BE49-F238E27FC236}">
                    <a16:creationId xmlns:a16="http://schemas.microsoft.com/office/drawing/2014/main" id="{2C1DC4DE-C0E5-5A52-97C8-80C6A91288AE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214437" y="4181475"/>
                <a:ext cx="219075" cy="152400"/>
              </a:xfrm>
              <a:prstGeom prst="bentConnector3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91474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4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4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4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4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4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8" grpId="0" animBg="1"/>
      <p:bldP spid="49" grpId="0" animBg="1"/>
      <p:bldP spid="56" grpId="0"/>
      <p:bldP spid="5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82DBF-A70F-4B54-939A-439D060BC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State Machine Based Synchronous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C7E48-8DA4-4E6E-A13E-587B4D748C61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 lnSpcReduction="10000"/>
          </a:bodyPr>
          <a:lstStyle/>
          <a:p>
            <a:r>
              <a:rPr lang="en-US" dirty="0"/>
              <a:t>Understand the Problem – desired sequence based on inputs and present state</a:t>
            </a:r>
          </a:p>
          <a:p>
            <a:r>
              <a:rPr lang="en-US" dirty="0"/>
              <a:t>Develop abstract representation of FSM – A state diagram or a state table that shows all possible states and transitions</a:t>
            </a:r>
          </a:p>
          <a:p>
            <a:r>
              <a:rPr lang="en-US" dirty="0"/>
              <a:t>Perform state minimization – to achieve efficient implementation</a:t>
            </a:r>
          </a:p>
          <a:p>
            <a:r>
              <a:rPr lang="en-US" dirty="0"/>
              <a:t>Perform state assignment</a:t>
            </a:r>
          </a:p>
          <a:p>
            <a:r>
              <a:rPr lang="en-US" dirty="0"/>
              <a:t>Choose appropriate flipflop for storage elements (</a:t>
            </a:r>
            <a:r>
              <a:rPr lang="en-US" dirty="0" err="1"/>
              <a:t>eg.</a:t>
            </a:r>
            <a:r>
              <a:rPr lang="en-US" dirty="0"/>
              <a:t> D flipflops)</a:t>
            </a:r>
          </a:p>
          <a:p>
            <a:r>
              <a:rPr lang="en-US" dirty="0"/>
              <a:t>Use K-maps to determine characteristic equations for Next State</a:t>
            </a:r>
          </a:p>
          <a:p>
            <a:r>
              <a:rPr lang="en-US" dirty="0"/>
              <a:t>After K-maps based minimization; draw complete logic circuit using combinational and sequential elements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293C73-2EEA-4E6D-BE8F-0FAB7B508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Digital System Design Lecture 8 Fall 2026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35A307-D7D3-B229-0932-D164A30D9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993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3C38C-5AC0-4E18-9457-93391648F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Example of a State Machine Based Design – </a:t>
            </a:r>
            <a:br>
              <a:rPr lang="en-US" b="1" dirty="0">
                <a:solidFill>
                  <a:srgbClr val="0070C0"/>
                </a:solidFill>
              </a:rPr>
            </a:br>
            <a:r>
              <a:rPr lang="en-US" b="1" dirty="0">
                <a:solidFill>
                  <a:srgbClr val="0070C0"/>
                </a:solidFill>
              </a:rPr>
              <a:t>Coke (Next Cola     ) Vending Machine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6387D-DEB1-4048-BF43-F9B1A3480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6451"/>
            <a:ext cx="8429625" cy="2263569"/>
          </a:xfr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1001">
            <a:schemeClr val="dk2"/>
          </a:fillRef>
          <a:effectRef idx="0">
            <a:scrgbClr r="0" g="0" b="0"/>
          </a:effectRef>
          <a:fontRef idx="major"/>
        </p:style>
        <p:txBody>
          <a:bodyPr/>
          <a:lstStyle/>
          <a:p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Machine dispenses a can of coke for Rs. 15/-</a:t>
            </a:r>
          </a:p>
          <a:p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You can provide coins of either Rs. 5/- or Rs. 10/-</a:t>
            </a:r>
          </a:p>
          <a:p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The Machine does not provide any change back</a:t>
            </a:r>
          </a:p>
          <a:p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The Machine is ‘Reset’ after the can has been dispensed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E81E9D-DE20-473E-B020-BDAEE9DD2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Digital System Design Lecture 8 Fall 2026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63890C-B8BC-CED7-8168-A9CE43503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 descr="Thumbs Up Handy">
            <a:extLst>
              <a:ext uri="{FF2B5EF4-FFF2-40B4-BE49-F238E27FC236}">
                <a16:creationId xmlns:a16="http://schemas.microsoft.com/office/drawing/2014/main" id="{9CF2BFAC-1997-7095-EA2D-7CCBC6B5D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1975" y="849313"/>
            <a:ext cx="742950" cy="7429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4ABE18-F5D8-647A-B634-0655E8F06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84672">
            <a:off x="9673412" y="1563817"/>
            <a:ext cx="2098534" cy="3132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894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C38D7-9BA1-48B6-8239-366979C97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801"/>
            <a:ext cx="10515600" cy="872062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Block Diagram of Vending Machine Example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D2AFF2-5AF5-4F7A-ADDF-15BF99BE20C5}"/>
              </a:ext>
            </a:extLst>
          </p:cNvPr>
          <p:cNvSpPr/>
          <p:nvPr/>
        </p:nvSpPr>
        <p:spPr>
          <a:xfrm>
            <a:off x="2841850" y="2563561"/>
            <a:ext cx="1076632" cy="1325563"/>
          </a:xfrm>
          <a:prstGeom prst="rect">
            <a:avLst/>
          </a:prstGeom>
          <a:solidFill>
            <a:schemeClr val="accent2"/>
          </a:solidFill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Coin</a:t>
            </a:r>
          </a:p>
          <a:p>
            <a:pPr algn="ctr"/>
            <a:r>
              <a:rPr lang="en-US" dirty="0"/>
              <a:t>Sensor</a:t>
            </a:r>
          </a:p>
          <a:p>
            <a:pPr algn="ctr"/>
            <a:r>
              <a:rPr lang="en-US" dirty="0"/>
              <a:t>Input Logic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578BA19-C143-40A4-9FF9-34C385FD3E80}"/>
              </a:ext>
            </a:extLst>
          </p:cNvPr>
          <p:cNvCxnSpPr/>
          <p:nvPr/>
        </p:nvCxnSpPr>
        <p:spPr>
          <a:xfrm>
            <a:off x="3918482" y="3179309"/>
            <a:ext cx="1445342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31BCC12-0929-4D86-9478-16628A5DE884}"/>
              </a:ext>
            </a:extLst>
          </p:cNvPr>
          <p:cNvSpPr/>
          <p:nvPr/>
        </p:nvSpPr>
        <p:spPr>
          <a:xfrm>
            <a:off x="5403156" y="2563561"/>
            <a:ext cx="1445342" cy="1325558"/>
          </a:xfrm>
          <a:prstGeom prst="rect">
            <a:avLst/>
          </a:prstGeom>
          <a:solidFill>
            <a:schemeClr val="accent6">
              <a:lumMod val="75000"/>
            </a:schemeClr>
          </a:solidFill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Vending</a:t>
            </a:r>
          </a:p>
          <a:p>
            <a:pPr algn="ctr"/>
            <a:r>
              <a:rPr lang="en-US" dirty="0"/>
              <a:t>Machine</a:t>
            </a:r>
          </a:p>
          <a:p>
            <a:pPr algn="ctr"/>
            <a:r>
              <a:rPr lang="en-US" dirty="0"/>
              <a:t>State Machine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9CDCDD2-D3ED-482A-8EAA-BDB50115ED4D}"/>
              </a:ext>
            </a:extLst>
          </p:cNvPr>
          <p:cNvCxnSpPr/>
          <p:nvPr/>
        </p:nvCxnSpPr>
        <p:spPr>
          <a:xfrm>
            <a:off x="6848498" y="3182993"/>
            <a:ext cx="870155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9BE5D841-8240-4D61-B598-12A72DF807FD}"/>
              </a:ext>
            </a:extLst>
          </p:cNvPr>
          <p:cNvSpPr/>
          <p:nvPr/>
        </p:nvSpPr>
        <p:spPr>
          <a:xfrm>
            <a:off x="7718653" y="2681555"/>
            <a:ext cx="1135625" cy="995509"/>
          </a:xfrm>
          <a:prstGeom prst="rect">
            <a:avLst/>
          </a:prstGeom>
          <a:solidFill>
            <a:srgbClr val="7030A0"/>
          </a:solidFill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  <a:p>
            <a:pPr algn="ctr"/>
            <a:r>
              <a:rPr lang="en-US" dirty="0"/>
              <a:t>Logic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E6540A4-F230-4774-AE75-B8614367FDD9}"/>
              </a:ext>
            </a:extLst>
          </p:cNvPr>
          <p:cNvCxnSpPr>
            <a:stCxn id="11" idx="3"/>
          </p:cNvCxnSpPr>
          <p:nvPr/>
        </p:nvCxnSpPr>
        <p:spPr>
          <a:xfrm>
            <a:off x="8854278" y="3179310"/>
            <a:ext cx="1268362" cy="368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9D1C1D4-7515-483D-BCCF-F2FBA3169143}"/>
              </a:ext>
            </a:extLst>
          </p:cNvPr>
          <p:cNvCxnSpPr>
            <a:cxnSpLocks/>
          </p:cNvCxnSpPr>
          <p:nvPr/>
        </p:nvCxnSpPr>
        <p:spPr>
          <a:xfrm>
            <a:off x="2131469" y="3116632"/>
            <a:ext cx="710381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26EFD04-9BC6-43BC-B393-5F77F433725E}"/>
              </a:ext>
            </a:extLst>
          </p:cNvPr>
          <p:cNvCxnSpPr/>
          <p:nvPr/>
        </p:nvCxnSpPr>
        <p:spPr>
          <a:xfrm>
            <a:off x="7244243" y="3179309"/>
            <a:ext cx="0" cy="116880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FD60DEB-746A-4F1D-B042-D290475144A9}"/>
              </a:ext>
            </a:extLst>
          </p:cNvPr>
          <p:cNvCxnSpPr>
            <a:cxnSpLocks/>
          </p:cNvCxnSpPr>
          <p:nvPr/>
        </p:nvCxnSpPr>
        <p:spPr>
          <a:xfrm flipH="1">
            <a:off x="3380165" y="4329987"/>
            <a:ext cx="3864079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3333E34-5903-422E-B474-D831CCAF428C}"/>
              </a:ext>
            </a:extLst>
          </p:cNvPr>
          <p:cNvCxnSpPr>
            <a:cxnSpLocks/>
            <a:endCxn id="3" idx="2"/>
          </p:cNvCxnSpPr>
          <p:nvPr/>
        </p:nvCxnSpPr>
        <p:spPr>
          <a:xfrm flipV="1">
            <a:off x="3380166" y="3889124"/>
            <a:ext cx="0" cy="488488"/>
          </a:xfrm>
          <a:prstGeom prst="line">
            <a:avLst/>
          </a:prstGeom>
          <a:ln w="762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11BA711-CFD4-434A-BB27-2764DA806B8D}"/>
              </a:ext>
            </a:extLst>
          </p:cNvPr>
          <p:cNvSpPr txBox="1"/>
          <p:nvPr/>
        </p:nvSpPr>
        <p:spPr>
          <a:xfrm>
            <a:off x="2678178" y="4109847"/>
            <a:ext cx="701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Reset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F619E8-BD6C-47C2-87C8-653318443E50}"/>
              </a:ext>
            </a:extLst>
          </p:cNvPr>
          <p:cNvSpPr txBox="1"/>
          <p:nvPr/>
        </p:nvSpPr>
        <p:spPr>
          <a:xfrm>
            <a:off x="1781779" y="2470301"/>
            <a:ext cx="896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Coins</a:t>
            </a:r>
          </a:p>
          <a:p>
            <a:r>
              <a:rPr lang="en-US" dirty="0"/>
              <a:t>R5, R10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2E77190-4BCF-4494-81DF-302E986B3E8B}"/>
              </a:ext>
            </a:extLst>
          </p:cNvPr>
          <p:cNvSpPr txBox="1"/>
          <p:nvPr/>
        </p:nvSpPr>
        <p:spPr>
          <a:xfrm>
            <a:off x="3950446" y="2240395"/>
            <a:ext cx="15333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State Machine</a:t>
            </a:r>
          </a:p>
          <a:p>
            <a:r>
              <a:rPr lang="en-US" dirty="0"/>
              <a:t>Input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6E5821-A1BE-45C2-B130-7FADD205EDDD}"/>
              </a:ext>
            </a:extLst>
          </p:cNvPr>
          <p:cNvSpPr txBox="1"/>
          <p:nvPr/>
        </p:nvSpPr>
        <p:spPr>
          <a:xfrm>
            <a:off x="6848498" y="2195065"/>
            <a:ext cx="1153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Next State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A2AF27F-146A-4536-9467-D970BD85804A}"/>
              </a:ext>
            </a:extLst>
          </p:cNvPr>
          <p:cNvSpPr txBox="1"/>
          <p:nvPr/>
        </p:nvSpPr>
        <p:spPr>
          <a:xfrm>
            <a:off x="9198404" y="2563561"/>
            <a:ext cx="103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Dispense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F5AA7A-31F0-4821-AD7D-B4E2C23F70A1}"/>
              </a:ext>
            </a:extLst>
          </p:cNvPr>
          <p:cNvSpPr txBox="1"/>
          <p:nvPr/>
        </p:nvSpPr>
        <p:spPr>
          <a:xfrm>
            <a:off x="3455664" y="5710589"/>
            <a:ext cx="4781309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Question: Which type is this? </a:t>
            </a:r>
            <a:r>
              <a:rPr lang="en-US" b="1" dirty="0">
                <a:highlight>
                  <a:srgbClr val="FFFF00"/>
                </a:highlight>
              </a:rPr>
              <a:t>Moore or Mealy</a:t>
            </a:r>
            <a:r>
              <a:rPr lang="en-US" b="1" dirty="0">
                <a:highlight>
                  <a:srgbClr val="FF0000"/>
                </a:highlight>
              </a:rPr>
              <a:t>??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FAFBE1-2C5D-4F76-A4CD-E7202F8A6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Digital System Design Lecture 8 Fall 2026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ED4B75-A015-D3B2-EC1B-12D127C0E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12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B50277-9219-7EE4-5E0B-D6C220722F14}"/>
              </a:ext>
            </a:extLst>
          </p:cNvPr>
          <p:cNvSpPr txBox="1"/>
          <p:nvPr/>
        </p:nvSpPr>
        <p:spPr>
          <a:xfrm>
            <a:off x="3486150" y="5162550"/>
            <a:ext cx="4400948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Is Input Directly Connected to Output Logic?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CD8EF96-D83E-811F-B7D0-44AEB5530EB9}"/>
              </a:ext>
            </a:extLst>
          </p:cNvPr>
          <p:cNvGrpSpPr/>
          <p:nvPr/>
        </p:nvGrpSpPr>
        <p:grpSpPr>
          <a:xfrm>
            <a:off x="5655811" y="1561245"/>
            <a:ext cx="970221" cy="357825"/>
            <a:chOff x="6392009" y="5561330"/>
            <a:chExt cx="1051738" cy="350520"/>
          </a:xfrm>
        </p:grpSpPr>
        <p:sp>
          <p:nvSpPr>
            <p:cNvPr id="18" name="Left Bracket 17">
              <a:extLst>
                <a:ext uri="{FF2B5EF4-FFF2-40B4-BE49-F238E27FC236}">
                  <a16:creationId xmlns:a16="http://schemas.microsoft.com/office/drawing/2014/main" id="{FFDCB622-9FC0-64EB-B0B3-5E4CC61FE512}"/>
                </a:ext>
              </a:extLst>
            </p:cNvPr>
            <p:cNvSpPr/>
            <p:nvPr/>
          </p:nvSpPr>
          <p:spPr>
            <a:xfrm rot="5400000">
              <a:off x="6538317" y="5617052"/>
              <a:ext cx="350520" cy="239076"/>
            </a:xfrm>
            <a:prstGeom prst="leftBracket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20" name="Left Bracket 19">
              <a:extLst>
                <a:ext uri="{FF2B5EF4-FFF2-40B4-BE49-F238E27FC236}">
                  <a16:creationId xmlns:a16="http://schemas.microsoft.com/office/drawing/2014/main" id="{FE47F32F-7C1B-711C-E498-C5DB9BD745E1}"/>
                </a:ext>
              </a:extLst>
            </p:cNvPr>
            <p:cNvSpPr/>
            <p:nvPr/>
          </p:nvSpPr>
          <p:spPr>
            <a:xfrm rot="5400000">
              <a:off x="6942036" y="5617052"/>
              <a:ext cx="350520" cy="239076"/>
            </a:xfrm>
            <a:prstGeom prst="leftBracket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C6807F7-8A6E-5375-8A7A-FD9B4556F7BE}"/>
                </a:ext>
              </a:extLst>
            </p:cNvPr>
            <p:cNvCxnSpPr>
              <a:stCxn id="18" idx="0"/>
              <a:endCxn id="20" idx="2"/>
            </p:cNvCxnSpPr>
            <p:nvPr/>
          </p:nvCxnSpPr>
          <p:spPr>
            <a:xfrm>
              <a:off x="6833115" y="5911850"/>
              <a:ext cx="164643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E284FE7-4231-D652-3550-8B33DC9EAA13}"/>
                </a:ext>
              </a:extLst>
            </p:cNvPr>
            <p:cNvCxnSpPr>
              <a:cxnSpLocks/>
              <a:stCxn id="18" idx="2"/>
            </p:cNvCxnSpPr>
            <p:nvPr/>
          </p:nvCxnSpPr>
          <p:spPr>
            <a:xfrm flipH="1">
              <a:off x="6392009" y="5911850"/>
              <a:ext cx="20203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2E7F903-0882-25D7-93E5-A4D86FB18D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41717" y="5910580"/>
              <a:ext cx="20203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BF2F9CA-EB91-72C2-3843-BE11E62F55FB}"/>
              </a:ext>
            </a:extLst>
          </p:cNvPr>
          <p:cNvGrpSpPr/>
          <p:nvPr/>
        </p:nvGrpSpPr>
        <p:grpSpPr>
          <a:xfrm>
            <a:off x="5953989" y="2118580"/>
            <a:ext cx="369359" cy="596704"/>
            <a:chOff x="10286347" y="1386159"/>
            <a:chExt cx="254000" cy="757553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8E507F8-A025-E837-0397-804AF738F3FC}"/>
                </a:ext>
              </a:extLst>
            </p:cNvPr>
            <p:cNvCxnSpPr>
              <a:cxnSpLocks/>
            </p:cNvCxnSpPr>
            <p:nvPr/>
          </p:nvCxnSpPr>
          <p:spPr>
            <a:xfrm>
              <a:off x="10413347" y="1386159"/>
              <a:ext cx="0" cy="60813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  <a:effectLst>
              <a:glow rad="139700"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74572567-6DBC-3B2C-7B9D-E37DDAE6E1BB}"/>
                </a:ext>
              </a:extLst>
            </p:cNvPr>
            <p:cNvSpPr/>
            <p:nvPr/>
          </p:nvSpPr>
          <p:spPr>
            <a:xfrm rot="10800000">
              <a:off x="10286347" y="1913806"/>
              <a:ext cx="254000" cy="229906"/>
            </a:xfrm>
            <a:prstGeom prst="triangle">
              <a:avLst/>
            </a:prstGeom>
            <a:solidFill>
              <a:srgbClr val="FEF8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</p:spTree>
    <p:extLst>
      <p:ext uri="{BB962C8B-B14F-4D97-AF65-F5344CB8AC3E}">
        <p14:creationId xmlns:p14="http://schemas.microsoft.com/office/powerpoint/2010/main" val="1939842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1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11" grpId="0" animBg="1"/>
      <p:bldP spid="26" grpId="0"/>
      <p:bldP spid="27" grpId="0"/>
      <p:bldP spid="28" grpId="0"/>
      <p:bldP spid="29" grpId="0"/>
      <p:bldP spid="3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F8ACC-D9CA-4E0F-A16D-6926ECB79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Elaborate State Machine in text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53996-28D5-4E5F-B93B-F0D146E16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0374"/>
            <a:ext cx="10515600" cy="4081463"/>
          </a:xfr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Enumerate all possible inputs and outputs</a:t>
            </a:r>
          </a:p>
          <a:p>
            <a:r>
              <a:rPr lang="en-US" dirty="0"/>
              <a:t>Objective: Insert sufficient coins to release a can of Coke</a:t>
            </a:r>
          </a:p>
          <a:p>
            <a:r>
              <a:rPr lang="en-US" dirty="0"/>
              <a:t>Either Insert R5 + R5 + R5 in sequence</a:t>
            </a:r>
          </a:p>
          <a:p>
            <a:r>
              <a:rPr lang="en-US" dirty="0"/>
              <a:t>OR Insert R5 + R10 in sequence</a:t>
            </a:r>
          </a:p>
          <a:p>
            <a:r>
              <a:rPr lang="en-US" dirty="0"/>
              <a:t>OR Insert R10 + R5 in sequence</a:t>
            </a:r>
          </a:p>
          <a:p>
            <a:r>
              <a:rPr lang="en-US" dirty="0"/>
              <a:t>OR Insert R10 + R10 in sequence</a:t>
            </a:r>
          </a:p>
          <a:p>
            <a:r>
              <a:rPr lang="en-US" dirty="0"/>
              <a:t>OR Insert R5 + R5 + R10 in sequence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C307EF-41AE-40DE-96BF-DD11B2C64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Digital System Design Lecture 8 Fall 2026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918C56-D8C4-BC79-8238-1D96EE120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374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BC7CD-E925-4BC4-A9AF-DB36CA100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Make a State Diagram Representation of State Machine (Moore Machine)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E9F5575-35EC-4827-9D59-AE026A75001B}"/>
              </a:ext>
            </a:extLst>
          </p:cNvPr>
          <p:cNvSpPr/>
          <p:nvPr/>
        </p:nvSpPr>
        <p:spPr>
          <a:xfrm>
            <a:off x="5665838" y="1669564"/>
            <a:ext cx="860323" cy="81653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C401278-C6C9-4499-B3D3-B26D851D6BBC}"/>
              </a:ext>
            </a:extLst>
          </p:cNvPr>
          <p:cNvSpPr/>
          <p:nvPr/>
        </p:nvSpPr>
        <p:spPr>
          <a:xfrm>
            <a:off x="4183625" y="2486102"/>
            <a:ext cx="860323" cy="81653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9F04F56-1492-4B1A-863F-A5BBA7D8FC43}"/>
              </a:ext>
            </a:extLst>
          </p:cNvPr>
          <p:cNvSpPr/>
          <p:nvPr/>
        </p:nvSpPr>
        <p:spPr>
          <a:xfrm>
            <a:off x="7148051" y="2486102"/>
            <a:ext cx="860323" cy="81653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A6A7168-768C-44EC-87D6-A26C8EFCE97A}"/>
              </a:ext>
            </a:extLst>
          </p:cNvPr>
          <p:cNvSpPr/>
          <p:nvPr/>
        </p:nvSpPr>
        <p:spPr>
          <a:xfrm>
            <a:off x="6234879" y="3790541"/>
            <a:ext cx="860323" cy="816538"/>
          </a:xfrm>
          <a:prstGeom prst="ellipse">
            <a:avLst/>
          </a:prstGeom>
          <a:solidFill>
            <a:schemeClr val="accent6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6A08EA3-5E74-4AD3-B27F-D1C8F484F2A3}"/>
              </a:ext>
            </a:extLst>
          </p:cNvPr>
          <p:cNvSpPr/>
          <p:nvPr/>
        </p:nvSpPr>
        <p:spPr>
          <a:xfrm>
            <a:off x="8234515" y="3790541"/>
            <a:ext cx="860323" cy="816538"/>
          </a:xfrm>
          <a:prstGeom prst="ellipse">
            <a:avLst/>
          </a:prstGeom>
          <a:solidFill>
            <a:schemeClr val="accent6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S6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C54B50C-7947-4E85-86BB-064071D767E1}"/>
              </a:ext>
            </a:extLst>
          </p:cNvPr>
          <p:cNvSpPr/>
          <p:nvPr/>
        </p:nvSpPr>
        <p:spPr>
          <a:xfrm>
            <a:off x="3113139" y="3765960"/>
            <a:ext cx="860323" cy="81653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9B62DB4-9DAB-4868-95A1-DA6B06B796E9}"/>
              </a:ext>
            </a:extLst>
          </p:cNvPr>
          <p:cNvSpPr/>
          <p:nvPr/>
        </p:nvSpPr>
        <p:spPr>
          <a:xfrm>
            <a:off x="5112775" y="3765960"/>
            <a:ext cx="860323" cy="816538"/>
          </a:xfrm>
          <a:prstGeom prst="ellipse">
            <a:avLst/>
          </a:prstGeom>
          <a:solidFill>
            <a:schemeClr val="accent6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A19FC7E-1899-417D-88D7-DBD888B47B7D}"/>
              </a:ext>
            </a:extLst>
          </p:cNvPr>
          <p:cNvSpPr/>
          <p:nvPr/>
        </p:nvSpPr>
        <p:spPr>
          <a:xfrm>
            <a:off x="1973826" y="5083482"/>
            <a:ext cx="860323" cy="816538"/>
          </a:xfrm>
          <a:prstGeom prst="ellipse">
            <a:avLst/>
          </a:prstGeom>
          <a:solidFill>
            <a:schemeClr val="accent6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S7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441189B-4067-488E-B880-C0C0C390A82D}"/>
              </a:ext>
            </a:extLst>
          </p:cNvPr>
          <p:cNvSpPr/>
          <p:nvPr/>
        </p:nvSpPr>
        <p:spPr>
          <a:xfrm>
            <a:off x="3973462" y="5083482"/>
            <a:ext cx="860323" cy="816538"/>
          </a:xfrm>
          <a:prstGeom prst="ellipse">
            <a:avLst/>
          </a:prstGeom>
          <a:solidFill>
            <a:schemeClr val="accent6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S8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7F7EE3E-0A99-47FF-9ADA-D95E76744597}"/>
              </a:ext>
            </a:extLst>
          </p:cNvPr>
          <p:cNvCxnSpPr>
            <a:stCxn id="4" idx="3"/>
            <a:endCxn id="5" idx="6"/>
          </p:cNvCxnSpPr>
          <p:nvPr/>
        </p:nvCxnSpPr>
        <p:spPr>
          <a:xfrm flipH="1">
            <a:off x="5043948" y="2366523"/>
            <a:ext cx="747881" cy="527848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BFAC7B7-7365-41B9-B26A-47DCE042EC9E}"/>
              </a:ext>
            </a:extLst>
          </p:cNvPr>
          <p:cNvCxnSpPr>
            <a:stCxn id="4" idx="5"/>
            <a:endCxn id="6" idx="2"/>
          </p:cNvCxnSpPr>
          <p:nvPr/>
        </p:nvCxnSpPr>
        <p:spPr>
          <a:xfrm>
            <a:off x="6400170" y="2366523"/>
            <a:ext cx="747881" cy="52784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0671BCA-FA34-4655-ABE2-900F7B81219F}"/>
              </a:ext>
            </a:extLst>
          </p:cNvPr>
          <p:cNvCxnSpPr>
            <a:cxnSpLocks/>
            <a:stCxn id="5" idx="3"/>
            <a:endCxn id="9" idx="7"/>
          </p:cNvCxnSpPr>
          <p:nvPr/>
        </p:nvCxnSpPr>
        <p:spPr>
          <a:xfrm flipH="1">
            <a:off x="3847471" y="3183061"/>
            <a:ext cx="462145" cy="702478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93259EE-43FB-4A76-A2DD-D90B8E1E6922}"/>
              </a:ext>
            </a:extLst>
          </p:cNvPr>
          <p:cNvCxnSpPr>
            <a:stCxn id="5" idx="5"/>
            <a:endCxn id="10" idx="1"/>
          </p:cNvCxnSpPr>
          <p:nvPr/>
        </p:nvCxnSpPr>
        <p:spPr>
          <a:xfrm>
            <a:off x="4917957" y="3183061"/>
            <a:ext cx="320809" cy="70247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AD06C6B-89C3-4F83-9D79-A3179078BE7F}"/>
              </a:ext>
            </a:extLst>
          </p:cNvPr>
          <p:cNvCxnSpPr>
            <a:stCxn id="9" idx="3"/>
            <a:endCxn id="11" idx="7"/>
          </p:cNvCxnSpPr>
          <p:nvPr/>
        </p:nvCxnSpPr>
        <p:spPr>
          <a:xfrm flipH="1">
            <a:off x="2708158" y="4462919"/>
            <a:ext cx="530972" cy="740142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1F13587-E03F-4643-9325-30435B0AA5F9}"/>
              </a:ext>
            </a:extLst>
          </p:cNvPr>
          <p:cNvCxnSpPr>
            <a:stCxn id="9" idx="5"/>
            <a:endCxn id="12" idx="1"/>
          </p:cNvCxnSpPr>
          <p:nvPr/>
        </p:nvCxnSpPr>
        <p:spPr>
          <a:xfrm>
            <a:off x="3847471" y="4462919"/>
            <a:ext cx="251982" cy="74014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CEFF037-005E-481A-A0AB-0AE1929F2A91}"/>
              </a:ext>
            </a:extLst>
          </p:cNvPr>
          <p:cNvCxnSpPr>
            <a:stCxn id="6" idx="3"/>
            <a:endCxn id="7" idx="7"/>
          </p:cNvCxnSpPr>
          <p:nvPr/>
        </p:nvCxnSpPr>
        <p:spPr>
          <a:xfrm flipH="1">
            <a:off x="6969211" y="3183061"/>
            <a:ext cx="304831" cy="727059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3273F4A-675B-4356-8A3A-3B62D3D4E9E0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7882383" y="3183061"/>
            <a:ext cx="478123" cy="72705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AA03446-8E0A-409A-9BC7-ED94F54C6B76}"/>
              </a:ext>
            </a:extLst>
          </p:cNvPr>
          <p:cNvSpPr txBox="1"/>
          <p:nvPr/>
        </p:nvSpPr>
        <p:spPr>
          <a:xfrm>
            <a:off x="1989444" y="6067318"/>
            <a:ext cx="728084" cy="369332"/>
          </a:xfrm>
          <a:prstGeom prst="rect">
            <a:avLst/>
          </a:prstGeom>
          <a:noFill/>
          <a:ln w="38100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OPEN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B153953-DD07-454E-B646-D18A72173388}"/>
              </a:ext>
            </a:extLst>
          </p:cNvPr>
          <p:cNvSpPr txBox="1"/>
          <p:nvPr/>
        </p:nvSpPr>
        <p:spPr>
          <a:xfrm>
            <a:off x="5315817" y="4776330"/>
            <a:ext cx="728084" cy="369332"/>
          </a:xfrm>
          <a:prstGeom prst="rect">
            <a:avLst/>
          </a:prstGeom>
          <a:noFill/>
          <a:ln w="38100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OPEN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210B93D-D492-474C-857F-CB213124F846}"/>
              </a:ext>
            </a:extLst>
          </p:cNvPr>
          <p:cNvSpPr txBox="1"/>
          <p:nvPr/>
        </p:nvSpPr>
        <p:spPr>
          <a:xfrm>
            <a:off x="6234879" y="4767164"/>
            <a:ext cx="728084" cy="369332"/>
          </a:xfrm>
          <a:prstGeom prst="rect">
            <a:avLst/>
          </a:prstGeom>
          <a:noFill/>
          <a:ln w="38100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OPEN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E47CE85-4DAE-4A3C-99D9-952060AE252A}"/>
              </a:ext>
            </a:extLst>
          </p:cNvPr>
          <p:cNvSpPr txBox="1"/>
          <p:nvPr/>
        </p:nvSpPr>
        <p:spPr>
          <a:xfrm>
            <a:off x="3970020" y="6074436"/>
            <a:ext cx="728084" cy="369332"/>
          </a:xfrm>
          <a:prstGeom prst="rect">
            <a:avLst/>
          </a:prstGeom>
          <a:noFill/>
          <a:ln w="38100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OPEN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0C6AAD2-A037-487E-B206-CAA74630483C}"/>
              </a:ext>
            </a:extLst>
          </p:cNvPr>
          <p:cNvSpPr txBox="1"/>
          <p:nvPr/>
        </p:nvSpPr>
        <p:spPr>
          <a:xfrm>
            <a:off x="8329464" y="4709651"/>
            <a:ext cx="728084" cy="369332"/>
          </a:xfrm>
          <a:prstGeom prst="rect">
            <a:avLst/>
          </a:prstGeom>
          <a:noFill/>
          <a:ln w="38100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OPEN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3C3C00-F693-45A1-BF60-18BC45D7F33D}"/>
              </a:ext>
            </a:extLst>
          </p:cNvPr>
          <p:cNvSpPr txBox="1"/>
          <p:nvPr/>
        </p:nvSpPr>
        <p:spPr>
          <a:xfrm>
            <a:off x="5043948" y="2366523"/>
            <a:ext cx="431528" cy="369332"/>
          </a:xfrm>
          <a:prstGeom prst="rect">
            <a:avLst/>
          </a:prstGeom>
          <a:noFill/>
          <a:ln w="38100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/>
              <a:t>R5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0E4F486-18A6-4917-A0D0-FD4B2CDA206B}"/>
              </a:ext>
            </a:extLst>
          </p:cNvPr>
          <p:cNvSpPr txBox="1"/>
          <p:nvPr/>
        </p:nvSpPr>
        <p:spPr>
          <a:xfrm>
            <a:off x="6665040" y="2256503"/>
            <a:ext cx="543739" cy="369332"/>
          </a:xfrm>
          <a:prstGeom prst="rect">
            <a:avLst/>
          </a:prstGeom>
          <a:noFill/>
          <a:ln w="38100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/>
              <a:t>R10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49A1498-9C4E-4F50-BD58-391EAC62F3AB}"/>
              </a:ext>
            </a:extLst>
          </p:cNvPr>
          <p:cNvSpPr txBox="1"/>
          <p:nvPr/>
        </p:nvSpPr>
        <p:spPr>
          <a:xfrm>
            <a:off x="3543300" y="3302640"/>
            <a:ext cx="431528" cy="369332"/>
          </a:xfrm>
          <a:prstGeom prst="rect">
            <a:avLst/>
          </a:prstGeom>
          <a:noFill/>
          <a:ln w="38100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/>
              <a:t>R5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406F16E-32A8-4FE4-ADE0-538F637F56DE}"/>
              </a:ext>
            </a:extLst>
          </p:cNvPr>
          <p:cNvSpPr txBox="1"/>
          <p:nvPr/>
        </p:nvSpPr>
        <p:spPr>
          <a:xfrm>
            <a:off x="5043948" y="3302640"/>
            <a:ext cx="543739" cy="369332"/>
          </a:xfrm>
          <a:prstGeom prst="rect">
            <a:avLst/>
          </a:prstGeom>
          <a:noFill/>
          <a:ln w="38100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/>
              <a:t>R10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6A88DDE-6F23-4627-9F5B-D2300B86A94D}"/>
              </a:ext>
            </a:extLst>
          </p:cNvPr>
          <p:cNvSpPr txBox="1"/>
          <p:nvPr/>
        </p:nvSpPr>
        <p:spPr>
          <a:xfrm>
            <a:off x="6526161" y="3183061"/>
            <a:ext cx="431528" cy="369332"/>
          </a:xfrm>
          <a:prstGeom prst="rect">
            <a:avLst/>
          </a:prstGeom>
          <a:noFill/>
          <a:ln w="38100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/>
              <a:t>R5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9C36B7E-D3F1-4240-8D1C-CFE9A11BA93D}"/>
              </a:ext>
            </a:extLst>
          </p:cNvPr>
          <p:cNvSpPr txBox="1"/>
          <p:nvPr/>
        </p:nvSpPr>
        <p:spPr>
          <a:xfrm>
            <a:off x="8057595" y="3302640"/>
            <a:ext cx="543739" cy="369332"/>
          </a:xfrm>
          <a:prstGeom prst="rect">
            <a:avLst/>
          </a:prstGeom>
          <a:noFill/>
          <a:ln w="38100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/>
              <a:t>R10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F6FBF36-16D8-4790-B8F7-D1766C79505E}"/>
              </a:ext>
            </a:extLst>
          </p:cNvPr>
          <p:cNvSpPr txBox="1"/>
          <p:nvPr/>
        </p:nvSpPr>
        <p:spPr>
          <a:xfrm>
            <a:off x="2403987" y="4582498"/>
            <a:ext cx="431528" cy="369332"/>
          </a:xfrm>
          <a:prstGeom prst="rect">
            <a:avLst/>
          </a:prstGeom>
          <a:noFill/>
          <a:ln w="38100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/>
              <a:t>R5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DAD4F8D-218B-48B9-9610-3A538B353344}"/>
              </a:ext>
            </a:extLst>
          </p:cNvPr>
          <p:cNvSpPr txBox="1"/>
          <p:nvPr/>
        </p:nvSpPr>
        <p:spPr>
          <a:xfrm>
            <a:off x="3970020" y="4724400"/>
            <a:ext cx="543739" cy="369332"/>
          </a:xfrm>
          <a:prstGeom prst="rect">
            <a:avLst/>
          </a:prstGeom>
          <a:noFill/>
          <a:ln w="38100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/>
              <a:t>R10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4A546B-8224-4F47-A7CB-A536CBC71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Digital System Design Lecture 8 Fall 2026</a:t>
            </a:r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3C7E149-5E67-D942-3ECD-7792E00B5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299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A2E7F-136F-4EE7-8735-1AC899A58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41168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Simplifying the State Machine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33AE72-1BAB-432F-A577-C5BDF23CBB86}"/>
              </a:ext>
            </a:extLst>
          </p:cNvPr>
          <p:cNvSpPr txBox="1"/>
          <p:nvPr/>
        </p:nvSpPr>
        <p:spPr>
          <a:xfrm>
            <a:off x="823041" y="1515840"/>
            <a:ext cx="6320833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b="1" dirty="0"/>
              <a:t>Identify Similar States (</a:t>
            </a:r>
            <a:r>
              <a:rPr lang="en-US" sz="2000" b="1" dirty="0">
                <a:highlight>
                  <a:srgbClr val="00FF00"/>
                </a:highlight>
              </a:rPr>
              <a:t>same present state and next state</a:t>
            </a:r>
            <a:r>
              <a:rPr lang="en-US" sz="2000" b="1" dirty="0"/>
              <a:t>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5164989-AB3A-4367-8811-C9A0C94C300D}"/>
              </a:ext>
            </a:extLst>
          </p:cNvPr>
          <p:cNvSpPr txBox="1"/>
          <p:nvPr/>
        </p:nvSpPr>
        <p:spPr>
          <a:xfrm>
            <a:off x="401679" y="2330833"/>
            <a:ext cx="3421258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State Minimization by Observation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605AE19-646A-45A7-8115-B57F7E06A7A6}"/>
              </a:ext>
            </a:extLst>
          </p:cNvPr>
          <p:cNvSpPr txBox="1"/>
          <p:nvPr/>
        </p:nvSpPr>
        <p:spPr>
          <a:xfrm>
            <a:off x="401679" y="2841403"/>
            <a:ext cx="6912598" cy="34778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Reset brings to State S0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State S1 represents R5 received so far, one possible path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State S2 represents R10 received so far, two possible paths;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State S3 represents R15 received so far, three possible paths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S4, S5, S6, S7 have identical </a:t>
            </a:r>
            <a:r>
              <a:rPr lang="en-US" sz="2000" b="1" dirty="0" err="1"/>
              <a:t>behaviour</a:t>
            </a:r>
            <a:r>
              <a:rPr lang="en-US" sz="2000" b="1" dirty="0"/>
              <a:t> so they can be</a:t>
            </a:r>
          </a:p>
          <a:p>
            <a:r>
              <a:rPr lang="en-US" sz="2000" b="1" dirty="0"/>
              <a:t>Combined into one state</a:t>
            </a:r>
          </a:p>
          <a:p>
            <a:endParaRPr lang="en-US" sz="2000" b="1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E17ED97-7FA7-407B-9F59-4BBC553EEAE6}"/>
              </a:ext>
            </a:extLst>
          </p:cNvPr>
          <p:cNvSpPr/>
          <p:nvPr/>
        </p:nvSpPr>
        <p:spPr>
          <a:xfrm>
            <a:off x="8675302" y="1283981"/>
            <a:ext cx="860323" cy="81653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S0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36415AB-4D4B-4F97-A333-ADD52B2A3AA7}"/>
              </a:ext>
            </a:extLst>
          </p:cNvPr>
          <p:cNvSpPr/>
          <p:nvPr/>
        </p:nvSpPr>
        <p:spPr>
          <a:xfrm>
            <a:off x="8663445" y="2654270"/>
            <a:ext cx="860323" cy="81653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S1;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R5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9B779B0-4232-4B4E-A025-A6D99FF3EF91}"/>
              </a:ext>
            </a:extLst>
          </p:cNvPr>
          <p:cNvSpPr/>
          <p:nvPr/>
        </p:nvSpPr>
        <p:spPr>
          <a:xfrm>
            <a:off x="8663444" y="4009759"/>
            <a:ext cx="860323" cy="81653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S2;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R10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C57E4F9-FE83-46D3-B8C6-1F64E0C12A90}"/>
              </a:ext>
            </a:extLst>
          </p:cNvPr>
          <p:cNvSpPr/>
          <p:nvPr/>
        </p:nvSpPr>
        <p:spPr>
          <a:xfrm>
            <a:off x="8675302" y="5365248"/>
            <a:ext cx="860323" cy="816538"/>
          </a:xfrm>
          <a:prstGeom prst="ellipse">
            <a:avLst/>
          </a:prstGeom>
          <a:solidFill>
            <a:schemeClr val="accent6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S3;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R15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85396E0-B009-437F-88B9-BB74A47BF745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9093607" y="2088886"/>
            <a:ext cx="11857" cy="565384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98959BE-D2AA-41FB-B92D-BE605E5E3FC2}"/>
              </a:ext>
            </a:extLst>
          </p:cNvPr>
          <p:cNvCxnSpPr>
            <a:cxnSpLocks/>
            <a:stCxn id="7" idx="4"/>
            <a:endCxn id="9" idx="0"/>
          </p:cNvCxnSpPr>
          <p:nvPr/>
        </p:nvCxnSpPr>
        <p:spPr>
          <a:xfrm>
            <a:off x="9093606" y="4826297"/>
            <a:ext cx="11858" cy="538951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8ADE6E1-E534-4B12-A429-46FDBA08E661}"/>
              </a:ext>
            </a:extLst>
          </p:cNvPr>
          <p:cNvSpPr txBox="1"/>
          <p:nvPr/>
        </p:nvSpPr>
        <p:spPr>
          <a:xfrm>
            <a:off x="8716988" y="6283278"/>
            <a:ext cx="787395" cy="400110"/>
          </a:xfrm>
          <a:prstGeom prst="rect">
            <a:avLst/>
          </a:prstGeom>
          <a:noFill/>
          <a:ln w="38100">
            <a:noFill/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OPEN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8A230A-3509-4395-B5FE-68430F389B0B}"/>
              </a:ext>
            </a:extLst>
          </p:cNvPr>
          <p:cNvSpPr txBox="1"/>
          <p:nvPr/>
        </p:nvSpPr>
        <p:spPr>
          <a:xfrm>
            <a:off x="10074988" y="2919856"/>
            <a:ext cx="588623" cy="400110"/>
          </a:xfrm>
          <a:prstGeom prst="rect">
            <a:avLst/>
          </a:prstGeom>
          <a:noFill/>
          <a:ln w="38100">
            <a:noFill/>
          </a:ln>
        </p:spPr>
        <p:txBody>
          <a:bodyPr wrap="none" rtlCol="0">
            <a:spAutoFit/>
          </a:bodyPr>
          <a:lstStyle/>
          <a:p>
            <a:r>
              <a:rPr lang="en-US" sz="2000" b="1" dirty="0"/>
              <a:t>R10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0BEB93-FA53-4F58-A2C7-6AF9D514D9A8}"/>
              </a:ext>
            </a:extLst>
          </p:cNvPr>
          <p:cNvSpPr txBox="1"/>
          <p:nvPr/>
        </p:nvSpPr>
        <p:spPr>
          <a:xfrm>
            <a:off x="8637019" y="2130778"/>
            <a:ext cx="458780" cy="400110"/>
          </a:xfrm>
          <a:prstGeom prst="rect">
            <a:avLst/>
          </a:prstGeom>
          <a:noFill/>
          <a:ln w="38100">
            <a:noFill/>
          </a:ln>
        </p:spPr>
        <p:txBody>
          <a:bodyPr wrap="none" rtlCol="0">
            <a:spAutoFit/>
          </a:bodyPr>
          <a:lstStyle/>
          <a:p>
            <a:r>
              <a:rPr lang="en-US" sz="2000" b="1" dirty="0"/>
              <a:t>R5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88A5B77-2D6E-4CEC-BB1B-1CDEBFC10CA0}"/>
              </a:ext>
            </a:extLst>
          </p:cNvPr>
          <p:cNvSpPr txBox="1"/>
          <p:nvPr/>
        </p:nvSpPr>
        <p:spPr>
          <a:xfrm>
            <a:off x="7598675" y="3816236"/>
            <a:ext cx="588623" cy="400110"/>
          </a:xfrm>
          <a:prstGeom prst="rect">
            <a:avLst/>
          </a:prstGeom>
          <a:noFill/>
          <a:ln w="38100">
            <a:noFill/>
          </a:ln>
        </p:spPr>
        <p:txBody>
          <a:bodyPr wrap="none" rtlCol="0">
            <a:spAutoFit/>
          </a:bodyPr>
          <a:lstStyle/>
          <a:p>
            <a:r>
              <a:rPr lang="en-US" sz="2000" b="1" dirty="0"/>
              <a:t>R10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E1AC521-89AA-4CB2-BEFC-EA043E6EC79A}"/>
              </a:ext>
            </a:extLst>
          </p:cNvPr>
          <p:cNvCxnSpPr>
            <a:cxnSpLocks/>
            <a:stCxn id="36" idx="1"/>
            <a:endCxn id="5" idx="7"/>
          </p:cNvCxnSpPr>
          <p:nvPr/>
        </p:nvCxnSpPr>
        <p:spPr>
          <a:xfrm flipH="1">
            <a:off x="9409634" y="975616"/>
            <a:ext cx="548260" cy="42794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06F5262-58DE-4725-BA8B-DF2CC4F1CB01}"/>
              </a:ext>
            </a:extLst>
          </p:cNvPr>
          <p:cNvSpPr txBox="1"/>
          <p:nvPr/>
        </p:nvSpPr>
        <p:spPr>
          <a:xfrm>
            <a:off x="9957894" y="775561"/>
            <a:ext cx="762325" cy="400110"/>
          </a:xfrm>
          <a:prstGeom prst="rect">
            <a:avLst/>
          </a:prstGeom>
          <a:noFill/>
          <a:ln w="3810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highlight>
                  <a:srgbClr val="FF00FF"/>
                </a:highlight>
              </a:rPr>
              <a:t>Reset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908D916-6DA1-40AD-BBF0-473BBE239200}"/>
              </a:ext>
            </a:extLst>
          </p:cNvPr>
          <p:cNvCxnSpPr>
            <a:cxnSpLocks/>
          </p:cNvCxnSpPr>
          <p:nvPr/>
        </p:nvCxnSpPr>
        <p:spPr>
          <a:xfrm flipH="1">
            <a:off x="9115227" y="3470808"/>
            <a:ext cx="2" cy="560576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FDB6F30A-9037-4695-97CF-B5E0D2F6739D}"/>
              </a:ext>
            </a:extLst>
          </p:cNvPr>
          <p:cNvSpPr txBox="1"/>
          <p:nvPr/>
        </p:nvSpPr>
        <p:spPr>
          <a:xfrm>
            <a:off x="8637019" y="3491905"/>
            <a:ext cx="458780" cy="400110"/>
          </a:xfrm>
          <a:prstGeom prst="rect">
            <a:avLst/>
          </a:prstGeom>
          <a:noFill/>
          <a:ln w="38100">
            <a:noFill/>
          </a:ln>
        </p:spPr>
        <p:txBody>
          <a:bodyPr wrap="none" rtlCol="0">
            <a:spAutoFit/>
          </a:bodyPr>
          <a:lstStyle/>
          <a:p>
            <a:r>
              <a:rPr lang="en-US" sz="2000" b="1" dirty="0"/>
              <a:t>R5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8B8D01D-AF03-4050-ACD1-3076FB8DE9B3}"/>
              </a:ext>
            </a:extLst>
          </p:cNvPr>
          <p:cNvSpPr txBox="1"/>
          <p:nvPr/>
        </p:nvSpPr>
        <p:spPr>
          <a:xfrm>
            <a:off x="8637019" y="4923456"/>
            <a:ext cx="458780" cy="400110"/>
          </a:xfrm>
          <a:prstGeom prst="rect">
            <a:avLst/>
          </a:prstGeom>
          <a:noFill/>
          <a:ln w="38100">
            <a:noFill/>
          </a:ln>
        </p:spPr>
        <p:txBody>
          <a:bodyPr wrap="none" rtlCol="0">
            <a:spAutoFit/>
          </a:bodyPr>
          <a:lstStyle/>
          <a:p>
            <a:r>
              <a:rPr lang="en-US" sz="2000" b="1" dirty="0"/>
              <a:t>R5</a:t>
            </a:r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9C9340DF-71FF-4F85-90D4-05CFEC229A0D}"/>
              </a:ext>
            </a:extLst>
          </p:cNvPr>
          <p:cNvSpPr/>
          <p:nvPr/>
        </p:nvSpPr>
        <p:spPr>
          <a:xfrm>
            <a:off x="9004101" y="1674719"/>
            <a:ext cx="953793" cy="2875840"/>
          </a:xfrm>
          <a:prstGeom prst="arc">
            <a:avLst>
              <a:gd name="adj1" fmla="val 16234072"/>
              <a:gd name="adj2" fmla="val 5350427"/>
            </a:avLst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9" name="Arc 58">
            <a:extLst>
              <a:ext uri="{FF2B5EF4-FFF2-40B4-BE49-F238E27FC236}">
                <a16:creationId xmlns:a16="http://schemas.microsoft.com/office/drawing/2014/main" id="{C9248660-B4CE-4601-903C-ECB2BCD144FE}"/>
              </a:ext>
            </a:extLst>
          </p:cNvPr>
          <p:cNvSpPr/>
          <p:nvPr/>
        </p:nvSpPr>
        <p:spPr>
          <a:xfrm flipH="1">
            <a:off x="8167472" y="2930008"/>
            <a:ext cx="989213" cy="2976039"/>
          </a:xfrm>
          <a:prstGeom prst="arc">
            <a:avLst>
              <a:gd name="adj1" fmla="val 16166231"/>
              <a:gd name="adj2" fmla="val 5455815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2BD2BDE-092D-4AC4-9384-07630804CAD8}"/>
              </a:ext>
            </a:extLst>
          </p:cNvPr>
          <p:cNvSpPr txBox="1"/>
          <p:nvPr/>
        </p:nvSpPr>
        <p:spPr>
          <a:xfrm>
            <a:off x="9664515" y="5051804"/>
            <a:ext cx="588623" cy="400110"/>
          </a:xfrm>
          <a:prstGeom prst="rect">
            <a:avLst/>
          </a:prstGeom>
          <a:noFill/>
          <a:ln w="38100">
            <a:noFill/>
          </a:ln>
        </p:spPr>
        <p:txBody>
          <a:bodyPr wrap="none" rtlCol="0">
            <a:spAutoFit/>
          </a:bodyPr>
          <a:lstStyle/>
          <a:p>
            <a:r>
              <a:rPr lang="en-US" sz="2000" b="1" dirty="0"/>
              <a:t>R10</a:t>
            </a:r>
          </a:p>
        </p:txBody>
      </p:sp>
      <p:sp>
        <p:nvSpPr>
          <p:cNvPr id="65" name="Arc 64">
            <a:extLst>
              <a:ext uri="{FF2B5EF4-FFF2-40B4-BE49-F238E27FC236}">
                <a16:creationId xmlns:a16="http://schemas.microsoft.com/office/drawing/2014/main" id="{957D7C4A-AB7A-449A-99F3-E644C0D182DD}"/>
              </a:ext>
            </a:extLst>
          </p:cNvPr>
          <p:cNvSpPr/>
          <p:nvPr/>
        </p:nvSpPr>
        <p:spPr>
          <a:xfrm>
            <a:off x="9054242" y="4745875"/>
            <a:ext cx="610273" cy="1185494"/>
          </a:xfrm>
          <a:prstGeom prst="arc">
            <a:avLst>
              <a:gd name="adj1" fmla="val 16278232"/>
              <a:gd name="adj2" fmla="val 3729791"/>
            </a:avLst>
          </a:prstGeom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6A090C-4B9F-4B2A-8A53-2837EC0E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05694"/>
            <a:ext cx="4114800" cy="365125"/>
          </a:xfrm>
        </p:spPr>
        <p:txBody>
          <a:bodyPr/>
          <a:lstStyle/>
          <a:p>
            <a:r>
              <a:rPr lang="nn-NO"/>
              <a:t>Digital System Design Lecture 8 Fall 2026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C218DD9-343F-420C-8E63-554470B90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95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1000" fill="hold"/>
                                        <p:tgtEl>
                                          <p:spTgt spid="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1000" fill="hold"/>
                                        <p:tgtEl>
                                          <p:spTgt spid="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5" grpId="0" animBg="1"/>
      <p:bldP spid="6" grpId="0" animBg="1"/>
      <p:bldP spid="7" grpId="0" animBg="1"/>
      <p:bldP spid="9" grpId="0" animBg="1"/>
      <p:bldP spid="24" grpId="0"/>
      <p:bldP spid="28" grpId="0"/>
      <p:bldP spid="31" grpId="0"/>
      <p:bldP spid="32" grpId="0"/>
      <p:bldP spid="36" grpId="0"/>
      <p:bldP spid="54" grpId="0"/>
      <p:bldP spid="57" grpId="0"/>
      <p:bldP spid="58" grpId="0" animBg="1"/>
      <p:bldP spid="59" grpId="0" animBg="1"/>
      <p:bldP spid="64" grpId="0"/>
      <p:bldP spid="6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593B7-1DBE-4D22-B79A-C6DC9C501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146050"/>
            <a:ext cx="10515600" cy="519778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State Transition Table Describing Vending Machine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5BEDFCE-9A48-41DF-84BA-BDD84D4391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66500"/>
              </p:ext>
            </p:extLst>
          </p:nvPr>
        </p:nvGraphicFramePr>
        <p:xfrm>
          <a:off x="838198" y="589937"/>
          <a:ext cx="10515603" cy="627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101625544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80644805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85633485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44754764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6217316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28609064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227554836"/>
                    </a:ext>
                  </a:extLst>
                </a:gridCol>
              </a:tblGrid>
              <a:tr h="560769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Q1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Q0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Present State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Inputs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Next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Output </a:t>
                      </a:r>
                    </a:p>
                    <a:p>
                      <a:pPr algn="ctr"/>
                      <a:r>
                        <a:rPr lang="en-US" sz="1600" b="1" dirty="0"/>
                        <a:t>OPEN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499052"/>
                  </a:ext>
                </a:extLst>
              </a:tr>
              <a:tr h="324656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R10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R5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1428520"/>
                  </a:ext>
                </a:extLst>
              </a:tr>
              <a:tr h="324656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S0; R0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S0; R0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995907"/>
                  </a:ext>
                </a:extLst>
              </a:tr>
              <a:tr h="324656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S1</a:t>
                      </a:r>
                      <a:r>
                        <a:rPr lang="en-US" sz="1600" b="1"/>
                        <a:t>; R5</a:t>
                      </a:r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539923"/>
                  </a:ext>
                </a:extLst>
              </a:tr>
              <a:tr h="324656"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S2; R10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203162"/>
                  </a:ext>
                </a:extLst>
              </a:tr>
              <a:tr h="324656"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Not Allowed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819349"/>
                  </a:ext>
                </a:extLst>
              </a:tr>
              <a:tr h="324656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S1; R5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S1; R5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308633"/>
                  </a:ext>
                </a:extLst>
              </a:tr>
              <a:tr h="324656"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S2; R10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35914"/>
                  </a:ext>
                </a:extLst>
              </a:tr>
              <a:tr h="324656"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S3; R15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263364"/>
                  </a:ext>
                </a:extLst>
              </a:tr>
              <a:tr h="324656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Not Allowed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394173"/>
                  </a:ext>
                </a:extLst>
              </a:tr>
              <a:tr h="324656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S2; R10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S2; R10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46944"/>
                  </a:ext>
                </a:extLst>
              </a:tr>
              <a:tr h="324656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S3; R15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833209"/>
                  </a:ext>
                </a:extLst>
              </a:tr>
              <a:tr h="324656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S3; R20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745261"/>
                  </a:ext>
                </a:extLst>
              </a:tr>
              <a:tr h="324656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Not Allowed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6720400"/>
                  </a:ext>
                </a:extLst>
              </a:tr>
              <a:tr h="324656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S3; R15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S3; R15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055464"/>
                  </a:ext>
                </a:extLst>
              </a:tr>
              <a:tr h="324656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S3; R15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992174"/>
                  </a:ext>
                </a:extLst>
              </a:tr>
              <a:tr h="324656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S3; R15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038434"/>
                  </a:ext>
                </a:extLst>
              </a:tr>
              <a:tr h="324656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Not Allowed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57757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45B304-5088-9395-34C5-24164D8FB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16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6E4892-7D66-570A-3F68-25DFFECC00FC}"/>
              </a:ext>
            </a:extLst>
          </p:cNvPr>
          <p:cNvSpPr/>
          <p:nvPr/>
        </p:nvSpPr>
        <p:spPr>
          <a:xfrm>
            <a:off x="838198" y="1533505"/>
            <a:ext cx="10515600" cy="1304925"/>
          </a:xfrm>
          <a:prstGeom prst="rect">
            <a:avLst/>
          </a:prstGeom>
          <a:solidFill>
            <a:srgbClr val="FBE1D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69EC90-9A1F-5ED3-5C72-2E49530D0BC5}"/>
              </a:ext>
            </a:extLst>
          </p:cNvPr>
          <p:cNvSpPr/>
          <p:nvPr/>
        </p:nvSpPr>
        <p:spPr>
          <a:xfrm>
            <a:off x="838198" y="2867005"/>
            <a:ext cx="10515600" cy="1304925"/>
          </a:xfrm>
          <a:prstGeom prst="rect">
            <a:avLst/>
          </a:prstGeom>
          <a:solidFill>
            <a:srgbClr val="FBE1D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C0FE2F-D3D9-7A78-A9C6-70CF54958B82}"/>
              </a:ext>
            </a:extLst>
          </p:cNvPr>
          <p:cNvSpPr/>
          <p:nvPr/>
        </p:nvSpPr>
        <p:spPr>
          <a:xfrm>
            <a:off x="838198" y="4210010"/>
            <a:ext cx="10515600" cy="1304925"/>
          </a:xfrm>
          <a:prstGeom prst="rect">
            <a:avLst/>
          </a:prstGeom>
          <a:solidFill>
            <a:srgbClr val="FBE1D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453F8C-CF83-0E33-BB3F-D147E0BB9755}"/>
              </a:ext>
            </a:extLst>
          </p:cNvPr>
          <p:cNvSpPr/>
          <p:nvPr/>
        </p:nvSpPr>
        <p:spPr>
          <a:xfrm>
            <a:off x="838198" y="5553015"/>
            <a:ext cx="10515600" cy="1304925"/>
          </a:xfrm>
          <a:prstGeom prst="rect">
            <a:avLst/>
          </a:prstGeom>
          <a:solidFill>
            <a:srgbClr val="FBE1D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59B656-2464-9F9F-2737-7AEBACF17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Digital System Design Lecture 8 Fall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796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6B242-B4E4-6D90-5AD2-3AE3283EE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State Mapping to Flipflops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1B7A4-B434-9292-3B28-619643879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2751"/>
            <a:ext cx="10515600" cy="1603375"/>
          </a:xfrm>
        </p:spPr>
        <p:txBody>
          <a:bodyPr/>
          <a:lstStyle/>
          <a:p>
            <a:r>
              <a:rPr lang="en-US" dirty="0"/>
              <a:t>In the reduced State Diagram, there are 4 states</a:t>
            </a:r>
          </a:p>
          <a:p>
            <a:r>
              <a:rPr lang="en-US" dirty="0"/>
              <a:t>We can distinctly represent these states using two Flipflops</a:t>
            </a:r>
          </a:p>
          <a:p>
            <a:r>
              <a:rPr lang="en-US" dirty="0"/>
              <a:t>Assign states as follows: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184D80-2118-3D18-3448-72AFC2E60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Digital System Design Lecture 8 Fall 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C3B576-1D5D-4D3A-890F-5D47E9D19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17</a:t>
            </a:fld>
            <a:endParaRPr lang="en-US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615E1011-9526-BB8C-F5A4-5D516C2DA8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834782"/>
              </p:ext>
            </p:extLst>
          </p:nvPr>
        </p:nvGraphicFramePr>
        <p:xfrm>
          <a:off x="1079319" y="3690938"/>
          <a:ext cx="3683000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20750">
                  <a:extLst>
                    <a:ext uri="{9D8B030D-6E8A-4147-A177-3AD203B41FA5}">
                      <a16:colId xmlns:a16="http://schemas.microsoft.com/office/drawing/2014/main" val="1154287861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604462443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757335867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17511529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Q0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624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389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241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386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9180797"/>
                  </a:ext>
                </a:extLst>
              </a:tr>
            </a:tbl>
          </a:graphicData>
        </a:graphic>
      </p:graphicFrame>
      <p:sp>
        <p:nvSpPr>
          <p:cNvPr id="47" name="Right Brace 46">
            <a:extLst>
              <a:ext uri="{FF2B5EF4-FFF2-40B4-BE49-F238E27FC236}">
                <a16:creationId xmlns:a16="http://schemas.microsoft.com/office/drawing/2014/main" id="{9E6A588F-732E-5977-8679-37F5B7A78FAA}"/>
              </a:ext>
            </a:extLst>
          </p:cNvPr>
          <p:cNvSpPr/>
          <p:nvPr/>
        </p:nvSpPr>
        <p:spPr>
          <a:xfrm rot="16200000">
            <a:off x="3748584" y="2718057"/>
            <a:ext cx="222011" cy="1596271"/>
          </a:xfrm>
          <a:prstGeom prst="rightBrace">
            <a:avLst>
              <a:gd name="adj1" fmla="val 8333"/>
              <a:gd name="adj2" fmla="val 5138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CEB6BD1-C38D-1520-8BDA-2E070381B32D}"/>
              </a:ext>
            </a:extLst>
          </p:cNvPr>
          <p:cNvGrpSpPr/>
          <p:nvPr/>
        </p:nvGrpSpPr>
        <p:grpSpPr>
          <a:xfrm>
            <a:off x="5124408" y="2748239"/>
            <a:ext cx="5968234" cy="2854048"/>
            <a:chOff x="5124408" y="2748239"/>
            <a:chExt cx="5968234" cy="285404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CE34BB1-81D2-A172-7C67-460F9D58AED5}"/>
                </a:ext>
              </a:extLst>
            </p:cNvPr>
            <p:cNvSpPr/>
            <p:nvPr/>
          </p:nvSpPr>
          <p:spPr>
            <a:xfrm>
              <a:off x="7419975" y="3429000"/>
              <a:ext cx="838200" cy="847725"/>
            </a:xfrm>
            <a:prstGeom prst="rect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FF1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4AAC43D-0668-2ADC-A758-C91E7D1985FF}"/>
                </a:ext>
              </a:extLst>
            </p:cNvPr>
            <p:cNvSpPr/>
            <p:nvPr/>
          </p:nvSpPr>
          <p:spPr>
            <a:xfrm>
              <a:off x="7419975" y="4411662"/>
              <a:ext cx="838200" cy="847725"/>
            </a:xfrm>
            <a:prstGeom prst="rect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FF0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FD76289A-9291-3F02-1FC8-C601B4074BF7}"/>
                </a:ext>
              </a:extLst>
            </p:cNvPr>
            <p:cNvCxnSpPr/>
            <p:nvPr/>
          </p:nvCxnSpPr>
          <p:spPr>
            <a:xfrm>
              <a:off x="6886575" y="3648075"/>
              <a:ext cx="54864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A6B75AE9-B127-A18E-2B73-DC2F1BEEDC14}"/>
                </a:ext>
              </a:extLst>
            </p:cNvPr>
            <p:cNvCxnSpPr/>
            <p:nvPr/>
          </p:nvCxnSpPr>
          <p:spPr>
            <a:xfrm>
              <a:off x="6886575" y="4619625"/>
              <a:ext cx="54864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E10D1BA-52F9-6D1F-EDD6-F18E6D43351D}"/>
                </a:ext>
              </a:extLst>
            </p:cNvPr>
            <p:cNvCxnSpPr/>
            <p:nvPr/>
          </p:nvCxnSpPr>
          <p:spPr>
            <a:xfrm>
              <a:off x="8258175" y="3648075"/>
              <a:ext cx="54864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1B11B3C-E082-A1CC-D3E9-D635FD14124D}"/>
                </a:ext>
              </a:extLst>
            </p:cNvPr>
            <p:cNvCxnSpPr/>
            <p:nvPr/>
          </p:nvCxnSpPr>
          <p:spPr>
            <a:xfrm>
              <a:off x="8258175" y="4619625"/>
              <a:ext cx="54864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E5BC58F-EA4A-7519-8BA9-7460699F1665}"/>
                </a:ext>
              </a:extLst>
            </p:cNvPr>
            <p:cNvCxnSpPr/>
            <p:nvPr/>
          </p:nvCxnSpPr>
          <p:spPr>
            <a:xfrm>
              <a:off x="7160895" y="4067175"/>
              <a:ext cx="344805" cy="0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BDF3427-F1E9-4AE6-895D-0A6EBDF86FB0}"/>
                </a:ext>
              </a:extLst>
            </p:cNvPr>
            <p:cNvCxnSpPr/>
            <p:nvPr/>
          </p:nvCxnSpPr>
          <p:spPr>
            <a:xfrm>
              <a:off x="7160895" y="5067300"/>
              <a:ext cx="344805" cy="0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3CBEC7D-098A-638C-655E-5C08B98889A1}"/>
                </a:ext>
              </a:extLst>
            </p:cNvPr>
            <p:cNvCxnSpPr/>
            <p:nvPr/>
          </p:nvCxnSpPr>
          <p:spPr>
            <a:xfrm>
              <a:off x="7160895" y="4067175"/>
              <a:ext cx="0" cy="1409700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3356E61-D308-4BA1-C0E8-AE35A385062A}"/>
                </a:ext>
              </a:extLst>
            </p:cNvPr>
            <p:cNvSpPr txBox="1"/>
            <p:nvPr/>
          </p:nvSpPr>
          <p:spPr>
            <a:xfrm>
              <a:off x="7151553" y="5232955"/>
              <a:ext cx="4651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Clk</a:t>
              </a:r>
              <a:endParaRPr 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EDB0E10-DD38-DBDD-AD87-2D1C595CA7EF}"/>
                </a:ext>
              </a:extLst>
            </p:cNvPr>
            <p:cNvSpPr txBox="1"/>
            <p:nvPr/>
          </p:nvSpPr>
          <p:spPr>
            <a:xfrm>
              <a:off x="6426983" y="3441600"/>
              <a:ext cx="4443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D1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E96D185-AF3F-53FC-19D7-9CB14C1BA092}"/>
                </a:ext>
              </a:extLst>
            </p:cNvPr>
            <p:cNvSpPr txBox="1"/>
            <p:nvPr/>
          </p:nvSpPr>
          <p:spPr>
            <a:xfrm>
              <a:off x="6392009" y="4375189"/>
              <a:ext cx="4443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D0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3193B0E-06EA-3C8B-7E6C-D01CE8C79511}"/>
                </a:ext>
              </a:extLst>
            </p:cNvPr>
            <p:cNvSpPr txBox="1"/>
            <p:nvPr/>
          </p:nvSpPr>
          <p:spPr>
            <a:xfrm>
              <a:off x="8806815" y="3413958"/>
              <a:ext cx="4571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F0A8E4A-F9B5-F587-ED62-468766B8B543}"/>
                </a:ext>
              </a:extLst>
            </p:cNvPr>
            <p:cNvSpPr txBox="1"/>
            <p:nvPr/>
          </p:nvSpPr>
          <p:spPr>
            <a:xfrm>
              <a:off x="8806815" y="4375189"/>
              <a:ext cx="4571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Q0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ABA5897C-18E8-699D-A774-A96B4EDC0349}"/>
                </a:ext>
              </a:extLst>
            </p:cNvPr>
            <p:cNvSpPr/>
            <p:nvPr/>
          </p:nvSpPr>
          <p:spPr>
            <a:xfrm>
              <a:off x="8845904" y="3405188"/>
              <a:ext cx="418087" cy="1409700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  <p:cxnSp>
          <p:nvCxnSpPr>
            <p:cNvPr id="26" name="Connector: Curved 25">
              <a:extLst>
                <a:ext uri="{FF2B5EF4-FFF2-40B4-BE49-F238E27FC236}">
                  <a16:creationId xmlns:a16="http://schemas.microsoft.com/office/drawing/2014/main" id="{72A08804-8E8A-03B7-4341-18D39279EA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63991" y="3276600"/>
              <a:ext cx="587729" cy="534332"/>
            </a:xfrm>
            <a:prstGeom prst="curvedConnector3">
              <a:avLst>
                <a:gd name="adj1" fmla="val 30552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E2CA0466-19F1-186E-4606-C7669C444D73}"/>
                </a:ext>
              </a:extLst>
            </p:cNvPr>
            <p:cNvSpPr/>
            <p:nvPr/>
          </p:nvSpPr>
          <p:spPr>
            <a:xfrm>
              <a:off x="6408238" y="3425824"/>
              <a:ext cx="418087" cy="1409700"/>
            </a:xfrm>
            <a:prstGeom prst="round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  <p:cxnSp>
          <p:nvCxnSpPr>
            <p:cNvPr id="39" name="Connector: Curved 38">
              <a:extLst>
                <a:ext uri="{FF2B5EF4-FFF2-40B4-BE49-F238E27FC236}">
                  <a16:creationId xmlns:a16="http://schemas.microsoft.com/office/drawing/2014/main" id="{244DB184-DBAA-D4E2-1925-6A35B5A851F6}"/>
                </a:ext>
              </a:extLst>
            </p:cNvPr>
            <p:cNvCxnSpPr>
              <a:cxnSpLocks/>
              <a:stCxn id="38" idx="1"/>
            </p:cNvCxnSpPr>
            <p:nvPr/>
          </p:nvCxnSpPr>
          <p:spPr>
            <a:xfrm rot="10800000" flipV="1">
              <a:off x="5975218" y="4130673"/>
              <a:ext cx="433021" cy="395289"/>
            </a:xfrm>
            <a:prstGeom prst="curvedConnector3">
              <a:avLst>
                <a:gd name="adj1" fmla="val 60998"/>
              </a:avLst>
            </a:prstGeom>
            <a:ln>
              <a:solidFill>
                <a:srgbClr val="00B05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Cloud 47">
              <a:extLst>
                <a:ext uri="{FF2B5EF4-FFF2-40B4-BE49-F238E27FC236}">
                  <a16:creationId xmlns:a16="http://schemas.microsoft.com/office/drawing/2014/main" id="{4BCD3574-8F26-9D61-66C8-3E5C82880201}"/>
                </a:ext>
              </a:extLst>
            </p:cNvPr>
            <p:cNvSpPr/>
            <p:nvPr/>
          </p:nvSpPr>
          <p:spPr>
            <a:xfrm>
              <a:off x="5124408" y="4548188"/>
              <a:ext cx="1193983" cy="1054097"/>
            </a:xfrm>
            <a:prstGeom prst="cloud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To set </a:t>
              </a:r>
            </a:p>
            <a:p>
              <a:pPr algn="ctr"/>
              <a:r>
                <a:rPr lang="en-US" dirty="0"/>
                <a:t>NEW</a:t>
              </a:r>
            </a:p>
            <a:p>
              <a:pPr algn="ctr"/>
              <a:r>
                <a:rPr lang="en-US" dirty="0"/>
                <a:t>States</a:t>
              </a:r>
            </a:p>
          </p:txBody>
        </p:sp>
        <p:sp>
          <p:nvSpPr>
            <p:cNvPr id="49" name="Star: 10 Points 48">
              <a:extLst>
                <a:ext uri="{FF2B5EF4-FFF2-40B4-BE49-F238E27FC236}">
                  <a16:creationId xmlns:a16="http://schemas.microsoft.com/office/drawing/2014/main" id="{BB064F9A-32D2-95C7-8BE4-829CC9B07993}"/>
                </a:ext>
              </a:extLst>
            </p:cNvPr>
            <p:cNvSpPr/>
            <p:nvPr/>
          </p:nvSpPr>
          <p:spPr>
            <a:xfrm>
              <a:off x="9851720" y="2748239"/>
              <a:ext cx="1240922" cy="1195111"/>
            </a:xfrm>
            <a:prstGeom prst="star10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Present</a:t>
              </a:r>
            </a:p>
            <a:p>
              <a:pPr algn="ctr"/>
              <a:r>
                <a:rPr lang="en-US" dirty="0"/>
                <a:t>States</a:t>
              </a:r>
            </a:p>
          </p:txBody>
        </p:sp>
      </p:grp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E4DFC0D-E8DE-3634-63A5-450A04E531E4}"/>
              </a:ext>
            </a:extLst>
          </p:cNvPr>
          <p:cNvCxnSpPr/>
          <p:nvPr/>
        </p:nvCxnSpPr>
        <p:spPr>
          <a:xfrm flipV="1">
            <a:off x="4162425" y="2952750"/>
            <a:ext cx="5819775" cy="4524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FA68EEE-6D9E-D156-A1D7-F84FA77665ED}"/>
              </a:ext>
            </a:extLst>
          </p:cNvPr>
          <p:cNvGrpSpPr/>
          <p:nvPr/>
        </p:nvGrpSpPr>
        <p:grpSpPr>
          <a:xfrm>
            <a:off x="6426982" y="5540374"/>
            <a:ext cx="970221" cy="357825"/>
            <a:chOff x="6392009" y="5561330"/>
            <a:chExt cx="1051738" cy="350520"/>
          </a:xfrm>
        </p:grpSpPr>
        <p:sp>
          <p:nvSpPr>
            <p:cNvPr id="9" name="Left Bracket 8">
              <a:extLst>
                <a:ext uri="{FF2B5EF4-FFF2-40B4-BE49-F238E27FC236}">
                  <a16:creationId xmlns:a16="http://schemas.microsoft.com/office/drawing/2014/main" id="{21ADD13C-311A-FB77-F91E-8B050EA0A8DE}"/>
                </a:ext>
              </a:extLst>
            </p:cNvPr>
            <p:cNvSpPr/>
            <p:nvPr/>
          </p:nvSpPr>
          <p:spPr>
            <a:xfrm rot="5400000">
              <a:off x="6538317" y="5617052"/>
              <a:ext cx="350520" cy="239076"/>
            </a:xfrm>
            <a:prstGeom prst="leftBracket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4" name="Left Bracket 13">
              <a:extLst>
                <a:ext uri="{FF2B5EF4-FFF2-40B4-BE49-F238E27FC236}">
                  <a16:creationId xmlns:a16="http://schemas.microsoft.com/office/drawing/2014/main" id="{9F1D3AEC-B064-B753-5821-1509FA8560BE}"/>
                </a:ext>
              </a:extLst>
            </p:cNvPr>
            <p:cNvSpPr/>
            <p:nvPr/>
          </p:nvSpPr>
          <p:spPr>
            <a:xfrm rot="5400000">
              <a:off x="6942036" y="5617052"/>
              <a:ext cx="350520" cy="239076"/>
            </a:xfrm>
            <a:prstGeom prst="leftBracket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E72051F-DE56-5FF7-4BEA-3E1A8B2FF3D7}"/>
                </a:ext>
              </a:extLst>
            </p:cNvPr>
            <p:cNvCxnSpPr>
              <a:stCxn id="9" idx="0"/>
              <a:endCxn id="14" idx="2"/>
            </p:cNvCxnSpPr>
            <p:nvPr/>
          </p:nvCxnSpPr>
          <p:spPr>
            <a:xfrm>
              <a:off x="6833115" y="5911850"/>
              <a:ext cx="164643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912A5BD-94CB-F164-ADDF-D22E1E594173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 flipH="1">
              <a:off x="6392009" y="5911850"/>
              <a:ext cx="20203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4875D61-3454-E8E8-83CB-A855DEB744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41717" y="5910580"/>
              <a:ext cx="20203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94956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384BC-37A3-4FD2-A450-DB66E4DBF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4403"/>
            <a:ext cx="10515600" cy="59352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Present State to Next State Table using DFF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E29EDE8-8C66-48A0-8582-E42FD1F391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389671"/>
              </p:ext>
            </p:extLst>
          </p:nvPr>
        </p:nvGraphicFramePr>
        <p:xfrm>
          <a:off x="838197" y="579120"/>
          <a:ext cx="9201150" cy="627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101625544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80644805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44754764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6217316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97954396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28609064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227554836"/>
                    </a:ext>
                  </a:extLst>
                </a:gridCol>
              </a:tblGrid>
              <a:tr h="522387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Present State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Inputs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Next State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Output </a:t>
                      </a:r>
                    </a:p>
                    <a:p>
                      <a:pPr algn="ctr"/>
                      <a:r>
                        <a:rPr lang="en-US" sz="1600" b="1" dirty="0"/>
                        <a:t>OPEN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499052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highlight>
                            <a:srgbClr val="0000FF"/>
                          </a:highlight>
                        </a:rP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highlight>
                            <a:srgbClr val="0000FF"/>
                          </a:highlight>
                        </a:rPr>
                        <a:t>Q0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highlight>
                            <a:srgbClr val="0000FF"/>
                          </a:highlight>
                        </a:rPr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highlight>
                            <a:srgbClr val="0000FF"/>
                          </a:highlight>
                        </a:rPr>
                        <a:t>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highlight>
                            <a:srgbClr val="0000FF"/>
                          </a:highlight>
                        </a:rPr>
                        <a:t>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highlight>
                            <a:srgbClr val="0000FF"/>
                          </a:highlight>
                        </a:rPr>
                        <a:t>D0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428520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 (S0)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 (S0)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995907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 (S1)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539923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 (S2)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203162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819349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 (S1)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 (S1)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308633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 (S2)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35914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 (S3)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263364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394173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 (S2)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 (S2)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46944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 (S3)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833209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 (S3)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745261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6720400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 (S3)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 (S3) 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055464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 (S3)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992174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 (S3)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038434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57757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37B55B-5D2C-074B-7289-072461D34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18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ACA922F-5F31-099A-BAAF-3952DA9A9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Digital System Design Lecture 8 Fall 2026</a:t>
            </a:r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96074DB-F110-0E7E-50C8-CC5CBE9C8116}"/>
                  </a:ext>
                </a:extLst>
              </p14:cNvPr>
              <p14:cNvContentPartPr/>
              <p14:nvPr/>
            </p14:nvContentPartPr>
            <p14:xfrm>
              <a:off x="7652000" y="955040"/>
              <a:ext cx="813240" cy="60248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96074DB-F110-0E7E-50C8-CC5CBE9C811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34360" y="937400"/>
                <a:ext cx="848880" cy="606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207EDE2-3561-12C7-F810-7610624C2ECE}"/>
                  </a:ext>
                </a:extLst>
              </p14:cNvPr>
              <p14:cNvContentPartPr/>
              <p14:nvPr/>
            </p14:nvContentPartPr>
            <p14:xfrm>
              <a:off x="7315040" y="1959680"/>
              <a:ext cx="396720" cy="320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207EDE2-3561-12C7-F810-7610624C2EC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97040" y="1851680"/>
                <a:ext cx="43236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4513343-7A1C-7EEA-4F8C-61B4A62CC113}"/>
                  </a:ext>
                </a:extLst>
              </p14:cNvPr>
              <p14:cNvContentPartPr/>
              <p14:nvPr/>
            </p14:nvContentPartPr>
            <p14:xfrm>
              <a:off x="7304960" y="2661320"/>
              <a:ext cx="565200" cy="151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4513343-7A1C-7EEA-4F8C-61B4A62CC11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86960" y="2553680"/>
                <a:ext cx="60084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4344179-7985-4C02-A711-0A35A8A305D5}"/>
                  </a:ext>
                </a:extLst>
              </p14:cNvPr>
              <p14:cNvContentPartPr/>
              <p14:nvPr/>
            </p14:nvContentPartPr>
            <p14:xfrm>
              <a:off x="7385960" y="3068120"/>
              <a:ext cx="335520" cy="410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4344179-7985-4C02-A711-0A35A8A305D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368320" y="2960120"/>
                <a:ext cx="37116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F8BEB8F-FA7A-8C74-536B-1A3891841211}"/>
                  </a:ext>
                </a:extLst>
              </p14:cNvPr>
              <p14:cNvContentPartPr/>
              <p14:nvPr/>
            </p14:nvContentPartPr>
            <p14:xfrm>
              <a:off x="7416560" y="3667520"/>
              <a:ext cx="324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F8BEB8F-FA7A-8C74-536B-1A389184121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398920" y="3559880"/>
                <a:ext cx="360000" cy="21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C52A4B35-DF60-F182-6D06-11BE6A72E0B8}"/>
              </a:ext>
            </a:extLst>
          </p:cNvPr>
          <p:cNvGrpSpPr/>
          <p:nvPr/>
        </p:nvGrpSpPr>
        <p:grpSpPr>
          <a:xfrm>
            <a:off x="7264280" y="3991160"/>
            <a:ext cx="547560" cy="276120"/>
            <a:chOff x="7264280" y="3991160"/>
            <a:chExt cx="547560" cy="27612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A012B31-C36D-45B9-FEB6-0FA875F4E6A1}"/>
                    </a:ext>
                  </a:extLst>
                </p14:cNvPr>
                <p14:cNvContentPartPr/>
                <p14:nvPr/>
              </p14:nvContentPartPr>
              <p14:xfrm>
                <a:off x="7264280" y="4246400"/>
                <a:ext cx="16560" cy="208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A012B31-C36D-45B9-FEB6-0FA875F4E6A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246280" y="4138760"/>
                  <a:ext cx="5220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C602C4B-8E30-716E-48B2-E3D894C26148}"/>
                    </a:ext>
                  </a:extLst>
                </p14:cNvPr>
                <p14:cNvContentPartPr/>
                <p14:nvPr/>
              </p14:nvContentPartPr>
              <p14:xfrm>
                <a:off x="7325120" y="3991160"/>
                <a:ext cx="486720" cy="174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C602C4B-8E30-716E-48B2-E3D894C2614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307480" y="3883160"/>
                  <a:ext cx="522360" cy="39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69BAA36-97BA-36AB-91FC-FAB82755B48E}"/>
                  </a:ext>
                </a:extLst>
              </p14:cNvPr>
              <p14:cNvContentPartPr/>
              <p14:nvPr/>
            </p14:nvContentPartPr>
            <p14:xfrm>
              <a:off x="7396400" y="4584080"/>
              <a:ext cx="411120" cy="896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69BAA36-97BA-36AB-91FC-FAB82755B48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378400" y="4476080"/>
                <a:ext cx="44676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2B57F8A-9D05-4B87-9708-1703D6A8C320}"/>
                  </a:ext>
                </a:extLst>
              </p14:cNvPr>
              <p14:cNvContentPartPr/>
              <p14:nvPr/>
            </p14:nvContentPartPr>
            <p14:xfrm>
              <a:off x="7414400" y="4947680"/>
              <a:ext cx="347040" cy="885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2B57F8A-9D05-4B87-9708-1703D6A8C32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396400" y="4840040"/>
                <a:ext cx="38268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476971E-A84A-F84E-ADEE-C777F77C5606}"/>
                  </a:ext>
                </a:extLst>
              </p14:cNvPr>
              <p14:cNvContentPartPr/>
              <p14:nvPr/>
            </p14:nvContentPartPr>
            <p14:xfrm>
              <a:off x="7416560" y="5333960"/>
              <a:ext cx="433440" cy="522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476971E-A84A-F84E-ADEE-C777F77C560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398920" y="5225960"/>
                <a:ext cx="46908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910598E-B35F-8591-9F9E-CE3EC55DD461}"/>
                  </a:ext>
                </a:extLst>
              </p14:cNvPr>
              <p14:cNvContentPartPr/>
              <p14:nvPr/>
            </p14:nvContentPartPr>
            <p14:xfrm>
              <a:off x="7426640" y="5750480"/>
              <a:ext cx="419760" cy="108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C910598E-B35F-8591-9F9E-CE3EC55DD46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409000" y="5642480"/>
                <a:ext cx="45540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F902C7B-6877-7A49-F49B-B977338F00E9}"/>
                  </a:ext>
                </a:extLst>
              </p14:cNvPr>
              <p14:cNvContentPartPr/>
              <p14:nvPr/>
            </p14:nvContentPartPr>
            <p14:xfrm>
              <a:off x="7447160" y="6085640"/>
              <a:ext cx="318600" cy="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F902C7B-6877-7A49-F49B-B977338F00E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429160" y="5978000"/>
                <a:ext cx="3542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B676879-585A-8B40-E015-6B39A1A5BA8E}"/>
                  </a:ext>
                </a:extLst>
              </p14:cNvPr>
              <p14:cNvContentPartPr/>
              <p14:nvPr/>
            </p14:nvContentPartPr>
            <p14:xfrm>
              <a:off x="7426640" y="6359960"/>
              <a:ext cx="30564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B676879-585A-8B40-E015-6B39A1A5BA8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409000" y="6252320"/>
                <a:ext cx="3412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8A19770-FE40-54DC-EC14-213D259A07B7}"/>
                  </a:ext>
                </a:extLst>
              </p14:cNvPr>
              <p14:cNvContentPartPr/>
              <p14:nvPr/>
            </p14:nvContentPartPr>
            <p14:xfrm>
              <a:off x="7426640" y="6695120"/>
              <a:ext cx="407880" cy="108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8A19770-FE40-54DC-EC14-213D259A07B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409000" y="6587480"/>
                <a:ext cx="44352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76F7F722-1663-DCD2-3A2C-1E01DF600B7D}"/>
                  </a:ext>
                </a:extLst>
              </p14:cNvPr>
              <p14:cNvContentPartPr/>
              <p14:nvPr/>
            </p14:nvContentPartPr>
            <p14:xfrm>
              <a:off x="965000" y="2001440"/>
              <a:ext cx="12132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76F7F722-1663-DCD2-3A2C-1E01DF600B7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47360" y="1893440"/>
                <a:ext cx="1569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9F0AA386-7CE5-23A4-B35D-96AB2D416FCF}"/>
                  </a:ext>
                </a:extLst>
              </p14:cNvPr>
              <p14:cNvContentPartPr/>
              <p14:nvPr/>
            </p14:nvContentPartPr>
            <p14:xfrm>
              <a:off x="1005680" y="2377280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9F0AA386-7CE5-23A4-B35D-96AB2D416FC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87680" y="2269280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0ABDFCB8-3408-86DC-6BDB-2C580EC1AFCB}"/>
                  </a:ext>
                </a:extLst>
              </p14:cNvPr>
              <p14:cNvContentPartPr/>
              <p14:nvPr/>
            </p14:nvContentPartPr>
            <p14:xfrm>
              <a:off x="965000" y="2692280"/>
              <a:ext cx="690120" cy="208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0ABDFCB8-3408-86DC-6BDB-2C580EC1AFC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47360" y="2584280"/>
                <a:ext cx="72576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29DF23B-F857-9AA0-B237-6DF086339CDF}"/>
                  </a:ext>
                </a:extLst>
              </p14:cNvPr>
              <p14:cNvContentPartPr/>
              <p14:nvPr/>
            </p14:nvContentPartPr>
            <p14:xfrm>
              <a:off x="995600" y="3058040"/>
              <a:ext cx="15948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29DF23B-F857-9AA0-B237-6DF086339CD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77600" y="2950040"/>
                <a:ext cx="1951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FB5266EC-5ABC-0DC4-BF39-17F1751D15A0}"/>
                  </a:ext>
                </a:extLst>
              </p14:cNvPr>
              <p14:cNvContentPartPr/>
              <p14:nvPr/>
            </p14:nvContentPartPr>
            <p14:xfrm>
              <a:off x="944840" y="3647360"/>
              <a:ext cx="336960" cy="421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FB5266EC-5ABC-0DC4-BF39-17F1751D15A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26840" y="3539360"/>
                <a:ext cx="37260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C6C6BCC2-4CE6-296E-39A2-AB73E964D438}"/>
                  </a:ext>
                </a:extLst>
              </p14:cNvPr>
              <p14:cNvContentPartPr/>
              <p14:nvPr/>
            </p14:nvContentPartPr>
            <p14:xfrm>
              <a:off x="883640" y="4030040"/>
              <a:ext cx="683280" cy="342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C6C6BCC2-4CE6-296E-39A2-AB73E964D43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66000" y="3922400"/>
                <a:ext cx="71892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12C9F6A3-71D5-8C77-3BE2-CD946248695C}"/>
                  </a:ext>
                </a:extLst>
              </p14:cNvPr>
              <p14:cNvContentPartPr/>
              <p14:nvPr/>
            </p14:nvContentPartPr>
            <p14:xfrm>
              <a:off x="1066520" y="4703960"/>
              <a:ext cx="429480" cy="417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12C9F6A3-71D5-8C77-3BE2-CD946248695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48880" y="4595960"/>
                <a:ext cx="46512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85F8BDE3-8381-2B5F-240A-7A2B8DD0637B}"/>
                  </a:ext>
                </a:extLst>
              </p14:cNvPr>
              <p14:cNvContentPartPr/>
              <p14:nvPr/>
            </p14:nvContentPartPr>
            <p14:xfrm>
              <a:off x="1035920" y="4998440"/>
              <a:ext cx="46764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85F8BDE3-8381-2B5F-240A-7A2B8DD0637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17920" y="4890800"/>
                <a:ext cx="5032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E7D45CE-FE13-33BC-A81C-0BEE77883B47}"/>
                  </a:ext>
                </a:extLst>
              </p14:cNvPr>
              <p14:cNvContentPartPr/>
              <p14:nvPr/>
            </p14:nvContentPartPr>
            <p14:xfrm>
              <a:off x="1035920" y="5313440"/>
              <a:ext cx="43740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E7D45CE-FE13-33BC-A81C-0BEE77883B4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17920" y="5205440"/>
                <a:ext cx="4730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E1487D40-5B5C-ABF3-4D0B-3A26D8D5FA34}"/>
                  </a:ext>
                </a:extLst>
              </p14:cNvPr>
              <p14:cNvContentPartPr/>
              <p14:nvPr/>
            </p14:nvContentPartPr>
            <p14:xfrm>
              <a:off x="1005680" y="5719880"/>
              <a:ext cx="284400" cy="3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E1487D40-5B5C-ABF3-4D0B-3A26D8D5FA3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87680" y="5612240"/>
                <a:ext cx="3200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037D287A-CE69-5CCD-4D58-6AED6412B04A}"/>
                  </a:ext>
                </a:extLst>
              </p14:cNvPr>
              <p14:cNvContentPartPr/>
              <p14:nvPr/>
            </p14:nvContentPartPr>
            <p14:xfrm>
              <a:off x="985520" y="6056840"/>
              <a:ext cx="304920" cy="291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037D287A-CE69-5CCD-4D58-6AED6412B04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67520" y="5949200"/>
                <a:ext cx="34056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877B74E5-03FA-9DEC-F99C-845F7A17E951}"/>
                  </a:ext>
                </a:extLst>
              </p14:cNvPr>
              <p14:cNvContentPartPr/>
              <p14:nvPr/>
            </p14:nvContentPartPr>
            <p14:xfrm>
              <a:off x="1066520" y="6341960"/>
              <a:ext cx="323640" cy="82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877B74E5-03FA-9DEC-F99C-845F7A17E95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48880" y="6233960"/>
                <a:ext cx="35928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480CDE2-C252-57AB-2915-F29ED31D00B9}"/>
                  </a:ext>
                </a:extLst>
              </p14:cNvPr>
              <p14:cNvContentPartPr/>
              <p14:nvPr/>
            </p14:nvContentPartPr>
            <p14:xfrm>
              <a:off x="1087040" y="6705560"/>
              <a:ext cx="410040" cy="216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480CDE2-C252-57AB-2915-F29ED31D00B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69040" y="6597560"/>
                <a:ext cx="44568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F86D730F-EAC7-9CB0-0FA9-12FD4DE2BCC3}"/>
                  </a:ext>
                </a:extLst>
              </p14:cNvPr>
              <p14:cNvContentPartPr/>
              <p14:nvPr/>
            </p14:nvContentPartPr>
            <p14:xfrm>
              <a:off x="1066520" y="1980560"/>
              <a:ext cx="213840" cy="108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F86D730F-EAC7-9CB0-0FA9-12FD4DE2BCC3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48880" y="1872920"/>
                <a:ext cx="249480" cy="22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6794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00445-A132-442B-BA33-3E541C7A7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Characteristic Equation for D0 using K-Map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8408CBC-0206-4843-901E-5016DCCEA4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458957"/>
              </p:ext>
            </p:extLst>
          </p:nvPr>
        </p:nvGraphicFramePr>
        <p:xfrm>
          <a:off x="1869768" y="2002776"/>
          <a:ext cx="8128000" cy="18542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62555637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0736919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574924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3977666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6581262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R10,R5\Q1Q0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78293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7316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770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7198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5145625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E338AA5-5DF0-4809-86EB-BB5BFCED2D80}"/>
              </a:ext>
            </a:extLst>
          </p:cNvPr>
          <p:cNvCxnSpPr/>
          <p:nvPr/>
        </p:nvCxnSpPr>
        <p:spPr>
          <a:xfrm>
            <a:off x="1666568" y="2197510"/>
            <a:ext cx="0" cy="1386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5BAFA1E-56AE-4BB5-8D61-EA05B28DEDA6}"/>
              </a:ext>
            </a:extLst>
          </p:cNvPr>
          <p:cNvCxnSpPr/>
          <p:nvPr/>
        </p:nvCxnSpPr>
        <p:spPr>
          <a:xfrm>
            <a:off x="3008672" y="1867039"/>
            <a:ext cx="56043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ight Bracket 8">
            <a:extLst>
              <a:ext uri="{FF2B5EF4-FFF2-40B4-BE49-F238E27FC236}">
                <a16:creationId xmlns:a16="http://schemas.microsoft.com/office/drawing/2014/main" id="{BC115268-6690-4FAB-BFFA-1CBE7A94974F}"/>
              </a:ext>
            </a:extLst>
          </p:cNvPr>
          <p:cNvSpPr/>
          <p:nvPr/>
        </p:nvSpPr>
        <p:spPr>
          <a:xfrm>
            <a:off x="3362632" y="2719712"/>
            <a:ext cx="1091381" cy="814984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Bracket 9">
            <a:extLst>
              <a:ext uri="{FF2B5EF4-FFF2-40B4-BE49-F238E27FC236}">
                <a16:creationId xmlns:a16="http://schemas.microsoft.com/office/drawing/2014/main" id="{24D920AE-42B3-4E59-ADD7-6808C07E628D}"/>
              </a:ext>
            </a:extLst>
          </p:cNvPr>
          <p:cNvSpPr/>
          <p:nvPr/>
        </p:nvSpPr>
        <p:spPr>
          <a:xfrm flipH="1">
            <a:off x="9024370" y="2719712"/>
            <a:ext cx="1091381" cy="814984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7D95349-2703-4098-B416-32AEBAB3E08E}"/>
              </a:ext>
            </a:extLst>
          </p:cNvPr>
          <p:cNvSpPr/>
          <p:nvPr/>
        </p:nvSpPr>
        <p:spPr>
          <a:xfrm>
            <a:off x="7364878" y="2461470"/>
            <a:ext cx="471949" cy="1483114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Bracket 11">
            <a:extLst>
              <a:ext uri="{FF2B5EF4-FFF2-40B4-BE49-F238E27FC236}">
                <a16:creationId xmlns:a16="http://schemas.microsoft.com/office/drawing/2014/main" id="{D2FAF2F5-5CBE-4E9B-BD28-8FA80BEB0635}"/>
              </a:ext>
            </a:extLst>
          </p:cNvPr>
          <p:cNvSpPr/>
          <p:nvPr/>
        </p:nvSpPr>
        <p:spPr>
          <a:xfrm rot="16200000">
            <a:off x="6540910" y="2804652"/>
            <a:ext cx="530942" cy="1991032"/>
          </a:xfrm>
          <a:prstGeom prst="rightBracket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Bracket 12">
            <a:extLst>
              <a:ext uri="{FF2B5EF4-FFF2-40B4-BE49-F238E27FC236}">
                <a16:creationId xmlns:a16="http://schemas.microsoft.com/office/drawing/2014/main" id="{704AAF86-27C8-46CA-9B45-7DEE286A3D6A}"/>
              </a:ext>
            </a:extLst>
          </p:cNvPr>
          <p:cNvSpPr/>
          <p:nvPr/>
        </p:nvSpPr>
        <p:spPr>
          <a:xfrm rot="5400000" flipV="1">
            <a:off x="6496666" y="1449083"/>
            <a:ext cx="530942" cy="1991032"/>
          </a:xfrm>
          <a:prstGeom prst="rightBracket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27A75DE-EBA8-423E-B5F7-4A260A23B09A}"/>
              </a:ext>
            </a:extLst>
          </p:cNvPr>
          <p:cNvSpPr/>
          <p:nvPr/>
        </p:nvSpPr>
        <p:spPr>
          <a:xfrm>
            <a:off x="7270958" y="3134933"/>
            <a:ext cx="2241752" cy="679792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B65D4EE-05D6-4835-80D1-8ABEDDE27C07}"/>
              </a:ext>
            </a:extLst>
          </p:cNvPr>
          <p:cNvCxnSpPr/>
          <p:nvPr/>
        </p:nvCxnSpPr>
        <p:spPr>
          <a:xfrm flipV="1">
            <a:off x="7860891" y="1867039"/>
            <a:ext cx="1622321" cy="3304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D80142E-ED83-4714-87F0-05924F1D643A}"/>
              </a:ext>
            </a:extLst>
          </p:cNvPr>
          <p:cNvSpPr txBox="1"/>
          <p:nvPr/>
        </p:nvSpPr>
        <p:spPr>
          <a:xfrm>
            <a:off x="9452076" y="1646206"/>
            <a:ext cx="790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R5’.Q0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934ACB7-309B-4709-98E2-FE76D0EFB60F}"/>
              </a:ext>
            </a:extLst>
          </p:cNvPr>
          <p:cNvCxnSpPr/>
          <p:nvPr/>
        </p:nvCxnSpPr>
        <p:spPr>
          <a:xfrm flipV="1">
            <a:off x="10115752" y="1943783"/>
            <a:ext cx="517835" cy="6777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7D7305B-9BD9-43E9-A1C9-0B7BDC5F2D1D}"/>
              </a:ext>
            </a:extLst>
          </p:cNvPr>
          <p:cNvSpPr txBox="1"/>
          <p:nvPr/>
        </p:nvSpPr>
        <p:spPr>
          <a:xfrm>
            <a:off x="10633587" y="1867039"/>
            <a:ext cx="812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R5.Q0’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8629501-54E9-4F69-8BEA-143DE3127DB3}"/>
              </a:ext>
            </a:extLst>
          </p:cNvPr>
          <p:cNvCxnSpPr/>
          <p:nvPr/>
        </p:nvCxnSpPr>
        <p:spPr>
          <a:xfrm>
            <a:off x="9585632" y="3736067"/>
            <a:ext cx="339213" cy="580294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E763010-93E7-457B-914B-EFD3808AFB07}"/>
              </a:ext>
            </a:extLst>
          </p:cNvPr>
          <p:cNvSpPr txBox="1"/>
          <p:nvPr/>
        </p:nvSpPr>
        <p:spPr>
          <a:xfrm>
            <a:off x="9924845" y="4169064"/>
            <a:ext cx="871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R10.Q1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ED416B-9A6C-486F-B7C3-4D0B3D0F123C}"/>
              </a:ext>
            </a:extLst>
          </p:cNvPr>
          <p:cNvSpPr txBox="1"/>
          <p:nvPr/>
        </p:nvSpPr>
        <p:spPr>
          <a:xfrm>
            <a:off x="1701596" y="4189358"/>
            <a:ext cx="441345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D0 = (R5’.Q0) + (R5.Q0’) + (R10.Q1) + (Q1.Q0)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9632994-AE76-4149-832A-7308CF3FF055}"/>
              </a:ext>
            </a:extLst>
          </p:cNvPr>
          <p:cNvCxnSpPr/>
          <p:nvPr/>
        </p:nvCxnSpPr>
        <p:spPr>
          <a:xfrm>
            <a:off x="7860891" y="3583858"/>
            <a:ext cx="296520" cy="732503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53D9D10-B3B2-40D5-BD73-4C250C29187D}"/>
              </a:ext>
            </a:extLst>
          </p:cNvPr>
          <p:cNvSpPr txBox="1"/>
          <p:nvPr/>
        </p:nvSpPr>
        <p:spPr>
          <a:xfrm>
            <a:off x="8013032" y="4538396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Q1Q0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00D291-90E3-4F31-B828-E73888D57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Digital System Design Lecture 8 Fall 2026</a:t>
            </a:r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079556B-D9ED-7050-501C-E3E02EAB1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19</a:t>
            </a:fld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6CC4721-43E4-7FAA-2BEF-5D052ABCD759}"/>
              </a:ext>
            </a:extLst>
          </p:cNvPr>
          <p:cNvCxnSpPr/>
          <p:nvPr/>
        </p:nvCxnSpPr>
        <p:spPr>
          <a:xfrm>
            <a:off x="3362632" y="2197510"/>
            <a:ext cx="2663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9FD502E-7FF7-4955-8824-C53599A3671E}"/>
              </a:ext>
            </a:extLst>
          </p:cNvPr>
          <p:cNvCxnSpPr/>
          <p:nvPr/>
        </p:nvCxnSpPr>
        <p:spPr>
          <a:xfrm>
            <a:off x="2305050" y="2337645"/>
            <a:ext cx="0" cy="247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0974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7" grpId="0"/>
      <p:bldP spid="20" grpId="0"/>
      <p:bldP spid="23" grpId="0"/>
      <p:bldP spid="24" grpId="0" animBg="1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7C60C-7527-3E71-210D-4C52B84B2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48DA7-CC33-55DA-0E8F-338F7929B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4403"/>
            <a:ext cx="10515600" cy="59352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Present State to Next State Table using DFF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BED0F5D-1792-E8C2-4AAB-452A2111FCD2}"/>
              </a:ext>
            </a:extLst>
          </p:cNvPr>
          <p:cNvGraphicFramePr>
            <a:graphicFrameLocks noGrp="1"/>
          </p:cNvGraphicFramePr>
          <p:nvPr/>
        </p:nvGraphicFramePr>
        <p:xfrm>
          <a:off x="838197" y="579120"/>
          <a:ext cx="9201150" cy="627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101625544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80644805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44754764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6217316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97954396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28609064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227554836"/>
                    </a:ext>
                  </a:extLst>
                </a:gridCol>
              </a:tblGrid>
              <a:tr h="522387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Present State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Inputs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Next State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Output </a:t>
                      </a:r>
                    </a:p>
                    <a:p>
                      <a:pPr algn="ctr"/>
                      <a:r>
                        <a:rPr lang="en-US" sz="1600" b="1" dirty="0"/>
                        <a:t>OPEN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499052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highlight>
                            <a:srgbClr val="0000FF"/>
                          </a:highlight>
                        </a:rP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highlight>
                            <a:srgbClr val="0000FF"/>
                          </a:highlight>
                        </a:rPr>
                        <a:t>Q0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highlight>
                            <a:srgbClr val="0000FF"/>
                          </a:highlight>
                        </a:rPr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highlight>
                            <a:srgbClr val="0000FF"/>
                          </a:highlight>
                        </a:rPr>
                        <a:t>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highlight>
                            <a:srgbClr val="0000FF"/>
                          </a:highlight>
                        </a:rPr>
                        <a:t>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highlight>
                            <a:srgbClr val="0000FF"/>
                          </a:highlight>
                        </a:rPr>
                        <a:t>D0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428520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 (S0)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 (S0)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995907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 (S1)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539923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 (S2)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203162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819349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 (S1)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 (S1)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308633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 (S2)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35914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 (S3)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263364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394173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 (S2)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 (S2)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46944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 (S3)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833209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 (S3)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745261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6720400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 (S3)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 (S3) 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055464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 (S3)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992174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 (S3)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038434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57757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BAA5C7-1F7A-7EAC-2536-CC368DFCC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20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2E320A1-BEC2-1C52-96F9-7CCF720B0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Digital System Design Lecture 8 Fall 2026</a:t>
            </a:r>
            <a:endParaRPr lang="en-US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BDCC947-E604-33A7-2037-D462F9C01FA2}"/>
                  </a:ext>
                </a:extLst>
              </p14:cNvPr>
              <p14:cNvContentPartPr/>
              <p14:nvPr/>
            </p14:nvContentPartPr>
            <p14:xfrm>
              <a:off x="9936200" y="2316400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BDCC947-E604-33A7-2037-D462F9C01FA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18560" y="2208400"/>
                <a:ext cx="360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911FA0BE-9948-414E-5617-989A0CFD2C4F}"/>
              </a:ext>
            </a:extLst>
          </p:cNvPr>
          <p:cNvSpPr/>
          <p:nvPr/>
        </p:nvSpPr>
        <p:spPr>
          <a:xfrm>
            <a:off x="1310640" y="1849120"/>
            <a:ext cx="5618480" cy="2844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E2235C-A17A-199D-A515-8652B38D2920}"/>
              </a:ext>
            </a:extLst>
          </p:cNvPr>
          <p:cNvSpPr/>
          <p:nvPr/>
        </p:nvSpPr>
        <p:spPr>
          <a:xfrm>
            <a:off x="1310640" y="2174160"/>
            <a:ext cx="5618480" cy="2844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BE4CCF-4985-E2B2-9FCC-3101C11DBD2C}"/>
              </a:ext>
            </a:extLst>
          </p:cNvPr>
          <p:cNvSpPr/>
          <p:nvPr/>
        </p:nvSpPr>
        <p:spPr>
          <a:xfrm>
            <a:off x="1310640" y="2499200"/>
            <a:ext cx="5618480" cy="2844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265DD6-0357-7AFD-D72A-30D2C96DB191}"/>
              </a:ext>
            </a:extLst>
          </p:cNvPr>
          <p:cNvSpPr/>
          <p:nvPr/>
        </p:nvSpPr>
        <p:spPr>
          <a:xfrm>
            <a:off x="1310640" y="3173678"/>
            <a:ext cx="5618480" cy="2844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AC99D1-F893-7601-8C23-7CFB71B23CDC}"/>
              </a:ext>
            </a:extLst>
          </p:cNvPr>
          <p:cNvSpPr/>
          <p:nvPr/>
        </p:nvSpPr>
        <p:spPr>
          <a:xfrm>
            <a:off x="1310640" y="3498481"/>
            <a:ext cx="5618480" cy="2844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C4C15F-E489-C5CC-96BF-C3474B755DFA}"/>
              </a:ext>
            </a:extLst>
          </p:cNvPr>
          <p:cNvSpPr/>
          <p:nvPr/>
        </p:nvSpPr>
        <p:spPr>
          <a:xfrm>
            <a:off x="1310640" y="3823284"/>
            <a:ext cx="5618480" cy="2844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D881C5-51F6-5CF8-5242-D595E5BB1E65}"/>
              </a:ext>
            </a:extLst>
          </p:cNvPr>
          <p:cNvSpPr/>
          <p:nvPr/>
        </p:nvSpPr>
        <p:spPr>
          <a:xfrm>
            <a:off x="1310640" y="4148087"/>
            <a:ext cx="5618480" cy="2844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C7EDC9-75DB-0B16-1CBD-6FE7FF809A06}"/>
              </a:ext>
            </a:extLst>
          </p:cNvPr>
          <p:cNvSpPr/>
          <p:nvPr/>
        </p:nvSpPr>
        <p:spPr>
          <a:xfrm>
            <a:off x="1310640" y="4496037"/>
            <a:ext cx="5618480" cy="2844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204A1C-DA43-EF65-89DB-4CB072FF29FC}"/>
              </a:ext>
            </a:extLst>
          </p:cNvPr>
          <p:cNvSpPr/>
          <p:nvPr/>
        </p:nvSpPr>
        <p:spPr>
          <a:xfrm>
            <a:off x="1310640" y="4843987"/>
            <a:ext cx="5618480" cy="2844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50A6D5-7F86-4102-7455-4EAA46E695EE}"/>
              </a:ext>
            </a:extLst>
          </p:cNvPr>
          <p:cNvSpPr/>
          <p:nvPr/>
        </p:nvSpPr>
        <p:spPr>
          <a:xfrm>
            <a:off x="1310640" y="5191937"/>
            <a:ext cx="5618480" cy="2844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DB15F15-BEC4-AFB3-1D24-EB3FB455B4FE}"/>
              </a:ext>
            </a:extLst>
          </p:cNvPr>
          <p:cNvSpPr/>
          <p:nvPr/>
        </p:nvSpPr>
        <p:spPr>
          <a:xfrm>
            <a:off x="1310640" y="5539887"/>
            <a:ext cx="5618480" cy="2844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376DA4-EF87-8CAB-080E-FD28C4D39769}"/>
              </a:ext>
            </a:extLst>
          </p:cNvPr>
          <p:cNvSpPr/>
          <p:nvPr/>
        </p:nvSpPr>
        <p:spPr>
          <a:xfrm>
            <a:off x="1310640" y="5887837"/>
            <a:ext cx="5618480" cy="2844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D37A62-389B-3FCE-1EA6-E06A1AE7989D}"/>
              </a:ext>
            </a:extLst>
          </p:cNvPr>
          <p:cNvSpPr/>
          <p:nvPr/>
        </p:nvSpPr>
        <p:spPr>
          <a:xfrm>
            <a:off x="1310640" y="6235787"/>
            <a:ext cx="5618480" cy="2844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08B08A4-66D7-54D2-8971-45DF60C53501}"/>
              </a:ext>
            </a:extLst>
          </p:cNvPr>
          <p:cNvSpPr/>
          <p:nvPr/>
        </p:nvSpPr>
        <p:spPr>
          <a:xfrm>
            <a:off x="1310640" y="6583737"/>
            <a:ext cx="5618480" cy="2844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47F14C22-AC34-B422-62C1-43CE9EBF1C19}"/>
                  </a:ext>
                </a:extLst>
              </p14:cNvPr>
              <p14:cNvContentPartPr/>
              <p14:nvPr/>
            </p14:nvContentPartPr>
            <p14:xfrm>
              <a:off x="6523760" y="2091400"/>
              <a:ext cx="376200" cy="3992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47F14C22-AC34-B422-62C1-43CE9EBF1C1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05760" y="1983760"/>
                <a:ext cx="411840" cy="61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958B2E4-5EE6-0D42-0A3F-0205AA5DC0D0}"/>
                  </a:ext>
                </a:extLst>
              </p14:cNvPr>
              <p14:cNvContentPartPr/>
              <p14:nvPr/>
            </p14:nvContentPartPr>
            <p14:xfrm>
              <a:off x="6542120" y="2509000"/>
              <a:ext cx="368280" cy="3675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958B2E4-5EE6-0D42-0A3F-0205AA5DC0D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24120" y="2401000"/>
                <a:ext cx="403920" cy="58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A6F93F9C-E4DE-6FE1-4108-8F58BBBF5C16}"/>
                  </a:ext>
                </a:extLst>
              </p14:cNvPr>
              <p14:cNvContentPartPr/>
              <p14:nvPr/>
            </p14:nvContentPartPr>
            <p14:xfrm>
              <a:off x="6570560" y="3179320"/>
              <a:ext cx="339480" cy="3564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A6F93F9C-E4DE-6FE1-4108-8F58BBBF5C1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552920" y="3071320"/>
                <a:ext cx="375120" cy="57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B8DFB27-6C41-EBFB-97E0-A381831E3554}"/>
                  </a:ext>
                </a:extLst>
              </p14:cNvPr>
              <p14:cNvContentPartPr/>
              <p14:nvPr/>
            </p14:nvContentPartPr>
            <p14:xfrm>
              <a:off x="6542120" y="3545800"/>
              <a:ext cx="389520" cy="3351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B8DFB27-6C41-EBFB-97E0-A381831E355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24120" y="3437800"/>
                <a:ext cx="425160" cy="55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7F49317B-A47D-7DB1-98F4-12C1B7B01C54}"/>
              </a:ext>
            </a:extLst>
          </p:cNvPr>
          <p:cNvGrpSpPr/>
          <p:nvPr/>
        </p:nvGrpSpPr>
        <p:grpSpPr>
          <a:xfrm>
            <a:off x="6421520" y="3893920"/>
            <a:ext cx="663480" cy="2985120"/>
            <a:chOff x="6421520" y="3893920"/>
            <a:chExt cx="663480" cy="298512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6052312-F632-7A0D-7648-BD39CB50C166}"/>
                    </a:ext>
                  </a:extLst>
                </p14:cNvPr>
                <p14:cNvContentPartPr/>
                <p14:nvPr/>
              </p14:nvContentPartPr>
              <p14:xfrm>
                <a:off x="6551120" y="3893920"/>
                <a:ext cx="359640" cy="3236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6052312-F632-7A0D-7648-BD39CB50C16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533120" y="3785920"/>
                  <a:ext cx="395280" cy="53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0520AC3-7C8F-EEA3-8E93-771047BB1B21}"/>
                    </a:ext>
                  </a:extLst>
                </p14:cNvPr>
                <p14:cNvContentPartPr/>
                <p14:nvPr/>
              </p14:nvContentPartPr>
              <p14:xfrm>
                <a:off x="6540680" y="4236640"/>
                <a:ext cx="441000" cy="275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0520AC3-7C8F-EEA3-8E93-771047BB1B2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523040" y="4129000"/>
                  <a:ext cx="476640" cy="49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6800ACA-DF25-75AC-C256-D4284C382E84}"/>
                    </a:ext>
                  </a:extLst>
                </p14:cNvPr>
                <p14:cNvContentPartPr/>
                <p14:nvPr/>
              </p14:nvContentPartPr>
              <p14:xfrm>
                <a:off x="6540680" y="4530760"/>
                <a:ext cx="410040" cy="367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6800ACA-DF25-75AC-C256-D4284C382E8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522680" y="4422760"/>
                  <a:ext cx="445680" cy="58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522E5C2-0153-BA83-13C9-C3C5A24AB534}"/>
                    </a:ext>
                  </a:extLst>
                </p14:cNvPr>
                <p14:cNvContentPartPr/>
                <p14:nvPr/>
              </p14:nvContentPartPr>
              <p14:xfrm>
                <a:off x="6583520" y="4895800"/>
                <a:ext cx="276840" cy="253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522E5C2-0153-BA83-13C9-C3C5A24AB53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565520" y="4787800"/>
                  <a:ext cx="31248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5B05B71-4146-65C6-6876-1382CA18378C}"/>
                    </a:ext>
                  </a:extLst>
                </p14:cNvPr>
                <p14:cNvContentPartPr/>
                <p14:nvPr/>
              </p14:nvContentPartPr>
              <p14:xfrm>
                <a:off x="6593240" y="5088400"/>
                <a:ext cx="417240" cy="4298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5B05B71-4146-65C6-6876-1382CA18378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575240" y="4980760"/>
                  <a:ext cx="452880" cy="64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3B23201-C565-A427-7427-A27861946D37}"/>
                    </a:ext>
                  </a:extLst>
                </p14:cNvPr>
                <p14:cNvContentPartPr/>
                <p14:nvPr/>
              </p14:nvContentPartPr>
              <p14:xfrm>
                <a:off x="6561920" y="5441920"/>
                <a:ext cx="347760" cy="4114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3B23201-C565-A427-7427-A27861946D3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543920" y="5333920"/>
                  <a:ext cx="383400" cy="62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CDB84BA-018A-B636-DCC1-DC9F4D43A4F2}"/>
                    </a:ext>
                  </a:extLst>
                </p14:cNvPr>
                <p14:cNvContentPartPr/>
                <p14:nvPr/>
              </p14:nvContentPartPr>
              <p14:xfrm>
                <a:off x="6593240" y="5870680"/>
                <a:ext cx="307080" cy="3664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CDB84BA-018A-B636-DCC1-DC9F4D43A4F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575240" y="5762680"/>
                  <a:ext cx="342720" cy="58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6053713-E255-18F3-D872-8FD2D3780B2C}"/>
                    </a:ext>
                  </a:extLst>
                </p14:cNvPr>
                <p14:cNvContentPartPr/>
                <p14:nvPr/>
              </p14:nvContentPartPr>
              <p14:xfrm>
                <a:off x="6542120" y="6217720"/>
                <a:ext cx="542880" cy="326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6053713-E255-18F3-D872-8FD2D3780B2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524120" y="6110080"/>
                  <a:ext cx="578520" cy="54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7FCC85F-4C74-6E29-2FDB-778F504FF42F}"/>
                    </a:ext>
                  </a:extLst>
                </p14:cNvPr>
                <p14:cNvContentPartPr/>
                <p14:nvPr/>
              </p14:nvContentPartPr>
              <p14:xfrm>
                <a:off x="6421520" y="6581320"/>
                <a:ext cx="529920" cy="2977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7FCC85F-4C74-6E29-2FDB-778F504FF42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03880" y="6473320"/>
                  <a:ext cx="565560" cy="513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34916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8D505-3D8F-4E34-9C06-AE2A00E8A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Characteristic Equation for D1 using K-Map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54A7D09-F6DE-46BD-A996-AD5E738704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39639"/>
              </p:ext>
            </p:extLst>
          </p:nvPr>
        </p:nvGraphicFramePr>
        <p:xfrm>
          <a:off x="1869768" y="2002776"/>
          <a:ext cx="8128000" cy="18542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62555637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0736919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574924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3977666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6581262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R10,R5\Q1Q0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78293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7316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770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7198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5145625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DC691B4-44A5-4FB1-87C8-9F0E3C21E7D2}"/>
              </a:ext>
            </a:extLst>
          </p:cNvPr>
          <p:cNvCxnSpPr/>
          <p:nvPr/>
        </p:nvCxnSpPr>
        <p:spPr>
          <a:xfrm>
            <a:off x="1666568" y="2197510"/>
            <a:ext cx="0" cy="1386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057FC64-5779-4D3D-8ECB-9063CE40F73D}"/>
              </a:ext>
            </a:extLst>
          </p:cNvPr>
          <p:cNvCxnSpPr/>
          <p:nvPr/>
        </p:nvCxnSpPr>
        <p:spPr>
          <a:xfrm>
            <a:off x="3008672" y="1867039"/>
            <a:ext cx="56043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5DF0893-62F3-4372-9024-E44E287C7A64}"/>
              </a:ext>
            </a:extLst>
          </p:cNvPr>
          <p:cNvSpPr/>
          <p:nvPr/>
        </p:nvSpPr>
        <p:spPr>
          <a:xfrm>
            <a:off x="3982065" y="3156155"/>
            <a:ext cx="5545393" cy="79582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5270629-6BF8-4EA9-8FD4-F70602C12653}"/>
              </a:ext>
            </a:extLst>
          </p:cNvPr>
          <p:cNvSpPr/>
          <p:nvPr/>
        </p:nvSpPr>
        <p:spPr>
          <a:xfrm>
            <a:off x="7388942" y="2330245"/>
            <a:ext cx="2035277" cy="1526731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8FB6103-063B-498D-90D8-EA8A276DB92B}"/>
              </a:ext>
            </a:extLst>
          </p:cNvPr>
          <p:cNvSpPr/>
          <p:nvPr/>
        </p:nvSpPr>
        <p:spPr>
          <a:xfrm>
            <a:off x="5766619" y="2757948"/>
            <a:ext cx="2138516" cy="825910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6E4B146-5157-45E8-BFAD-1C2A7AC01D0E}"/>
              </a:ext>
            </a:extLst>
          </p:cNvPr>
          <p:cNvCxnSpPr/>
          <p:nvPr/>
        </p:nvCxnSpPr>
        <p:spPr>
          <a:xfrm flipV="1">
            <a:off x="8613059" y="1690688"/>
            <a:ext cx="634180" cy="63955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8FCB574-E962-4A44-893A-99CD2FC927A7}"/>
              </a:ext>
            </a:extLst>
          </p:cNvPr>
          <p:cNvSpPr txBox="1"/>
          <p:nvPr/>
        </p:nvSpPr>
        <p:spPr>
          <a:xfrm>
            <a:off x="9195631" y="1434651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Q1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0513846-4FED-4909-AE3C-2FBD59003581}"/>
              </a:ext>
            </a:extLst>
          </p:cNvPr>
          <p:cNvCxnSpPr>
            <a:cxnSpLocks/>
          </p:cNvCxnSpPr>
          <p:nvPr/>
        </p:nvCxnSpPr>
        <p:spPr>
          <a:xfrm>
            <a:off x="4675239" y="3992712"/>
            <a:ext cx="471948" cy="535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CD78F55-4277-49C8-88A6-89E547C9A9BC}"/>
              </a:ext>
            </a:extLst>
          </p:cNvPr>
          <p:cNvSpPr txBox="1"/>
          <p:nvPr/>
        </p:nvSpPr>
        <p:spPr>
          <a:xfrm>
            <a:off x="5147187" y="4390919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R10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0C26DDC-DBF3-46A7-A439-B97AE6F703D8}"/>
              </a:ext>
            </a:extLst>
          </p:cNvPr>
          <p:cNvCxnSpPr/>
          <p:nvPr/>
        </p:nvCxnSpPr>
        <p:spPr>
          <a:xfrm>
            <a:off x="7005484" y="3583858"/>
            <a:ext cx="383458" cy="67637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6EDDE4F-CFF7-4250-B70C-48D3B8E2043E}"/>
              </a:ext>
            </a:extLst>
          </p:cNvPr>
          <p:cNvSpPr txBox="1"/>
          <p:nvPr/>
        </p:nvSpPr>
        <p:spPr>
          <a:xfrm>
            <a:off x="7269820" y="4225102"/>
            <a:ext cx="754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R5.Q0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A5EAB3-A8E0-43AF-99DB-47BB1C6A8B51}"/>
              </a:ext>
            </a:extLst>
          </p:cNvPr>
          <p:cNvSpPr txBox="1"/>
          <p:nvPr/>
        </p:nvSpPr>
        <p:spPr>
          <a:xfrm>
            <a:off x="4675239" y="5482907"/>
            <a:ext cx="2450414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D1 = Q1 + R10 + (R5.Q0)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D0098A-EE80-4A92-84B8-6704C2CD6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Digital System Design Lecture 8 Fall 2026</a:t>
            </a:r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6F5BDF0-CD92-CE6B-A5D4-6F0E8A534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21</a:t>
            </a:fld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FB09567-BAA6-7A0B-8F3E-2C0330BEA09C}"/>
              </a:ext>
            </a:extLst>
          </p:cNvPr>
          <p:cNvCxnSpPr/>
          <p:nvPr/>
        </p:nvCxnSpPr>
        <p:spPr>
          <a:xfrm>
            <a:off x="3362632" y="2197510"/>
            <a:ext cx="2663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C2634E8-0F84-FDB2-455D-A58BDA37BE0C}"/>
              </a:ext>
            </a:extLst>
          </p:cNvPr>
          <p:cNvCxnSpPr/>
          <p:nvPr/>
        </p:nvCxnSpPr>
        <p:spPr>
          <a:xfrm>
            <a:off x="2305050" y="2337645"/>
            <a:ext cx="0" cy="247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4972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2" grpId="0"/>
      <p:bldP spid="16" grpId="0"/>
      <p:bldP spid="20" grpId="0"/>
      <p:bldP spid="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A1F3A-ADE8-F6A2-B3FE-A6823A26C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477B2-7C5D-09E9-0F38-444187FE4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4403"/>
            <a:ext cx="10515600" cy="59352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Present State to Next State Table using DFF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ABCD669-9693-CBBD-3C58-4A708E5121CE}"/>
              </a:ext>
            </a:extLst>
          </p:cNvPr>
          <p:cNvGraphicFramePr>
            <a:graphicFrameLocks noGrp="1"/>
          </p:cNvGraphicFramePr>
          <p:nvPr/>
        </p:nvGraphicFramePr>
        <p:xfrm>
          <a:off x="838197" y="579120"/>
          <a:ext cx="9201150" cy="627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101625544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80644805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44754764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6217316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97954396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28609064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227554836"/>
                    </a:ext>
                  </a:extLst>
                </a:gridCol>
              </a:tblGrid>
              <a:tr h="522387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Present State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Inputs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Next State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Output </a:t>
                      </a:r>
                    </a:p>
                    <a:p>
                      <a:pPr algn="ctr"/>
                      <a:r>
                        <a:rPr lang="en-US" sz="1600" b="1" dirty="0"/>
                        <a:t>OPEN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499052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highlight>
                            <a:srgbClr val="0000FF"/>
                          </a:highlight>
                        </a:rP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highlight>
                            <a:srgbClr val="0000FF"/>
                          </a:highlight>
                        </a:rPr>
                        <a:t>Q0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highlight>
                            <a:srgbClr val="0000FF"/>
                          </a:highlight>
                        </a:rPr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highlight>
                            <a:srgbClr val="0000FF"/>
                          </a:highlight>
                        </a:rPr>
                        <a:t>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highlight>
                            <a:srgbClr val="0000FF"/>
                          </a:highlight>
                        </a:rPr>
                        <a:t>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highlight>
                            <a:srgbClr val="0000FF"/>
                          </a:highlight>
                        </a:rPr>
                        <a:t>D0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428520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 (S0)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 (S0)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995907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 (S1)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539923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 (S2)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203162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819349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 (S1)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 (S1)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308633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 (S2)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35914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 (S3)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263364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394173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 (S2)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 (S2)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46944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 (S3)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833209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 (S3)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745261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6720400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 (S3)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 (S3) 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055464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 (S3)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992174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 (S3)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038434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57757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4B70A5-057E-DF01-5191-9D8F8AE85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22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75C6D8D-61F0-5E60-948D-BEDDC8C0F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Digital System Design Lecture 8 Fall 2026</a:t>
            </a:r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122AD8D-F234-7F55-6BE7-BBF5E36882C0}"/>
                  </a:ext>
                </a:extLst>
              </p14:cNvPr>
              <p14:cNvContentPartPr/>
              <p14:nvPr/>
            </p14:nvContentPartPr>
            <p14:xfrm>
              <a:off x="9088040" y="5540600"/>
              <a:ext cx="523440" cy="10389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122AD8D-F234-7F55-6BE7-BBF5E36882C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70400" y="5522600"/>
                <a:ext cx="559080" cy="10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5A874D5-ECFD-B416-5879-22AC198DCBCB}"/>
                  </a:ext>
                </a:extLst>
              </p14:cNvPr>
              <p14:cNvContentPartPr/>
              <p14:nvPr/>
            </p14:nvContentPartPr>
            <p14:xfrm>
              <a:off x="9220160" y="6559040"/>
              <a:ext cx="309240" cy="3092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5A874D5-ECFD-B416-5879-22AC198DCBC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202160" y="6451040"/>
                <a:ext cx="344880" cy="52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9A36B83-141C-E9C0-069C-A2F6E0E51335}"/>
                  </a:ext>
                </a:extLst>
              </p14:cNvPr>
              <p14:cNvContentPartPr/>
              <p14:nvPr/>
            </p14:nvContentPartPr>
            <p14:xfrm>
              <a:off x="9218000" y="5228480"/>
              <a:ext cx="346320" cy="3445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9A36B83-141C-E9C0-069C-A2F6E0E5133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200000" y="5120480"/>
                <a:ext cx="381960" cy="56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C15AD7D-DB0F-7D82-C227-89639C2BC6A2}"/>
                  </a:ext>
                </a:extLst>
              </p14:cNvPr>
              <p14:cNvContentPartPr/>
              <p14:nvPr/>
            </p14:nvContentPartPr>
            <p14:xfrm>
              <a:off x="9244280" y="3820160"/>
              <a:ext cx="227520" cy="3668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C15AD7D-DB0F-7D82-C227-89639C2BC6A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26280" y="3712520"/>
                <a:ext cx="263160" cy="58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3A7479C-78EF-D956-D0E9-CB8CC200FEEF}"/>
                  </a:ext>
                </a:extLst>
              </p14:cNvPr>
              <p14:cNvContentPartPr/>
              <p14:nvPr/>
            </p14:nvContentPartPr>
            <p14:xfrm>
              <a:off x="9240680" y="2540000"/>
              <a:ext cx="268920" cy="3567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3A7479C-78EF-D956-D0E9-CB8CC200FEE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223040" y="2432000"/>
                <a:ext cx="304560" cy="57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A70A75DE-3977-6132-0E50-DA2E927087C4}"/>
              </a:ext>
            </a:extLst>
          </p:cNvPr>
          <p:cNvGrpSpPr/>
          <p:nvPr/>
        </p:nvGrpSpPr>
        <p:grpSpPr>
          <a:xfrm>
            <a:off x="9418160" y="2763200"/>
            <a:ext cx="2562120" cy="3983040"/>
            <a:chOff x="9418160" y="2763200"/>
            <a:chExt cx="2562120" cy="398304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4989292-F9AD-8921-7C1A-3278547673B9}"/>
                    </a:ext>
                  </a:extLst>
                </p14:cNvPr>
                <p14:cNvContentPartPr/>
                <p14:nvPr/>
              </p14:nvContentPartPr>
              <p14:xfrm>
                <a:off x="9489440" y="2763200"/>
                <a:ext cx="908280" cy="982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4989292-F9AD-8921-7C1A-3278547673B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471440" y="2655560"/>
                  <a:ext cx="943920" cy="11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BD7DEBB-1EAF-49A3-F80C-0E240C90D73A}"/>
                    </a:ext>
                  </a:extLst>
                </p14:cNvPr>
                <p14:cNvContentPartPr/>
                <p14:nvPr/>
              </p14:nvContentPartPr>
              <p14:xfrm>
                <a:off x="9418160" y="3594440"/>
                <a:ext cx="754200" cy="5306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BD7DEBB-1EAF-49A3-F80C-0E240C90D73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400160" y="3486440"/>
                  <a:ext cx="789840" cy="74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7E8E20A-974B-FBF9-A7E4-97CE915368E3}"/>
                    </a:ext>
                  </a:extLst>
                </p14:cNvPr>
                <p14:cNvContentPartPr/>
                <p14:nvPr/>
              </p14:nvContentPartPr>
              <p14:xfrm>
                <a:off x="9519680" y="3632960"/>
                <a:ext cx="695520" cy="1772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7E8E20A-974B-FBF9-A7E4-97CE915368E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502040" y="3524960"/>
                  <a:ext cx="731160" cy="19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6C960FD-71AA-0645-45E8-367F7D65132E}"/>
                    </a:ext>
                  </a:extLst>
                </p14:cNvPr>
                <p14:cNvContentPartPr/>
                <p14:nvPr/>
              </p14:nvContentPartPr>
              <p14:xfrm>
                <a:off x="9672320" y="3686600"/>
                <a:ext cx="794160" cy="23180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6C960FD-71AA-0645-45E8-367F7D65132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654320" y="3578600"/>
                  <a:ext cx="829800" cy="253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426DAD5-0C76-A166-BEA3-D741C771D441}"/>
                    </a:ext>
                  </a:extLst>
                </p14:cNvPr>
                <p14:cNvContentPartPr/>
                <p14:nvPr/>
              </p14:nvContentPartPr>
              <p14:xfrm>
                <a:off x="9519680" y="3737000"/>
                <a:ext cx="1270800" cy="30092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426DAD5-0C76-A166-BEA3-D741C771D44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502040" y="3629360"/>
                  <a:ext cx="1306440" cy="322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9F595E0-CB51-956D-FC59-27FCFB521ECB}"/>
                    </a:ext>
                  </a:extLst>
                </p14:cNvPr>
                <p14:cNvContentPartPr/>
                <p14:nvPr/>
              </p14:nvContentPartPr>
              <p14:xfrm>
                <a:off x="10688240" y="3708200"/>
                <a:ext cx="216360" cy="196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9F595E0-CB51-956D-FC59-27FCFB521EC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670240" y="3600560"/>
                  <a:ext cx="25200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DF0BE3E-2B97-5392-D878-9242C4B8901A}"/>
                    </a:ext>
                  </a:extLst>
                </p14:cNvPr>
                <p14:cNvContentPartPr/>
                <p14:nvPr/>
              </p14:nvContentPartPr>
              <p14:xfrm>
                <a:off x="10759160" y="3494720"/>
                <a:ext cx="77400" cy="2646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DF0BE3E-2B97-5392-D878-9242C4B8901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741520" y="3387080"/>
                  <a:ext cx="113040" cy="4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4C9A098-D0FC-C442-FCD5-5EF00C0BE1F5}"/>
                    </a:ext>
                  </a:extLst>
                </p14:cNvPr>
                <p14:cNvContentPartPr/>
                <p14:nvPr/>
              </p14:nvContentPartPr>
              <p14:xfrm>
                <a:off x="10728920" y="3413720"/>
                <a:ext cx="360" cy="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4C9A098-D0FC-C442-FCD5-5EF00C0BE1F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710920" y="3305720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0F538CD-536B-B527-0FE1-ED4573B38934}"/>
                    </a:ext>
                  </a:extLst>
                </p14:cNvPr>
                <p14:cNvContentPartPr/>
                <p14:nvPr/>
              </p14:nvContentPartPr>
              <p14:xfrm>
                <a:off x="10921520" y="3533600"/>
                <a:ext cx="136800" cy="2199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0F538CD-536B-B527-0FE1-ED4573B3893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903520" y="3425600"/>
                  <a:ext cx="172440" cy="43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B62C1C1-8AA7-21AA-9580-255F483375A8}"/>
                    </a:ext>
                  </a:extLst>
                </p14:cNvPr>
                <p14:cNvContentPartPr/>
                <p14:nvPr/>
              </p14:nvContentPartPr>
              <p14:xfrm>
                <a:off x="11338400" y="3149480"/>
                <a:ext cx="72360" cy="552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B62C1C1-8AA7-21AA-9580-255F483375A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320400" y="3041480"/>
                  <a:ext cx="108000" cy="76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AC1E0EB-B88A-7637-07BE-C2D8782508D7}"/>
                    </a:ext>
                  </a:extLst>
                </p14:cNvPr>
                <p14:cNvContentPartPr/>
                <p14:nvPr/>
              </p14:nvContentPartPr>
              <p14:xfrm>
                <a:off x="11375120" y="3261080"/>
                <a:ext cx="220680" cy="429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AC1E0EB-B88A-7637-07BE-C2D8782508D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357120" y="3153440"/>
                  <a:ext cx="256320" cy="64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8D605CD-BF41-5B59-6403-A7FB9051CF35}"/>
                    </a:ext>
                  </a:extLst>
                </p14:cNvPr>
                <p14:cNvContentPartPr/>
                <p14:nvPr/>
              </p14:nvContentPartPr>
              <p14:xfrm>
                <a:off x="11320400" y="3797480"/>
                <a:ext cx="203040" cy="298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8D605CD-BF41-5B59-6403-A7FB9051CF3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302400" y="3689480"/>
                  <a:ext cx="238680" cy="51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8DF7562-CB92-6BD9-23BB-04316C4830E2}"/>
                    </a:ext>
                  </a:extLst>
                </p14:cNvPr>
                <p14:cNvContentPartPr/>
                <p14:nvPr/>
              </p14:nvContentPartPr>
              <p14:xfrm>
                <a:off x="11623520" y="3733040"/>
                <a:ext cx="139680" cy="2664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8DF7562-CB92-6BD9-23BB-04316C4830E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605880" y="3625400"/>
                  <a:ext cx="17532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61A5E6F-6B87-F613-0AE6-66CC9E9E5DF2}"/>
                    </a:ext>
                  </a:extLst>
                </p14:cNvPr>
                <p14:cNvContentPartPr/>
                <p14:nvPr/>
              </p14:nvContentPartPr>
              <p14:xfrm>
                <a:off x="11876960" y="3738800"/>
                <a:ext cx="72360" cy="6339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61A5E6F-6B87-F613-0AE6-66CC9E9E5DF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858960" y="3630800"/>
                  <a:ext cx="108000" cy="84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E197CE0-CCE6-CCD7-F588-0C570AB7C3BA}"/>
                    </a:ext>
                  </a:extLst>
                </p14:cNvPr>
                <p14:cNvContentPartPr/>
                <p14:nvPr/>
              </p14:nvContentPartPr>
              <p14:xfrm>
                <a:off x="11876960" y="3774800"/>
                <a:ext cx="103320" cy="1825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E197CE0-CCE6-CCD7-F588-0C570AB7C3B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858960" y="3667160"/>
                  <a:ext cx="13896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4712301-278B-B599-2F82-4D935EDE9261}"/>
                    </a:ext>
                  </a:extLst>
                </p14:cNvPr>
                <p14:cNvContentPartPr/>
                <p14:nvPr/>
              </p14:nvContentPartPr>
              <p14:xfrm>
                <a:off x="10424000" y="3144800"/>
                <a:ext cx="216360" cy="2584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4712301-278B-B599-2F82-4D935EDE926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406000" y="3037160"/>
                  <a:ext cx="252000" cy="47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CF31CB6-3FEB-7B5B-2608-2DEBB6CE4659}"/>
                    </a:ext>
                  </a:extLst>
                </p14:cNvPr>
                <p14:cNvContentPartPr/>
                <p14:nvPr/>
              </p14:nvContentPartPr>
              <p14:xfrm>
                <a:off x="10709840" y="2986760"/>
                <a:ext cx="91440" cy="2970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CF31CB6-3FEB-7B5B-2608-2DEBB6CE465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691840" y="2879120"/>
                  <a:ext cx="127080" cy="51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8633541-C998-C73D-4645-57B58686FAC1}"/>
                    </a:ext>
                  </a:extLst>
                </p14:cNvPr>
                <p14:cNvContentPartPr/>
                <p14:nvPr/>
              </p14:nvContentPartPr>
              <p14:xfrm>
                <a:off x="10871120" y="3045440"/>
                <a:ext cx="171720" cy="226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8633541-C998-C73D-4645-57B58686FAC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853120" y="2937440"/>
                  <a:ext cx="207360" cy="441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8842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AB00D-9AC2-4F53-AE17-7505D08CC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Characteristic Equation for OPEN using K-Map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59ED35E-B7C4-48C5-B829-6BBD011916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771019"/>
              </p:ext>
            </p:extLst>
          </p:nvPr>
        </p:nvGraphicFramePr>
        <p:xfrm>
          <a:off x="1869768" y="2002776"/>
          <a:ext cx="8128000" cy="18542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62555637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0736919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574924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3977666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6581262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R10,R5\Q1Q0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78293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7316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770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7198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5145625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460C064-A1FA-44EE-9ECC-728A0C44F6BE}"/>
              </a:ext>
            </a:extLst>
          </p:cNvPr>
          <p:cNvCxnSpPr/>
          <p:nvPr/>
        </p:nvCxnSpPr>
        <p:spPr>
          <a:xfrm>
            <a:off x="1666568" y="2197510"/>
            <a:ext cx="0" cy="1386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DD74AAF-3197-4D93-BBF0-69CC17707322}"/>
              </a:ext>
            </a:extLst>
          </p:cNvPr>
          <p:cNvCxnSpPr/>
          <p:nvPr/>
        </p:nvCxnSpPr>
        <p:spPr>
          <a:xfrm>
            <a:off x="3008672" y="1867039"/>
            <a:ext cx="56043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E1C1970-3CE2-4304-8E80-43B246718C8B}"/>
              </a:ext>
            </a:extLst>
          </p:cNvPr>
          <p:cNvSpPr/>
          <p:nvPr/>
        </p:nvSpPr>
        <p:spPr>
          <a:xfrm>
            <a:off x="7300452" y="2330245"/>
            <a:ext cx="575187" cy="166246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4933AF7-1565-4752-A5D1-E8CF86561F0A}"/>
              </a:ext>
            </a:extLst>
          </p:cNvPr>
          <p:cNvCxnSpPr/>
          <p:nvPr/>
        </p:nvCxnSpPr>
        <p:spPr>
          <a:xfrm>
            <a:off x="7875639" y="3992712"/>
            <a:ext cx="737420" cy="402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C4F4A99-DDF2-4BA6-98AB-1746BD58943A}"/>
              </a:ext>
            </a:extLst>
          </p:cNvPr>
          <p:cNvSpPr txBox="1"/>
          <p:nvPr/>
        </p:nvSpPr>
        <p:spPr>
          <a:xfrm>
            <a:off x="8613059" y="4246913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Q1Q0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A6EA8C-C69C-4382-9327-89138339F616}"/>
              </a:ext>
            </a:extLst>
          </p:cNvPr>
          <p:cNvSpPr txBox="1"/>
          <p:nvPr/>
        </p:nvSpPr>
        <p:spPr>
          <a:xfrm>
            <a:off x="4857136" y="4959752"/>
            <a:ext cx="1483098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OPEN = Q1Q0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1A922E-F370-4CCB-842B-AFA90B005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Digital System Design Lecture 8 Fall 2026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BCEFC60-EF5F-08C4-0F56-52AFE19C3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23</a:t>
            </a:fld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97A02B0-69D8-222A-48CB-22AC0BAEF1DF}"/>
              </a:ext>
            </a:extLst>
          </p:cNvPr>
          <p:cNvCxnSpPr/>
          <p:nvPr/>
        </p:nvCxnSpPr>
        <p:spPr>
          <a:xfrm>
            <a:off x="3362632" y="2197510"/>
            <a:ext cx="2663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7DB0F0-0BE8-E9DE-A083-03ADC38AB5AE}"/>
              </a:ext>
            </a:extLst>
          </p:cNvPr>
          <p:cNvCxnSpPr/>
          <p:nvPr/>
        </p:nvCxnSpPr>
        <p:spPr>
          <a:xfrm>
            <a:off x="2305050" y="2337645"/>
            <a:ext cx="0" cy="247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6946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B20BB-3934-4731-90E5-1084387A5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388" y="149662"/>
            <a:ext cx="7243903" cy="59357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Vending Machine Circuit using DFF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0A0F1BB-6C80-4D17-9F24-D268EA0A098B}"/>
              </a:ext>
            </a:extLst>
          </p:cNvPr>
          <p:cNvCxnSpPr>
            <a:cxnSpLocks/>
          </p:cNvCxnSpPr>
          <p:nvPr/>
        </p:nvCxnSpPr>
        <p:spPr>
          <a:xfrm>
            <a:off x="4842656" y="1422230"/>
            <a:ext cx="71593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AAD4E29-6033-44B2-8CB6-DE57000FE032}"/>
              </a:ext>
            </a:extLst>
          </p:cNvPr>
          <p:cNvGrpSpPr/>
          <p:nvPr/>
        </p:nvGrpSpPr>
        <p:grpSpPr>
          <a:xfrm>
            <a:off x="6371303" y="1012627"/>
            <a:ext cx="1666569" cy="1185247"/>
            <a:chOff x="6651523" y="1454714"/>
            <a:chExt cx="1666569" cy="1185247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78AB93FD-A862-41B3-AEC7-7971C13E1AE8}"/>
                </a:ext>
              </a:extLst>
            </p:cNvPr>
            <p:cNvSpPr/>
            <p:nvPr/>
          </p:nvSpPr>
          <p:spPr>
            <a:xfrm>
              <a:off x="7005485" y="1454714"/>
              <a:ext cx="958645" cy="118524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50000"/>
                    </a:schemeClr>
                  </a:solidFill>
                </a:rPr>
                <a:t>DFF</a:t>
              </a:r>
            </a:p>
            <a:p>
              <a:pPr algn="ctr"/>
              <a:r>
                <a:rPr lang="en-US" dirty="0">
                  <a:solidFill>
                    <a:schemeClr val="accent1">
                      <a:lumMod val="50000"/>
                    </a:schemeClr>
                  </a:solidFill>
                </a:rPr>
                <a:t>0</a:t>
              </a:r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0889EEB7-30D4-4FBF-B801-4684EB5276E4}"/>
                </a:ext>
              </a:extLst>
            </p:cNvPr>
            <p:cNvGrpSpPr/>
            <p:nvPr/>
          </p:nvGrpSpPr>
          <p:grpSpPr>
            <a:xfrm>
              <a:off x="6651523" y="1769807"/>
              <a:ext cx="353962" cy="624348"/>
              <a:chOff x="6651523" y="1769807"/>
              <a:chExt cx="353962" cy="624348"/>
            </a:xfrm>
            <a:grpFill/>
          </p:grpSpPr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3555F091-0962-42A9-AF5E-42D4ED221D46}"/>
                  </a:ext>
                </a:extLst>
              </p:cNvPr>
              <p:cNvCxnSpPr/>
              <p:nvPr/>
            </p:nvCxnSpPr>
            <p:spPr>
              <a:xfrm>
                <a:off x="6651523" y="1769807"/>
                <a:ext cx="353962" cy="0"/>
              </a:xfrm>
              <a:prstGeom prst="line">
                <a:avLst/>
              </a:prstGeom>
              <a:grpFill/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0B4E3394-E935-4778-B758-8C040B596689}"/>
                  </a:ext>
                </a:extLst>
              </p:cNvPr>
              <p:cNvCxnSpPr/>
              <p:nvPr/>
            </p:nvCxnSpPr>
            <p:spPr>
              <a:xfrm>
                <a:off x="6651523" y="2394155"/>
                <a:ext cx="353962" cy="0"/>
              </a:xfrm>
              <a:prstGeom prst="line">
                <a:avLst/>
              </a:prstGeom>
              <a:grpFill/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3" name="Isosceles Triangle 82">
              <a:extLst>
                <a:ext uri="{FF2B5EF4-FFF2-40B4-BE49-F238E27FC236}">
                  <a16:creationId xmlns:a16="http://schemas.microsoft.com/office/drawing/2014/main" id="{5D3B0EFC-2D81-4280-9823-2D95E9E3AF02}"/>
                </a:ext>
              </a:extLst>
            </p:cNvPr>
            <p:cNvSpPr/>
            <p:nvPr/>
          </p:nvSpPr>
          <p:spPr>
            <a:xfrm rot="5400000">
              <a:off x="6968613" y="2290917"/>
              <a:ext cx="280220" cy="206477"/>
            </a:xfrm>
            <a:prstGeom prst="triangle">
              <a:avLst/>
            </a:prstGeom>
            <a:grp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F03E2A01-5B18-4945-B1C5-55CC6BD0D23E}"/>
                </a:ext>
              </a:extLst>
            </p:cNvPr>
            <p:cNvGrpSpPr/>
            <p:nvPr/>
          </p:nvGrpSpPr>
          <p:grpSpPr>
            <a:xfrm>
              <a:off x="7964130" y="1769807"/>
              <a:ext cx="353962" cy="624348"/>
              <a:chOff x="6651523" y="1769807"/>
              <a:chExt cx="353962" cy="624348"/>
            </a:xfrm>
            <a:grpFill/>
          </p:grpSpPr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8A143D3E-FEDF-43DC-9661-4CB6B40CE74A}"/>
                  </a:ext>
                </a:extLst>
              </p:cNvPr>
              <p:cNvCxnSpPr/>
              <p:nvPr/>
            </p:nvCxnSpPr>
            <p:spPr>
              <a:xfrm>
                <a:off x="6651523" y="1769807"/>
                <a:ext cx="353962" cy="0"/>
              </a:xfrm>
              <a:prstGeom prst="line">
                <a:avLst/>
              </a:prstGeom>
              <a:grpFill/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63A6F2D0-D86E-49DC-AC82-8846681229B3}"/>
                  </a:ext>
                </a:extLst>
              </p:cNvPr>
              <p:cNvCxnSpPr/>
              <p:nvPr/>
            </p:nvCxnSpPr>
            <p:spPr>
              <a:xfrm>
                <a:off x="6651523" y="2394155"/>
                <a:ext cx="353962" cy="0"/>
              </a:xfrm>
              <a:prstGeom prst="line">
                <a:avLst/>
              </a:prstGeom>
              <a:grpFill/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9ED4BFD-8B58-4374-A6FA-FA4483DD3C73}"/>
              </a:ext>
            </a:extLst>
          </p:cNvPr>
          <p:cNvGrpSpPr/>
          <p:nvPr/>
        </p:nvGrpSpPr>
        <p:grpSpPr>
          <a:xfrm>
            <a:off x="6371302" y="3969268"/>
            <a:ext cx="1666569" cy="1185247"/>
            <a:chOff x="6651523" y="1454714"/>
            <a:chExt cx="1666569" cy="1185247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22084D32-00C3-48CE-A9A1-605E14AFAE22}"/>
                </a:ext>
              </a:extLst>
            </p:cNvPr>
            <p:cNvSpPr/>
            <p:nvPr/>
          </p:nvSpPr>
          <p:spPr>
            <a:xfrm>
              <a:off x="7005485" y="1454714"/>
              <a:ext cx="958645" cy="118524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50000"/>
                    </a:schemeClr>
                  </a:solidFill>
                </a:rPr>
                <a:t>DFF</a:t>
              </a:r>
            </a:p>
            <a:p>
              <a:pPr algn="ctr"/>
              <a:r>
                <a:rPr lang="en-US" dirty="0">
                  <a:solidFill>
                    <a:schemeClr val="accent1">
                      <a:lumMod val="50000"/>
                    </a:schemeClr>
                  </a:solidFill>
                </a:rPr>
                <a:t>1</a:t>
              </a:r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7A7E5506-23B6-4259-BF42-2E0F7BA5F3CD}"/>
                </a:ext>
              </a:extLst>
            </p:cNvPr>
            <p:cNvGrpSpPr/>
            <p:nvPr/>
          </p:nvGrpSpPr>
          <p:grpSpPr>
            <a:xfrm>
              <a:off x="6651523" y="1769807"/>
              <a:ext cx="353962" cy="624348"/>
              <a:chOff x="6651523" y="1769807"/>
              <a:chExt cx="353962" cy="624348"/>
            </a:xfrm>
            <a:grpFill/>
          </p:grpSpPr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8305A0A3-6AE7-49A8-BB8B-15D86D556B79}"/>
                  </a:ext>
                </a:extLst>
              </p:cNvPr>
              <p:cNvCxnSpPr/>
              <p:nvPr/>
            </p:nvCxnSpPr>
            <p:spPr>
              <a:xfrm>
                <a:off x="6651523" y="1769807"/>
                <a:ext cx="353962" cy="0"/>
              </a:xfrm>
              <a:prstGeom prst="line">
                <a:avLst/>
              </a:prstGeom>
              <a:grpFill/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8049371B-EE53-4075-8D2D-AD5D6936ACA1}"/>
                  </a:ext>
                </a:extLst>
              </p:cNvPr>
              <p:cNvCxnSpPr/>
              <p:nvPr/>
            </p:nvCxnSpPr>
            <p:spPr>
              <a:xfrm>
                <a:off x="6651523" y="2394155"/>
                <a:ext cx="353962" cy="0"/>
              </a:xfrm>
              <a:prstGeom prst="line">
                <a:avLst/>
              </a:prstGeom>
              <a:grpFill/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7" name="Isosceles Triangle 66">
              <a:extLst>
                <a:ext uri="{FF2B5EF4-FFF2-40B4-BE49-F238E27FC236}">
                  <a16:creationId xmlns:a16="http://schemas.microsoft.com/office/drawing/2014/main" id="{3C8F1658-6F09-4731-B418-4746C54EDC6C}"/>
                </a:ext>
              </a:extLst>
            </p:cNvPr>
            <p:cNvSpPr/>
            <p:nvPr/>
          </p:nvSpPr>
          <p:spPr>
            <a:xfrm rot="5400000">
              <a:off x="6968613" y="2290917"/>
              <a:ext cx="280220" cy="206477"/>
            </a:xfrm>
            <a:prstGeom prst="triangle">
              <a:avLst/>
            </a:prstGeom>
            <a:grp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0E962721-E517-4893-87C8-CFF85BF77BB6}"/>
                </a:ext>
              </a:extLst>
            </p:cNvPr>
            <p:cNvGrpSpPr/>
            <p:nvPr/>
          </p:nvGrpSpPr>
          <p:grpSpPr>
            <a:xfrm>
              <a:off x="7964130" y="1769807"/>
              <a:ext cx="353962" cy="624348"/>
              <a:chOff x="6651523" y="1769807"/>
              <a:chExt cx="353962" cy="624348"/>
            </a:xfrm>
            <a:grpFill/>
          </p:grpSpPr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EBD7EEB7-EC5C-4CE5-B435-904B7291394B}"/>
                  </a:ext>
                </a:extLst>
              </p:cNvPr>
              <p:cNvCxnSpPr/>
              <p:nvPr/>
            </p:nvCxnSpPr>
            <p:spPr>
              <a:xfrm>
                <a:off x="6651523" y="1769807"/>
                <a:ext cx="353962" cy="0"/>
              </a:xfrm>
              <a:prstGeom prst="line">
                <a:avLst/>
              </a:prstGeom>
              <a:grpFill/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824094E8-7FA5-4485-95F7-6BBC7FDCFDBB}"/>
                  </a:ext>
                </a:extLst>
              </p:cNvPr>
              <p:cNvCxnSpPr/>
              <p:nvPr/>
            </p:nvCxnSpPr>
            <p:spPr>
              <a:xfrm>
                <a:off x="6651523" y="2394155"/>
                <a:ext cx="353962" cy="0"/>
              </a:xfrm>
              <a:prstGeom prst="line">
                <a:avLst/>
              </a:prstGeom>
              <a:grpFill/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17CA9CB7-E4C2-405A-A1A2-048D3886D04C}"/>
              </a:ext>
            </a:extLst>
          </p:cNvPr>
          <p:cNvSpPr txBox="1"/>
          <p:nvPr/>
        </p:nvSpPr>
        <p:spPr>
          <a:xfrm>
            <a:off x="6261914" y="1001040"/>
            <a:ext cx="444352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D0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DA1783-9ABE-4F41-A3A2-A712B234E7A8}"/>
              </a:ext>
            </a:extLst>
          </p:cNvPr>
          <p:cNvSpPr txBox="1"/>
          <p:nvPr/>
        </p:nvSpPr>
        <p:spPr>
          <a:xfrm>
            <a:off x="7683909" y="1017747"/>
            <a:ext cx="457176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Q0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9C83714-61FB-4A19-9F5C-5F06A720631E}"/>
              </a:ext>
            </a:extLst>
          </p:cNvPr>
          <p:cNvSpPr txBox="1"/>
          <p:nvPr/>
        </p:nvSpPr>
        <p:spPr>
          <a:xfrm>
            <a:off x="7669790" y="1605249"/>
            <a:ext cx="514885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Q0’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5D2A2C8-7759-4CFB-A670-637C1E56F683}"/>
              </a:ext>
            </a:extLst>
          </p:cNvPr>
          <p:cNvSpPr txBox="1"/>
          <p:nvPr/>
        </p:nvSpPr>
        <p:spPr>
          <a:xfrm>
            <a:off x="7661785" y="3966453"/>
            <a:ext cx="457176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Q1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8054939-129A-4659-A80F-26A01098C1C6}"/>
              </a:ext>
            </a:extLst>
          </p:cNvPr>
          <p:cNvSpPr txBox="1"/>
          <p:nvPr/>
        </p:nvSpPr>
        <p:spPr>
          <a:xfrm>
            <a:off x="7654423" y="4590800"/>
            <a:ext cx="514885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Q1’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7AA1B03-F8FA-42AE-97A4-D0815D08D317}"/>
              </a:ext>
            </a:extLst>
          </p:cNvPr>
          <p:cNvSpPr txBox="1"/>
          <p:nvPr/>
        </p:nvSpPr>
        <p:spPr>
          <a:xfrm>
            <a:off x="6181748" y="3853890"/>
            <a:ext cx="444352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D1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AA6FDAC-B4CE-4356-80C5-E84E82786D1A}"/>
              </a:ext>
            </a:extLst>
          </p:cNvPr>
          <p:cNvCxnSpPr/>
          <p:nvPr/>
        </p:nvCxnSpPr>
        <p:spPr>
          <a:xfrm flipH="1">
            <a:off x="5899344" y="1952068"/>
            <a:ext cx="47195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A4BA364-74CD-4B11-9B5E-241F329F63FA}"/>
              </a:ext>
            </a:extLst>
          </p:cNvPr>
          <p:cNvCxnSpPr>
            <a:cxnSpLocks/>
          </p:cNvCxnSpPr>
          <p:nvPr/>
        </p:nvCxnSpPr>
        <p:spPr>
          <a:xfrm>
            <a:off x="5884595" y="1952068"/>
            <a:ext cx="0" cy="421060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096161F-80FA-4C34-8389-6D8C2669D9AD}"/>
              </a:ext>
            </a:extLst>
          </p:cNvPr>
          <p:cNvCxnSpPr/>
          <p:nvPr/>
        </p:nvCxnSpPr>
        <p:spPr>
          <a:xfrm flipH="1">
            <a:off x="5884595" y="4908709"/>
            <a:ext cx="48670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FD963089-1D7C-4F9E-AB26-E2C0443CAE04}"/>
              </a:ext>
            </a:extLst>
          </p:cNvPr>
          <p:cNvSpPr txBox="1"/>
          <p:nvPr/>
        </p:nvSpPr>
        <p:spPr>
          <a:xfrm>
            <a:off x="5904460" y="5940377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Clk</a:t>
            </a:r>
            <a:endParaRPr lang="en-US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023C66D-19BA-40D0-8BD7-95FD6A2AA9B3}"/>
              </a:ext>
            </a:extLst>
          </p:cNvPr>
          <p:cNvCxnSpPr/>
          <p:nvPr/>
        </p:nvCxnSpPr>
        <p:spPr>
          <a:xfrm flipH="1">
            <a:off x="8037871" y="1327720"/>
            <a:ext cx="119460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B06173D-F688-465A-8EF3-1374582C1C7E}"/>
              </a:ext>
            </a:extLst>
          </p:cNvPr>
          <p:cNvCxnSpPr/>
          <p:nvPr/>
        </p:nvCxnSpPr>
        <p:spPr>
          <a:xfrm flipH="1">
            <a:off x="8037871" y="4286399"/>
            <a:ext cx="119460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A7D2B3E4-E6E1-4BBD-9436-66DC8687F586}"/>
              </a:ext>
            </a:extLst>
          </p:cNvPr>
          <p:cNvCxnSpPr>
            <a:cxnSpLocks/>
          </p:cNvCxnSpPr>
          <p:nvPr/>
        </p:nvCxnSpPr>
        <p:spPr>
          <a:xfrm flipH="1">
            <a:off x="5225416" y="4290900"/>
            <a:ext cx="117469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lowchart: Stored Data 10">
            <a:extLst>
              <a:ext uri="{FF2B5EF4-FFF2-40B4-BE49-F238E27FC236}">
                <a16:creationId xmlns:a16="http://schemas.microsoft.com/office/drawing/2014/main" id="{905D08B9-F0A6-4DF9-8BF1-DDEED1AF89C6}"/>
              </a:ext>
            </a:extLst>
          </p:cNvPr>
          <p:cNvSpPr/>
          <p:nvPr/>
        </p:nvSpPr>
        <p:spPr>
          <a:xfrm rot="10800000">
            <a:off x="3884043" y="916878"/>
            <a:ext cx="958613" cy="947889"/>
          </a:xfrm>
          <a:prstGeom prst="flowChartOnlineStorage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Flowchart: Delay 94">
            <a:extLst>
              <a:ext uri="{FF2B5EF4-FFF2-40B4-BE49-F238E27FC236}">
                <a16:creationId xmlns:a16="http://schemas.microsoft.com/office/drawing/2014/main" id="{2ACF0702-F5EB-4378-8AA2-BB2D16DF860A}"/>
              </a:ext>
            </a:extLst>
          </p:cNvPr>
          <p:cNvSpPr/>
          <p:nvPr/>
        </p:nvSpPr>
        <p:spPr>
          <a:xfrm>
            <a:off x="1650250" y="951792"/>
            <a:ext cx="580132" cy="572749"/>
          </a:xfrm>
          <a:prstGeom prst="flowChartDelay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Flowchart: Delay 95">
            <a:extLst>
              <a:ext uri="{FF2B5EF4-FFF2-40B4-BE49-F238E27FC236}">
                <a16:creationId xmlns:a16="http://schemas.microsoft.com/office/drawing/2014/main" id="{276D8BDC-1BF9-4CDA-9607-207460EE87D2}"/>
              </a:ext>
            </a:extLst>
          </p:cNvPr>
          <p:cNvSpPr/>
          <p:nvPr/>
        </p:nvSpPr>
        <p:spPr>
          <a:xfrm>
            <a:off x="1650250" y="1692999"/>
            <a:ext cx="580132" cy="572749"/>
          </a:xfrm>
          <a:prstGeom prst="flowChartDelay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Flowchart: Delay 96">
            <a:extLst>
              <a:ext uri="{FF2B5EF4-FFF2-40B4-BE49-F238E27FC236}">
                <a16:creationId xmlns:a16="http://schemas.microsoft.com/office/drawing/2014/main" id="{31BB480C-34A0-469F-BACE-DBCDF7EFECFA}"/>
              </a:ext>
            </a:extLst>
          </p:cNvPr>
          <p:cNvSpPr/>
          <p:nvPr/>
        </p:nvSpPr>
        <p:spPr>
          <a:xfrm>
            <a:off x="1650250" y="2464466"/>
            <a:ext cx="580132" cy="572749"/>
          </a:xfrm>
          <a:prstGeom prst="flowChartDelay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219F8DC-8180-4E81-AA32-E4DCA30E95D0}"/>
              </a:ext>
            </a:extLst>
          </p:cNvPr>
          <p:cNvCxnSpPr>
            <a:cxnSpLocks/>
            <a:stCxn id="95" idx="3"/>
          </p:cNvCxnSpPr>
          <p:nvPr/>
        </p:nvCxnSpPr>
        <p:spPr>
          <a:xfrm>
            <a:off x="2230382" y="1238167"/>
            <a:ext cx="29082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8B2C9B68-1E8F-4E2A-8D80-C1BC0D3EB7D1}"/>
              </a:ext>
            </a:extLst>
          </p:cNvPr>
          <p:cNvCxnSpPr>
            <a:cxnSpLocks/>
          </p:cNvCxnSpPr>
          <p:nvPr/>
        </p:nvCxnSpPr>
        <p:spPr>
          <a:xfrm flipV="1">
            <a:off x="2526794" y="1082292"/>
            <a:ext cx="0" cy="14696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4B45395D-1065-4AE6-92C4-E93965453B97}"/>
              </a:ext>
            </a:extLst>
          </p:cNvPr>
          <p:cNvCxnSpPr>
            <a:cxnSpLocks/>
          </p:cNvCxnSpPr>
          <p:nvPr/>
        </p:nvCxnSpPr>
        <p:spPr>
          <a:xfrm>
            <a:off x="2521206" y="1082292"/>
            <a:ext cx="148631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CF3B7A12-F90C-45FB-A6A7-3D00A4921B21}"/>
              </a:ext>
            </a:extLst>
          </p:cNvPr>
          <p:cNvCxnSpPr>
            <a:cxnSpLocks/>
            <a:stCxn id="96" idx="3"/>
          </p:cNvCxnSpPr>
          <p:nvPr/>
        </p:nvCxnSpPr>
        <p:spPr>
          <a:xfrm flipV="1">
            <a:off x="2230382" y="1970119"/>
            <a:ext cx="425400" cy="925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DE022C35-95B1-4006-A14B-29E27EAF8C39}"/>
              </a:ext>
            </a:extLst>
          </p:cNvPr>
          <p:cNvCxnSpPr>
            <a:cxnSpLocks/>
          </p:cNvCxnSpPr>
          <p:nvPr/>
        </p:nvCxnSpPr>
        <p:spPr>
          <a:xfrm flipV="1">
            <a:off x="2647832" y="1268804"/>
            <a:ext cx="7951" cy="70131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2B074D3B-EB2E-44FA-A833-0C381821ACA0}"/>
              </a:ext>
            </a:extLst>
          </p:cNvPr>
          <p:cNvCxnSpPr>
            <a:cxnSpLocks/>
          </p:cNvCxnSpPr>
          <p:nvPr/>
        </p:nvCxnSpPr>
        <p:spPr>
          <a:xfrm flipV="1">
            <a:off x="2666831" y="1266710"/>
            <a:ext cx="1388966" cy="209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C0521897-2CE5-4F28-8978-D31DF42193CD}"/>
              </a:ext>
            </a:extLst>
          </p:cNvPr>
          <p:cNvCxnSpPr>
            <a:stCxn id="97" idx="3"/>
          </p:cNvCxnSpPr>
          <p:nvPr/>
        </p:nvCxnSpPr>
        <p:spPr>
          <a:xfrm flipV="1">
            <a:off x="2230382" y="2750840"/>
            <a:ext cx="581649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9AA3DEC4-2847-41B2-997D-75BF10117498}"/>
              </a:ext>
            </a:extLst>
          </p:cNvPr>
          <p:cNvCxnSpPr/>
          <p:nvPr/>
        </p:nvCxnSpPr>
        <p:spPr>
          <a:xfrm flipV="1">
            <a:off x="2812031" y="1544414"/>
            <a:ext cx="0" cy="120642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65B6C980-ED78-49F9-A224-2BA880086CF1}"/>
              </a:ext>
            </a:extLst>
          </p:cNvPr>
          <p:cNvCxnSpPr>
            <a:cxnSpLocks/>
          </p:cNvCxnSpPr>
          <p:nvPr/>
        </p:nvCxnSpPr>
        <p:spPr>
          <a:xfrm>
            <a:off x="2812031" y="1524541"/>
            <a:ext cx="123178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6F37492A-DA20-42F6-95F5-7D50D59EC108}"/>
              </a:ext>
            </a:extLst>
          </p:cNvPr>
          <p:cNvCxnSpPr>
            <a:cxnSpLocks/>
          </p:cNvCxnSpPr>
          <p:nvPr/>
        </p:nvCxnSpPr>
        <p:spPr>
          <a:xfrm flipV="1">
            <a:off x="1135641" y="1120565"/>
            <a:ext cx="514609" cy="43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3098F5D9-A665-4FD1-AA5E-54312ED4AEB0}"/>
              </a:ext>
            </a:extLst>
          </p:cNvPr>
          <p:cNvCxnSpPr>
            <a:cxnSpLocks/>
          </p:cNvCxnSpPr>
          <p:nvPr/>
        </p:nvCxnSpPr>
        <p:spPr>
          <a:xfrm flipV="1">
            <a:off x="1138433" y="1405639"/>
            <a:ext cx="514609" cy="430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2683A9C3-F153-40C0-98B8-CE252F2B2C2C}"/>
              </a:ext>
            </a:extLst>
          </p:cNvPr>
          <p:cNvCxnSpPr>
            <a:cxnSpLocks/>
          </p:cNvCxnSpPr>
          <p:nvPr/>
        </p:nvCxnSpPr>
        <p:spPr>
          <a:xfrm flipV="1">
            <a:off x="1126141" y="1860462"/>
            <a:ext cx="514609" cy="43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1EE98558-5075-424B-A41B-38F6C2CD7D1B}"/>
              </a:ext>
            </a:extLst>
          </p:cNvPr>
          <p:cNvCxnSpPr>
            <a:cxnSpLocks/>
          </p:cNvCxnSpPr>
          <p:nvPr/>
        </p:nvCxnSpPr>
        <p:spPr>
          <a:xfrm flipV="1">
            <a:off x="1135640" y="2128992"/>
            <a:ext cx="514609" cy="430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41D652BB-6557-4AF1-88CF-12C3BAD3B693}"/>
              </a:ext>
            </a:extLst>
          </p:cNvPr>
          <p:cNvCxnSpPr>
            <a:cxnSpLocks/>
          </p:cNvCxnSpPr>
          <p:nvPr/>
        </p:nvCxnSpPr>
        <p:spPr>
          <a:xfrm flipV="1">
            <a:off x="1151587" y="2606253"/>
            <a:ext cx="514609" cy="43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3513D7DE-3064-4A76-8E49-6135B009A682}"/>
              </a:ext>
            </a:extLst>
          </p:cNvPr>
          <p:cNvCxnSpPr>
            <a:cxnSpLocks/>
          </p:cNvCxnSpPr>
          <p:nvPr/>
        </p:nvCxnSpPr>
        <p:spPr>
          <a:xfrm flipV="1">
            <a:off x="1142695" y="2892034"/>
            <a:ext cx="514609" cy="430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F9DF0D6B-01D8-4F80-B380-6A84E791BD1A}"/>
              </a:ext>
            </a:extLst>
          </p:cNvPr>
          <p:cNvSpPr txBox="1"/>
          <p:nvPr/>
        </p:nvSpPr>
        <p:spPr>
          <a:xfrm>
            <a:off x="699320" y="966049"/>
            <a:ext cx="505267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R5’</a:t>
            </a:r>
          </a:p>
          <a:p>
            <a:r>
              <a:rPr lang="en-US" sz="1600" dirty="0"/>
              <a:t>Q0</a:t>
            </a:r>
          </a:p>
          <a:p>
            <a:endParaRPr lang="en-US" sz="1600" dirty="0"/>
          </a:p>
          <a:p>
            <a:r>
              <a:rPr lang="en-US" sz="1600" dirty="0"/>
              <a:t>R5</a:t>
            </a:r>
          </a:p>
          <a:p>
            <a:r>
              <a:rPr lang="en-US" sz="1600" dirty="0"/>
              <a:t>Q0’</a:t>
            </a:r>
          </a:p>
          <a:p>
            <a:endParaRPr lang="en-US" sz="1600" dirty="0"/>
          </a:p>
          <a:p>
            <a:r>
              <a:rPr lang="en-US" sz="1600" dirty="0"/>
              <a:t>R10</a:t>
            </a:r>
          </a:p>
          <a:p>
            <a:r>
              <a:rPr lang="en-US" sz="1600" dirty="0"/>
              <a:t>Q1</a:t>
            </a:r>
          </a:p>
        </p:txBody>
      </p:sp>
      <p:sp>
        <p:nvSpPr>
          <p:cNvPr id="136" name="Flowchart: Stored Data 135">
            <a:extLst>
              <a:ext uri="{FF2B5EF4-FFF2-40B4-BE49-F238E27FC236}">
                <a16:creationId xmlns:a16="http://schemas.microsoft.com/office/drawing/2014/main" id="{96ED60FD-174B-48FD-8A8D-F19D830FB0E6}"/>
              </a:ext>
            </a:extLst>
          </p:cNvPr>
          <p:cNvSpPr/>
          <p:nvPr/>
        </p:nvSpPr>
        <p:spPr>
          <a:xfrm rot="10800000">
            <a:off x="3923384" y="3385923"/>
            <a:ext cx="958613" cy="814410"/>
          </a:xfrm>
          <a:prstGeom prst="flowChartOnlineStorage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Flowchart: Delay 136">
            <a:extLst>
              <a:ext uri="{FF2B5EF4-FFF2-40B4-BE49-F238E27FC236}">
                <a16:creationId xmlns:a16="http://schemas.microsoft.com/office/drawing/2014/main" id="{7872991C-F965-4718-998B-B9868E3A94F9}"/>
              </a:ext>
            </a:extLst>
          </p:cNvPr>
          <p:cNvSpPr/>
          <p:nvPr/>
        </p:nvSpPr>
        <p:spPr>
          <a:xfrm>
            <a:off x="1689591" y="3420836"/>
            <a:ext cx="580132" cy="572749"/>
          </a:xfrm>
          <a:prstGeom prst="flowChartDelay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B2DD5E14-83E0-4499-9FCE-90E1EBA49752}"/>
              </a:ext>
            </a:extLst>
          </p:cNvPr>
          <p:cNvCxnSpPr>
            <a:cxnSpLocks/>
            <a:stCxn id="137" idx="3"/>
          </p:cNvCxnSpPr>
          <p:nvPr/>
        </p:nvCxnSpPr>
        <p:spPr>
          <a:xfrm>
            <a:off x="2269723" y="3707211"/>
            <a:ext cx="38605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39262DD6-F6D6-4725-A25E-57A44972A696}"/>
              </a:ext>
            </a:extLst>
          </p:cNvPr>
          <p:cNvCxnSpPr>
            <a:cxnSpLocks/>
          </p:cNvCxnSpPr>
          <p:nvPr/>
        </p:nvCxnSpPr>
        <p:spPr>
          <a:xfrm flipV="1">
            <a:off x="2655782" y="3551336"/>
            <a:ext cx="0" cy="14696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35015CD5-B7CE-4ACC-82E0-B8E4DF24B17E}"/>
              </a:ext>
            </a:extLst>
          </p:cNvPr>
          <p:cNvCxnSpPr>
            <a:cxnSpLocks/>
          </p:cNvCxnSpPr>
          <p:nvPr/>
        </p:nvCxnSpPr>
        <p:spPr>
          <a:xfrm flipV="1">
            <a:off x="2655782" y="3551336"/>
            <a:ext cx="1400015" cy="432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0221C82F-8A47-4CD9-BA71-0056E9A3FE06}"/>
              </a:ext>
            </a:extLst>
          </p:cNvPr>
          <p:cNvCxnSpPr>
            <a:cxnSpLocks/>
          </p:cNvCxnSpPr>
          <p:nvPr/>
        </p:nvCxnSpPr>
        <p:spPr>
          <a:xfrm flipV="1">
            <a:off x="1165482" y="4166807"/>
            <a:ext cx="1526990" cy="86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2FC66330-7A6F-4B60-868F-6114F8F5D04B}"/>
              </a:ext>
            </a:extLst>
          </p:cNvPr>
          <p:cNvCxnSpPr>
            <a:cxnSpLocks/>
          </p:cNvCxnSpPr>
          <p:nvPr/>
        </p:nvCxnSpPr>
        <p:spPr>
          <a:xfrm flipV="1">
            <a:off x="2683138" y="3847542"/>
            <a:ext cx="0" cy="3035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176B1FB4-34AA-4876-AD3C-6917FD71E7CA}"/>
              </a:ext>
            </a:extLst>
          </p:cNvPr>
          <p:cNvCxnSpPr>
            <a:cxnSpLocks/>
          </p:cNvCxnSpPr>
          <p:nvPr/>
        </p:nvCxnSpPr>
        <p:spPr>
          <a:xfrm flipV="1">
            <a:off x="2683138" y="3851730"/>
            <a:ext cx="1372659" cy="216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2F1AC6BF-236C-4D68-9BE0-0C2C3141B685}"/>
              </a:ext>
            </a:extLst>
          </p:cNvPr>
          <p:cNvCxnSpPr>
            <a:cxnSpLocks/>
            <a:stCxn id="136" idx="1"/>
          </p:cNvCxnSpPr>
          <p:nvPr/>
        </p:nvCxnSpPr>
        <p:spPr>
          <a:xfrm>
            <a:off x="4881997" y="3793128"/>
            <a:ext cx="35119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D7A49C24-D70A-49A1-9A64-0110C1986B79}"/>
              </a:ext>
            </a:extLst>
          </p:cNvPr>
          <p:cNvCxnSpPr>
            <a:cxnSpLocks/>
          </p:cNvCxnSpPr>
          <p:nvPr/>
        </p:nvCxnSpPr>
        <p:spPr>
          <a:xfrm flipV="1">
            <a:off x="1174982" y="3589609"/>
            <a:ext cx="514609" cy="43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A66C9424-6F0F-4F68-B068-16943E54E19E}"/>
              </a:ext>
            </a:extLst>
          </p:cNvPr>
          <p:cNvCxnSpPr>
            <a:cxnSpLocks/>
          </p:cNvCxnSpPr>
          <p:nvPr/>
        </p:nvCxnSpPr>
        <p:spPr>
          <a:xfrm flipV="1">
            <a:off x="1177774" y="3874683"/>
            <a:ext cx="514609" cy="430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1486B975-71A0-4C28-A415-28906A7EC45C}"/>
              </a:ext>
            </a:extLst>
          </p:cNvPr>
          <p:cNvCxnSpPr>
            <a:cxnSpLocks/>
          </p:cNvCxnSpPr>
          <p:nvPr/>
        </p:nvCxnSpPr>
        <p:spPr>
          <a:xfrm flipV="1">
            <a:off x="2980291" y="4036082"/>
            <a:ext cx="1075506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38DE32A8-3961-453E-BAE4-2E07DA204003}"/>
              </a:ext>
            </a:extLst>
          </p:cNvPr>
          <p:cNvCxnSpPr>
            <a:cxnSpLocks/>
          </p:cNvCxnSpPr>
          <p:nvPr/>
        </p:nvCxnSpPr>
        <p:spPr>
          <a:xfrm>
            <a:off x="1175007" y="4467118"/>
            <a:ext cx="179329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B5566FA4-EE4F-4EB9-A4B4-5C5DF012599D}"/>
              </a:ext>
            </a:extLst>
          </p:cNvPr>
          <p:cNvSpPr txBox="1"/>
          <p:nvPr/>
        </p:nvSpPr>
        <p:spPr>
          <a:xfrm>
            <a:off x="712778" y="3390606"/>
            <a:ext cx="50526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R5</a:t>
            </a:r>
          </a:p>
          <a:p>
            <a:r>
              <a:rPr lang="en-US" sz="1600" dirty="0"/>
              <a:t>Q0</a:t>
            </a:r>
          </a:p>
          <a:p>
            <a:endParaRPr lang="en-US" sz="1600" dirty="0"/>
          </a:p>
          <a:p>
            <a:r>
              <a:rPr lang="en-US" sz="1600" dirty="0"/>
              <a:t>R10</a:t>
            </a:r>
          </a:p>
          <a:p>
            <a:r>
              <a:rPr lang="en-US" sz="1600" dirty="0"/>
              <a:t>Q1</a:t>
            </a:r>
          </a:p>
          <a:p>
            <a:endParaRPr lang="en-US" sz="1600" dirty="0"/>
          </a:p>
        </p:txBody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9F0F0C34-ECEB-470C-A94E-EECEC5DAD528}"/>
              </a:ext>
            </a:extLst>
          </p:cNvPr>
          <p:cNvCxnSpPr>
            <a:cxnSpLocks/>
          </p:cNvCxnSpPr>
          <p:nvPr/>
        </p:nvCxnSpPr>
        <p:spPr>
          <a:xfrm flipV="1">
            <a:off x="5233191" y="3795288"/>
            <a:ext cx="0" cy="49561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44E950D1-1B5A-41A0-A259-C04237B88E4C}"/>
              </a:ext>
            </a:extLst>
          </p:cNvPr>
          <p:cNvCxnSpPr>
            <a:cxnSpLocks/>
          </p:cNvCxnSpPr>
          <p:nvPr/>
        </p:nvCxnSpPr>
        <p:spPr>
          <a:xfrm flipV="1">
            <a:off x="2980291" y="4032209"/>
            <a:ext cx="0" cy="44932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Flowchart: Delay 172">
            <a:extLst>
              <a:ext uri="{FF2B5EF4-FFF2-40B4-BE49-F238E27FC236}">
                <a16:creationId xmlns:a16="http://schemas.microsoft.com/office/drawing/2014/main" id="{66397B7B-B0D2-4A4B-93E7-0CEBF349B52A}"/>
              </a:ext>
            </a:extLst>
          </p:cNvPr>
          <p:cNvSpPr/>
          <p:nvPr/>
        </p:nvSpPr>
        <p:spPr>
          <a:xfrm>
            <a:off x="9523132" y="1626561"/>
            <a:ext cx="580132" cy="572749"/>
          </a:xfrm>
          <a:prstGeom prst="flowChartDelay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4C0E405D-4CBC-4C4C-8C05-FA399F072D67}"/>
              </a:ext>
            </a:extLst>
          </p:cNvPr>
          <p:cNvCxnSpPr>
            <a:cxnSpLocks/>
          </p:cNvCxnSpPr>
          <p:nvPr/>
        </p:nvCxnSpPr>
        <p:spPr>
          <a:xfrm flipV="1">
            <a:off x="9232479" y="1326244"/>
            <a:ext cx="0" cy="44932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1CBCFB92-6FDE-4B5B-B430-5AE202A596AE}"/>
              </a:ext>
            </a:extLst>
          </p:cNvPr>
          <p:cNvCxnSpPr>
            <a:cxnSpLocks/>
          </p:cNvCxnSpPr>
          <p:nvPr/>
        </p:nvCxnSpPr>
        <p:spPr>
          <a:xfrm flipH="1">
            <a:off x="9232479" y="1775568"/>
            <a:ext cx="290653" cy="234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84AD29BE-A91F-4601-9E78-86654831056E}"/>
              </a:ext>
            </a:extLst>
          </p:cNvPr>
          <p:cNvCxnSpPr>
            <a:cxnSpLocks/>
          </p:cNvCxnSpPr>
          <p:nvPr/>
        </p:nvCxnSpPr>
        <p:spPr>
          <a:xfrm flipV="1">
            <a:off x="9232479" y="2092179"/>
            <a:ext cx="0" cy="218469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1288C59C-D892-4F77-9BAF-ADA97D568A49}"/>
              </a:ext>
            </a:extLst>
          </p:cNvPr>
          <p:cNvCxnSpPr>
            <a:cxnSpLocks/>
          </p:cNvCxnSpPr>
          <p:nvPr/>
        </p:nvCxnSpPr>
        <p:spPr>
          <a:xfrm flipH="1" flipV="1">
            <a:off x="9232479" y="2087823"/>
            <a:ext cx="290653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6607E185-6CE2-472F-AB90-172C59D041E5}"/>
              </a:ext>
            </a:extLst>
          </p:cNvPr>
          <p:cNvCxnSpPr/>
          <p:nvPr/>
        </p:nvCxnSpPr>
        <p:spPr>
          <a:xfrm flipH="1">
            <a:off x="10103264" y="1912935"/>
            <a:ext cx="47195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C7BAF907-E162-4136-BABC-B03C638C6EB3}"/>
              </a:ext>
            </a:extLst>
          </p:cNvPr>
          <p:cNvSpPr txBox="1"/>
          <p:nvPr/>
        </p:nvSpPr>
        <p:spPr>
          <a:xfrm>
            <a:off x="10422617" y="1940987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OPEN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1E8265EB-A01F-4BBD-B37F-E8E2B1D10A37}"/>
              </a:ext>
            </a:extLst>
          </p:cNvPr>
          <p:cNvSpPr/>
          <p:nvPr/>
        </p:nvSpPr>
        <p:spPr>
          <a:xfrm>
            <a:off x="491388" y="5383161"/>
            <a:ext cx="1198200" cy="97318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Coin Detector</a:t>
            </a:r>
          </a:p>
        </p:txBody>
      </p: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30845B52-D1C6-4591-9D4F-A2452547F8B2}"/>
              </a:ext>
            </a:extLst>
          </p:cNvPr>
          <p:cNvCxnSpPr/>
          <p:nvPr/>
        </p:nvCxnSpPr>
        <p:spPr>
          <a:xfrm>
            <a:off x="1689588" y="5648632"/>
            <a:ext cx="74389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792E6CFA-686E-4B64-9156-56699B916769}"/>
              </a:ext>
            </a:extLst>
          </p:cNvPr>
          <p:cNvCxnSpPr/>
          <p:nvPr/>
        </p:nvCxnSpPr>
        <p:spPr>
          <a:xfrm>
            <a:off x="1689588" y="6081251"/>
            <a:ext cx="74389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9A44C3E8-EC15-4309-9BA0-EA685384C299}"/>
              </a:ext>
            </a:extLst>
          </p:cNvPr>
          <p:cNvSpPr txBox="1"/>
          <p:nvPr/>
        </p:nvSpPr>
        <p:spPr>
          <a:xfrm>
            <a:off x="2469778" y="5451477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R5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5A1F9A14-0F03-484C-ACF2-52453D85AABA}"/>
              </a:ext>
            </a:extLst>
          </p:cNvPr>
          <p:cNvSpPr txBox="1"/>
          <p:nvPr/>
        </p:nvSpPr>
        <p:spPr>
          <a:xfrm>
            <a:off x="2461068" y="5869751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R10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BE6FA16-81C6-431F-BD4B-29EBA87509DB}"/>
              </a:ext>
            </a:extLst>
          </p:cNvPr>
          <p:cNvSpPr/>
          <p:nvPr/>
        </p:nvSpPr>
        <p:spPr>
          <a:xfrm>
            <a:off x="5812764" y="4818704"/>
            <a:ext cx="158835" cy="2163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Flowchart: Delay 97">
            <a:extLst>
              <a:ext uri="{FF2B5EF4-FFF2-40B4-BE49-F238E27FC236}">
                <a16:creationId xmlns:a16="http://schemas.microsoft.com/office/drawing/2014/main" id="{C0DC75CA-9A3C-45CC-A104-83856120920D}"/>
              </a:ext>
            </a:extLst>
          </p:cNvPr>
          <p:cNvSpPr/>
          <p:nvPr/>
        </p:nvSpPr>
        <p:spPr>
          <a:xfrm>
            <a:off x="3485900" y="2435704"/>
            <a:ext cx="580132" cy="572749"/>
          </a:xfrm>
          <a:prstGeom prst="flowChartDelay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EEA71FFB-822E-4A55-B5B6-CAD748BCDDF3}"/>
              </a:ext>
            </a:extLst>
          </p:cNvPr>
          <p:cNvCxnSpPr>
            <a:cxnSpLocks/>
          </p:cNvCxnSpPr>
          <p:nvPr/>
        </p:nvCxnSpPr>
        <p:spPr>
          <a:xfrm flipV="1">
            <a:off x="3195248" y="2639360"/>
            <a:ext cx="282936" cy="463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C4BBD2F3-F48B-4FCF-9F4D-F7BA2DAE40CE}"/>
              </a:ext>
            </a:extLst>
          </p:cNvPr>
          <p:cNvCxnSpPr>
            <a:cxnSpLocks/>
          </p:cNvCxnSpPr>
          <p:nvPr/>
        </p:nvCxnSpPr>
        <p:spPr>
          <a:xfrm flipV="1">
            <a:off x="3203494" y="2864400"/>
            <a:ext cx="282936" cy="463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6624098-FF15-4423-A3CC-39BFBEC792AA}"/>
              </a:ext>
            </a:extLst>
          </p:cNvPr>
          <p:cNvCxnSpPr>
            <a:cxnSpLocks/>
          </p:cNvCxnSpPr>
          <p:nvPr/>
        </p:nvCxnSpPr>
        <p:spPr>
          <a:xfrm flipH="1">
            <a:off x="5558589" y="1335176"/>
            <a:ext cx="92550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037A7E1-6E0B-4425-8FD7-F4934EAA4402}"/>
              </a:ext>
            </a:extLst>
          </p:cNvPr>
          <p:cNvCxnSpPr>
            <a:cxnSpLocks/>
          </p:cNvCxnSpPr>
          <p:nvPr/>
        </p:nvCxnSpPr>
        <p:spPr>
          <a:xfrm flipV="1">
            <a:off x="5558589" y="1325016"/>
            <a:ext cx="0" cy="9721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691207C-BFC3-4F30-97F5-D1F5AE58382E}"/>
              </a:ext>
            </a:extLst>
          </p:cNvPr>
          <p:cNvSpPr txBox="1"/>
          <p:nvPr/>
        </p:nvSpPr>
        <p:spPr>
          <a:xfrm>
            <a:off x="2816170" y="2411858"/>
            <a:ext cx="4571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Q1</a:t>
            </a:r>
          </a:p>
          <a:p>
            <a:r>
              <a:rPr lang="en-US" dirty="0"/>
              <a:t>Q0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97938CE-7315-4893-B030-6C1EFFC08F38}"/>
              </a:ext>
            </a:extLst>
          </p:cNvPr>
          <p:cNvCxnSpPr>
            <a:stCxn id="98" idx="3"/>
          </p:cNvCxnSpPr>
          <p:nvPr/>
        </p:nvCxnSpPr>
        <p:spPr>
          <a:xfrm flipV="1">
            <a:off x="4066032" y="2722078"/>
            <a:ext cx="336658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51790FF-B506-451E-B671-DAA91180CF0F}"/>
              </a:ext>
            </a:extLst>
          </p:cNvPr>
          <p:cNvCxnSpPr>
            <a:cxnSpLocks/>
          </p:cNvCxnSpPr>
          <p:nvPr/>
        </p:nvCxnSpPr>
        <p:spPr>
          <a:xfrm flipV="1">
            <a:off x="4419476" y="2188349"/>
            <a:ext cx="0" cy="55296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7115C88-C303-44B1-9F51-9DE2782B799F}"/>
              </a:ext>
            </a:extLst>
          </p:cNvPr>
          <p:cNvCxnSpPr/>
          <p:nvPr/>
        </p:nvCxnSpPr>
        <p:spPr>
          <a:xfrm flipH="1">
            <a:off x="3369467" y="2197874"/>
            <a:ext cx="103322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0E4B6B4-91B9-4F6F-821E-2F2197DF2DFE}"/>
              </a:ext>
            </a:extLst>
          </p:cNvPr>
          <p:cNvCxnSpPr/>
          <p:nvPr/>
        </p:nvCxnSpPr>
        <p:spPr>
          <a:xfrm flipV="1">
            <a:off x="3361314" y="1692999"/>
            <a:ext cx="0" cy="50487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011BCED-DDFC-4A5A-8850-9B7E61AC5495}"/>
              </a:ext>
            </a:extLst>
          </p:cNvPr>
          <p:cNvCxnSpPr/>
          <p:nvPr/>
        </p:nvCxnSpPr>
        <p:spPr>
          <a:xfrm>
            <a:off x="3369467" y="1692999"/>
            <a:ext cx="63805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C143A-C92B-4A19-957E-F234BBA53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6285" y="6554425"/>
            <a:ext cx="4114800" cy="343865"/>
          </a:xfrm>
        </p:spPr>
        <p:txBody>
          <a:bodyPr/>
          <a:lstStyle/>
          <a:p>
            <a:r>
              <a:rPr lang="nn-NO"/>
              <a:t>Digital System Design Lecture 8 Fall 2026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64635-2498-F701-2FB9-1BAB59CB9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24</a:t>
            </a:fld>
            <a:endParaRPr lang="en-US"/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28BB42A5-AD99-FB1E-8033-5C632A7747BE}"/>
              </a:ext>
            </a:extLst>
          </p:cNvPr>
          <p:cNvCxnSpPr>
            <a:cxnSpLocks/>
          </p:cNvCxnSpPr>
          <p:nvPr/>
        </p:nvCxnSpPr>
        <p:spPr>
          <a:xfrm rot="10800000">
            <a:off x="8125524" y="743239"/>
            <a:ext cx="740369" cy="59193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07E2F267-BA9C-5DF4-99FB-E70879D48DC2}"/>
              </a:ext>
            </a:extLst>
          </p:cNvPr>
          <p:cNvCxnSpPr>
            <a:cxnSpLocks/>
          </p:cNvCxnSpPr>
          <p:nvPr/>
        </p:nvCxnSpPr>
        <p:spPr>
          <a:xfrm rot="10800000">
            <a:off x="8120790" y="3707210"/>
            <a:ext cx="740369" cy="59193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F0FA355-3716-FBED-A7F1-037BB7F91E11}"/>
              </a:ext>
            </a:extLst>
          </p:cNvPr>
          <p:cNvGrpSpPr/>
          <p:nvPr/>
        </p:nvGrpSpPr>
        <p:grpSpPr>
          <a:xfrm>
            <a:off x="4828161" y="5488223"/>
            <a:ext cx="970221" cy="357825"/>
            <a:chOff x="6392009" y="5561330"/>
            <a:chExt cx="1051738" cy="350520"/>
          </a:xfrm>
        </p:grpSpPr>
        <p:sp>
          <p:nvSpPr>
            <p:cNvPr id="14" name="Left Bracket 13">
              <a:extLst>
                <a:ext uri="{FF2B5EF4-FFF2-40B4-BE49-F238E27FC236}">
                  <a16:creationId xmlns:a16="http://schemas.microsoft.com/office/drawing/2014/main" id="{3A9C14CB-EB6D-BF3B-D70E-16D69B0C274F}"/>
                </a:ext>
              </a:extLst>
            </p:cNvPr>
            <p:cNvSpPr/>
            <p:nvPr/>
          </p:nvSpPr>
          <p:spPr>
            <a:xfrm rot="5400000">
              <a:off x="6538317" y="5617052"/>
              <a:ext cx="350520" cy="239076"/>
            </a:xfrm>
            <a:prstGeom prst="leftBracket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5" name="Left Bracket 14">
              <a:extLst>
                <a:ext uri="{FF2B5EF4-FFF2-40B4-BE49-F238E27FC236}">
                  <a16:creationId xmlns:a16="http://schemas.microsoft.com/office/drawing/2014/main" id="{44089E69-6021-DA4D-6C34-75060A758C97}"/>
                </a:ext>
              </a:extLst>
            </p:cNvPr>
            <p:cNvSpPr/>
            <p:nvPr/>
          </p:nvSpPr>
          <p:spPr>
            <a:xfrm rot="5400000">
              <a:off x="6942036" y="5617052"/>
              <a:ext cx="350520" cy="239076"/>
            </a:xfrm>
            <a:prstGeom prst="leftBracket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97D59E4-01AF-41FC-F5B2-58BF21AE8112}"/>
                </a:ext>
              </a:extLst>
            </p:cNvPr>
            <p:cNvCxnSpPr>
              <a:stCxn id="14" idx="0"/>
              <a:endCxn id="15" idx="2"/>
            </p:cNvCxnSpPr>
            <p:nvPr/>
          </p:nvCxnSpPr>
          <p:spPr>
            <a:xfrm>
              <a:off x="6833115" y="5911850"/>
              <a:ext cx="164643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F1C4E35-FC0F-E445-99B2-C80503581666}"/>
                </a:ext>
              </a:extLst>
            </p:cNvPr>
            <p:cNvCxnSpPr>
              <a:cxnSpLocks/>
              <a:stCxn id="14" idx="2"/>
            </p:cNvCxnSpPr>
            <p:nvPr/>
          </p:nvCxnSpPr>
          <p:spPr>
            <a:xfrm flipH="1">
              <a:off x="6392009" y="5911850"/>
              <a:ext cx="20203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486A0B2-1FC8-B8BB-773A-158B4B17A7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41717" y="5910580"/>
              <a:ext cx="20203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57553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3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3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3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3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3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3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3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3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3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3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3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3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3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3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9" dur="3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2" dur="3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5" dur="3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8" dur="3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1" dur="3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4" dur="3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7" dur="3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0" dur="3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3" dur="3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6" dur="3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9" dur="3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2" dur="3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5" dur="3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8" dur="3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1" dur="3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4" dur="3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7" dur="3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2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2" dur="3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5" dur="3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8" dur="3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1" dur="3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4" dur="3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7" dur="3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0" dur="3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3" dur="3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6" dur="3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9" dur="3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2" dur="3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5" dur="3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8" dur="3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1" dur="3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4" dur="3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7" dur="3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0" dur="3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3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3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3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4" dur="3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7" dur="3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0" dur="3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3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22" presetClass="entr" presetSubtype="8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8" dur="2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1" dur="2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4" dur="2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7" dur="2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0" dur="2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  <p:bldP spid="40" grpId="0"/>
      <p:bldP spid="41" grpId="0"/>
      <p:bldP spid="45" grpId="0"/>
      <p:bldP spid="52" grpId="0"/>
      <p:bldP spid="11" grpId="0" animBg="1"/>
      <p:bldP spid="95" grpId="0" animBg="1"/>
      <p:bldP spid="96" grpId="0" animBg="1"/>
      <p:bldP spid="97" grpId="0" animBg="1"/>
      <p:bldP spid="133" grpId="0"/>
      <p:bldP spid="136" grpId="0" animBg="1"/>
      <p:bldP spid="137" grpId="0" animBg="1"/>
      <p:bldP spid="156" grpId="0"/>
      <p:bldP spid="173" grpId="0" animBg="1"/>
      <p:bldP spid="183" grpId="0"/>
      <p:bldP spid="184" grpId="0" animBg="1"/>
      <p:bldP spid="188" grpId="0"/>
      <p:bldP spid="189" grpId="0"/>
      <p:bldP spid="3" grpId="0" animBg="1"/>
      <p:bldP spid="98" grpId="0" animBg="1"/>
      <p:bldP spid="1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979DB-1B99-48F1-BA7A-CA3117AB8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Moore State Machine </a:t>
            </a:r>
            <a:br>
              <a:rPr lang="en-US" b="1" dirty="0">
                <a:solidFill>
                  <a:srgbClr val="0070C0"/>
                </a:solidFill>
              </a:rPr>
            </a:br>
            <a:r>
              <a:rPr lang="en-US" b="1" dirty="0">
                <a:solidFill>
                  <a:srgbClr val="0070C0"/>
                </a:solidFill>
              </a:rPr>
              <a:t>for Vending Machine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08E13D3-EB5D-4D8A-8950-7F86909D06CD}"/>
              </a:ext>
            </a:extLst>
          </p:cNvPr>
          <p:cNvSpPr/>
          <p:nvPr/>
        </p:nvSpPr>
        <p:spPr>
          <a:xfrm>
            <a:off x="7632637" y="1124246"/>
            <a:ext cx="860323" cy="81653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S0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[0]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260ED9F-FE0D-4868-9BD4-648635F8B4F5}"/>
              </a:ext>
            </a:extLst>
          </p:cNvPr>
          <p:cNvSpPr/>
          <p:nvPr/>
        </p:nvSpPr>
        <p:spPr>
          <a:xfrm>
            <a:off x="7620780" y="2494535"/>
            <a:ext cx="860323" cy="81653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S1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[0]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AB6C43E-6985-4146-AE4E-1BD1D4A69A72}"/>
              </a:ext>
            </a:extLst>
          </p:cNvPr>
          <p:cNvSpPr/>
          <p:nvPr/>
        </p:nvSpPr>
        <p:spPr>
          <a:xfrm>
            <a:off x="7620779" y="3850024"/>
            <a:ext cx="860323" cy="81653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S2;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[0]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80F501D-FEEF-402C-A413-9A1FB1A42057}"/>
              </a:ext>
            </a:extLst>
          </p:cNvPr>
          <p:cNvSpPr/>
          <p:nvPr/>
        </p:nvSpPr>
        <p:spPr>
          <a:xfrm>
            <a:off x="7632637" y="5205513"/>
            <a:ext cx="860323" cy="816538"/>
          </a:xfrm>
          <a:prstGeom prst="ellipse">
            <a:avLst/>
          </a:prstGeom>
          <a:solidFill>
            <a:schemeClr val="accent6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S3;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[1]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1F863DA-7C97-4FDB-8472-C606CEAED612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8050942" y="1929151"/>
            <a:ext cx="11857" cy="565384"/>
          </a:xfrm>
          <a:prstGeom prst="straightConnector1">
            <a:avLst/>
          </a:prstGeom>
          <a:ln w="28575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B0FD2D8-EE4F-4B2D-A310-2AD6B8C2BBAD}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>
            <a:off x="8050941" y="4666562"/>
            <a:ext cx="11858" cy="538951"/>
          </a:xfrm>
          <a:prstGeom prst="straightConnector1">
            <a:avLst/>
          </a:prstGeom>
          <a:ln w="28575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CF15D1E-7016-473E-AB20-3B8C9BBF7F9C}"/>
              </a:ext>
            </a:extLst>
          </p:cNvPr>
          <p:cNvSpPr txBox="1"/>
          <p:nvPr/>
        </p:nvSpPr>
        <p:spPr>
          <a:xfrm>
            <a:off x="7674323" y="6123543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OPEN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A95869-9A4B-400B-8E3C-009B156F69C4}"/>
              </a:ext>
            </a:extLst>
          </p:cNvPr>
          <p:cNvSpPr txBox="1"/>
          <p:nvPr/>
        </p:nvSpPr>
        <p:spPr>
          <a:xfrm>
            <a:off x="9576062" y="2902804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848313-095E-4E99-ADFB-C9E678E0854A}"/>
              </a:ext>
            </a:extLst>
          </p:cNvPr>
          <p:cNvSpPr txBox="1"/>
          <p:nvPr/>
        </p:nvSpPr>
        <p:spPr>
          <a:xfrm>
            <a:off x="7594354" y="197104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1B61B2-9B81-4320-800D-92A17B75D971}"/>
              </a:ext>
            </a:extLst>
          </p:cNvPr>
          <p:cNvSpPr txBox="1"/>
          <p:nvPr/>
        </p:nvSpPr>
        <p:spPr>
          <a:xfrm>
            <a:off x="6010976" y="3378943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R10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ABF794A-4DD7-47C4-8408-C3A08FF89DE8}"/>
              </a:ext>
            </a:extLst>
          </p:cNvPr>
          <p:cNvCxnSpPr>
            <a:cxnSpLocks/>
            <a:stCxn id="16" idx="1"/>
            <a:endCxn id="5" idx="7"/>
          </p:cNvCxnSpPr>
          <p:nvPr/>
        </p:nvCxnSpPr>
        <p:spPr>
          <a:xfrm flipH="1">
            <a:off x="8366969" y="1019034"/>
            <a:ext cx="670425" cy="2247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DCEC122-03AC-4110-95A4-B5604361D63F}"/>
              </a:ext>
            </a:extLst>
          </p:cNvPr>
          <p:cNvSpPr txBox="1"/>
          <p:nvPr/>
        </p:nvSpPr>
        <p:spPr>
          <a:xfrm>
            <a:off x="9037394" y="834368"/>
            <a:ext cx="711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Reset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6FF6AB4-5403-44C4-B62A-24DACBB896BD}"/>
              </a:ext>
            </a:extLst>
          </p:cNvPr>
          <p:cNvCxnSpPr>
            <a:cxnSpLocks/>
            <a:stCxn id="6" idx="4"/>
          </p:cNvCxnSpPr>
          <p:nvPr/>
        </p:nvCxnSpPr>
        <p:spPr>
          <a:xfrm flipH="1">
            <a:off x="8050940" y="3311073"/>
            <a:ext cx="2" cy="560576"/>
          </a:xfrm>
          <a:prstGeom prst="straightConnector1">
            <a:avLst/>
          </a:prstGeom>
          <a:ln w="28575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F60105C-A8FF-4270-98A5-30216AA4AE0D}"/>
              </a:ext>
            </a:extLst>
          </p:cNvPr>
          <p:cNvSpPr txBox="1"/>
          <p:nvPr/>
        </p:nvSpPr>
        <p:spPr>
          <a:xfrm>
            <a:off x="7594354" y="3332170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2E2E93-1549-4891-B575-840F48E27E9D}"/>
              </a:ext>
            </a:extLst>
          </p:cNvPr>
          <p:cNvSpPr txBox="1"/>
          <p:nvPr/>
        </p:nvSpPr>
        <p:spPr>
          <a:xfrm>
            <a:off x="7120002" y="4724084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R5+R10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AA5BF12D-807A-40EC-BFE9-E5963AD79BDE}"/>
              </a:ext>
            </a:extLst>
          </p:cNvPr>
          <p:cNvSpPr/>
          <p:nvPr/>
        </p:nvSpPr>
        <p:spPr>
          <a:xfrm>
            <a:off x="7961436" y="1514984"/>
            <a:ext cx="1614626" cy="2875840"/>
          </a:xfrm>
          <a:prstGeom prst="arc">
            <a:avLst>
              <a:gd name="adj1" fmla="val 15516595"/>
              <a:gd name="adj2" fmla="val 6088921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9B25569A-D885-46D3-AB67-4F6BEA06A62C}"/>
              </a:ext>
            </a:extLst>
          </p:cNvPr>
          <p:cNvSpPr/>
          <p:nvPr/>
        </p:nvSpPr>
        <p:spPr>
          <a:xfrm flipH="1">
            <a:off x="6462628" y="2479735"/>
            <a:ext cx="1651392" cy="3266577"/>
          </a:xfrm>
          <a:prstGeom prst="arc">
            <a:avLst>
              <a:gd name="adj1" fmla="val 15321058"/>
              <a:gd name="adj2" fmla="val 6186823"/>
            </a:avLst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FF4A701A-E46A-4FC2-929A-5F96ADBD8AE1}"/>
              </a:ext>
            </a:extLst>
          </p:cNvPr>
          <p:cNvSpPr/>
          <p:nvPr/>
        </p:nvSpPr>
        <p:spPr>
          <a:xfrm rot="826322">
            <a:off x="7202647" y="637097"/>
            <a:ext cx="783414" cy="771311"/>
          </a:xfrm>
          <a:prstGeom prst="arc">
            <a:avLst>
              <a:gd name="adj1" fmla="val 4184251"/>
              <a:gd name="adj2" fmla="val 0"/>
            </a:avLst>
          </a:prstGeom>
          <a:ln w="28575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907135-5AB1-4AE5-8896-0F6F9131E905}"/>
              </a:ext>
            </a:extLst>
          </p:cNvPr>
          <p:cNvSpPr txBox="1"/>
          <p:nvPr/>
        </p:nvSpPr>
        <p:spPr>
          <a:xfrm>
            <a:off x="7318494" y="208495"/>
            <a:ext cx="170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(R5’R10’+Reset)</a:t>
            </a:r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8AAED702-D461-4442-93FD-9ACFFE2A5D3A}"/>
              </a:ext>
            </a:extLst>
          </p:cNvPr>
          <p:cNvSpPr/>
          <p:nvPr/>
        </p:nvSpPr>
        <p:spPr>
          <a:xfrm rot="8417303">
            <a:off x="8391853" y="2496619"/>
            <a:ext cx="713182" cy="711729"/>
          </a:xfrm>
          <a:prstGeom prst="arc">
            <a:avLst>
              <a:gd name="adj1" fmla="val 4184251"/>
              <a:gd name="adj2" fmla="val 0"/>
            </a:avLst>
          </a:prstGeom>
          <a:ln w="28575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82E850-EF5F-47AD-A2A4-D895E50AF3F2}"/>
              </a:ext>
            </a:extLst>
          </p:cNvPr>
          <p:cNvSpPr txBox="1"/>
          <p:nvPr/>
        </p:nvSpPr>
        <p:spPr>
          <a:xfrm>
            <a:off x="8380355" y="2136615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R5’R10’</a:t>
            </a:r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A7D46115-855C-4400-9179-B3B3C6F41BBD}"/>
              </a:ext>
            </a:extLst>
          </p:cNvPr>
          <p:cNvSpPr/>
          <p:nvPr/>
        </p:nvSpPr>
        <p:spPr>
          <a:xfrm rot="8417303">
            <a:off x="8391995" y="5229943"/>
            <a:ext cx="713182" cy="711729"/>
          </a:xfrm>
          <a:prstGeom prst="arc">
            <a:avLst>
              <a:gd name="adj1" fmla="val 4184251"/>
              <a:gd name="adj2" fmla="val 0"/>
            </a:avLst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561E43-997C-45BE-94D6-FFBD1DB729F9}"/>
              </a:ext>
            </a:extLst>
          </p:cNvPr>
          <p:cNvSpPr txBox="1"/>
          <p:nvPr/>
        </p:nvSpPr>
        <p:spPr>
          <a:xfrm>
            <a:off x="8993504" y="5112715"/>
            <a:ext cx="767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Reset</a:t>
            </a:r>
            <a:r>
              <a:rPr lang="en-US" dirty="0"/>
              <a:t>’</a:t>
            </a: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5A28A7A4-8D25-48C3-8EE3-D0CB28384457}"/>
              </a:ext>
            </a:extLst>
          </p:cNvPr>
          <p:cNvSpPr/>
          <p:nvPr/>
        </p:nvSpPr>
        <p:spPr>
          <a:xfrm flipH="1">
            <a:off x="5631021" y="1520954"/>
            <a:ext cx="3055352" cy="4628490"/>
          </a:xfrm>
          <a:prstGeom prst="arc">
            <a:avLst>
              <a:gd name="adj1" fmla="val 15479170"/>
              <a:gd name="adj2" fmla="val 6438138"/>
            </a:avLst>
          </a:prstGeom>
          <a:ln w="28575">
            <a:solidFill>
              <a:srgbClr val="7030A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7D7DB2-8207-4891-8E09-DD6ADA8A60E5}"/>
              </a:ext>
            </a:extLst>
          </p:cNvPr>
          <p:cNvSpPr txBox="1"/>
          <p:nvPr/>
        </p:nvSpPr>
        <p:spPr>
          <a:xfrm>
            <a:off x="4993844" y="3009611"/>
            <a:ext cx="711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Reset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FDDD2BF-079F-4FA1-92FB-65524ACBE1AC}"/>
              </a:ext>
            </a:extLst>
          </p:cNvPr>
          <p:cNvSpPr txBox="1"/>
          <p:nvPr/>
        </p:nvSpPr>
        <p:spPr>
          <a:xfrm>
            <a:off x="6846745" y="3504787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R5’R10’</a:t>
            </a:r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FEB9BFAD-C3DC-4E1D-B80A-9BF8D01B432C}"/>
              </a:ext>
            </a:extLst>
          </p:cNvPr>
          <p:cNvSpPr/>
          <p:nvPr/>
        </p:nvSpPr>
        <p:spPr>
          <a:xfrm rot="12875780" flipH="1">
            <a:off x="7005450" y="3887818"/>
            <a:ext cx="713182" cy="711729"/>
          </a:xfrm>
          <a:prstGeom prst="arc">
            <a:avLst>
              <a:gd name="adj1" fmla="val 4184251"/>
              <a:gd name="adj2" fmla="val 0"/>
            </a:avLst>
          </a:prstGeom>
          <a:ln w="28575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CFD17E-88B0-4E61-A30F-965DB95A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Digital System Design Lecture 8 Fall 2026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6240F-1ECF-2AD6-94BC-75A5D1FC0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511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1" grpId="0"/>
      <p:bldP spid="12" grpId="0"/>
      <p:bldP spid="13" grpId="0"/>
      <p:bldP spid="14" grpId="0"/>
      <p:bldP spid="16" grpId="0"/>
      <p:bldP spid="18" grpId="0"/>
      <p:bldP spid="19" grpId="0"/>
      <p:bldP spid="20" grpId="0" animBg="1"/>
      <p:bldP spid="21" grpId="0" animBg="1"/>
      <p:bldP spid="24" grpId="0" animBg="1"/>
      <p:bldP spid="25" grpId="0"/>
      <p:bldP spid="26" grpId="0" animBg="1"/>
      <p:bldP spid="27" grpId="0"/>
      <p:bldP spid="28" grpId="0" animBg="1"/>
      <p:bldP spid="29" grpId="0"/>
      <p:bldP spid="30" grpId="0" animBg="1"/>
      <p:bldP spid="32" grpId="0"/>
      <p:bldP spid="33" grpId="0"/>
      <p:bldP spid="3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3232B-C42B-4AD7-909E-757FFEFC6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002161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Mealy State Machine</a:t>
            </a:r>
            <a:br>
              <a:rPr lang="en-US" b="1" dirty="0">
                <a:solidFill>
                  <a:srgbClr val="0070C0"/>
                </a:solidFill>
              </a:rPr>
            </a:br>
            <a:r>
              <a:rPr lang="en-US" b="1" dirty="0">
                <a:solidFill>
                  <a:srgbClr val="0070C0"/>
                </a:solidFill>
              </a:rPr>
              <a:t>for Vending Machine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5616D1-2D9E-44A4-8187-D11625D86D7E}"/>
              </a:ext>
            </a:extLst>
          </p:cNvPr>
          <p:cNvSpPr/>
          <p:nvPr/>
        </p:nvSpPr>
        <p:spPr>
          <a:xfrm>
            <a:off x="7632637" y="1124246"/>
            <a:ext cx="860323" cy="81653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3DB4083-5FCA-4578-906D-9793B74B64D6}"/>
              </a:ext>
            </a:extLst>
          </p:cNvPr>
          <p:cNvSpPr/>
          <p:nvPr/>
        </p:nvSpPr>
        <p:spPr>
          <a:xfrm>
            <a:off x="7620780" y="2494535"/>
            <a:ext cx="860323" cy="81653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03A3F80-C771-49BB-AC50-65748E009502}"/>
              </a:ext>
            </a:extLst>
          </p:cNvPr>
          <p:cNvSpPr/>
          <p:nvPr/>
        </p:nvSpPr>
        <p:spPr>
          <a:xfrm>
            <a:off x="7620779" y="3850024"/>
            <a:ext cx="860323" cy="81653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1CBD8A7-FD7F-4B63-90C9-5324CF8D3604}"/>
              </a:ext>
            </a:extLst>
          </p:cNvPr>
          <p:cNvSpPr/>
          <p:nvPr/>
        </p:nvSpPr>
        <p:spPr>
          <a:xfrm>
            <a:off x="7632637" y="5205513"/>
            <a:ext cx="860323" cy="816538"/>
          </a:xfrm>
          <a:prstGeom prst="ellipse">
            <a:avLst/>
          </a:prstGeom>
          <a:solidFill>
            <a:schemeClr val="accent6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S3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36872B3-BD88-42ED-BCC5-E134236D3784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8050942" y="1929151"/>
            <a:ext cx="11857" cy="565384"/>
          </a:xfrm>
          <a:prstGeom prst="straightConnector1">
            <a:avLst/>
          </a:prstGeom>
          <a:ln w="28575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C1F34D0-887C-4C4C-8CAB-A6C0A24F57D0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>
            <a:off x="8050941" y="4666562"/>
            <a:ext cx="11858" cy="538951"/>
          </a:xfrm>
          <a:prstGeom prst="straightConnector1">
            <a:avLst/>
          </a:prstGeom>
          <a:ln w="28575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7A696A-78F0-4F53-BB0A-6F7F4FEBB128}"/>
              </a:ext>
            </a:extLst>
          </p:cNvPr>
          <p:cNvSpPr txBox="1"/>
          <p:nvPr/>
        </p:nvSpPr>
        <p:spPr>
          <a:xfrm>
            <a:off x="7674323" y="6123543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OPEN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628DB2-FF53-47B8-9894-3EB00D5C9E98}"/>
              </a:ext>
            </a:extLst>
          </p:cNvPr>
          <p:cNvSpPr txBox="1"/>
          <p:nvPr/>
        </p:nvSpPr>
        <p:spPr>
          <a:xfrm>
            <a:off x="9576062" y="2902804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R10/0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C115F3-D12E-40F1-B656-310FC460778C}"/>
              </a:ext>
            </a:extLst>
          </p:cNvPr>
          <p:cNvSpPr txBox="1"/>
          <p:nvPr/>
        </p:nvSpPr>
        <p:spPr>
          <a:xfrm>
            <a:off x="7444780" y="2031690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R5/0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3D1F30-CACE-460C-8BCE-5D75868E3E04}"/>
              </a:ext>
            </a:extLst>
          </p:cNvPr>
          <p:cNvSpPr txBox="1"/>
          <p:nvPr/>
        </p:nvSpPr>
        <p:spPr>
          <a:xfrm>
            <a:off x="5840361" y="3073805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R10/1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522EDCF-5A99-4EC0-9A39-F11DC9F2F20A}"/>
              </a:ext>
            </a:extLst>
          </p:cNvPr>
          <p:cNvCxnSpPr>
            <a:cxnSpLocks/>
            <a:stCxn id="15" idx="1"/>
            <a:endCxn id="4" idx="7"/>
          </p:cNvCxnSpPr>
          <p:nvPr/>
        </p:nvCxnSpPr>
        <p:spPr>
          <a:xfrm flipH="1">
            <a:off x="8366969" y="1019034"/>
            <a:ext cx="670425" cy="2247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36A6191-EEAC-42A6-9C41-73E794503372}"/>
              </a:ext>
            </a:extLst>
          </p:cNvPr>
          <p:cNvSpPr txBox="1"/>
          <p:nvPr/>
        </p:nvSpPr>
        <p:spPr>
          <a:xfrm>
            <a:off x="9037394" y="834368"/>
            <a:ext cx="711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Reset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81322F7-7BE4-4BBC-BC5D-FBA7C073C304}"/>
              </a:ext>
            </a:extLst>
          </p:cNvPr>
          <p:cNvCxnSpPr>
            <a:cxnSpLocks/>
            <a:stCxn id="5" idx="4"/>
          </p:cNvCxnSpPr>
          <p:nvPr/>
        </p:nvCxnSpPr>
        <p:spPr>
          <a:xfrm flipH="1">
            <a:off x="8050940" y="3311073"/>
            <a:ext cx="2" cy="560576"/>
          </a:xfrm>
          <a:prstGeom prst="straightConnector1">
            <a:avLst/>
          </a:prstGeom>
          <a:ln w="28575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7E1DB01-4F71-421C-9600-F39826C3BFAE}"/>
              </a:ext>
            </a:extLst>
          </p:cNvPr>
          <p:cNvSpPr txBox="1"/>
          <p:nvPr/>
        </p:nvSpPr>
        <p:spPr>
          <a:xfrm>
            <a:off x="8007976" y="3362262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R5/0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43758F-6441-442A-A8D7-002AF9B6CDFD}"/>
              </a:ext>
            </a:extLst>
          </p:cNvPr>
          <p:cNvSpPr txBox="1"/>
          <p:nvPr/>
        </p:nvSpPr>
        <p:spPr>
          <a:xfrm>
            <a:off x="8050940" y="4764404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R5+R10/1</a:t>
            </a: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22BBD490-0B8F-475B-92CD-A632E8C39712}"/>
              </a:ext>
            </a:extLst>
          </p:cNvPr>
          <p:cNvSpPr/>
          <p:nvPr/>
        </p:nvSpPr>
        <p:spPr>
          <a:xfrm>
            <a:off x="7961436" y="1514984"/>
            <a:ext cx="1614626" cy="2875840"/>
          </a:xfrm>
          <a:prstGeom prst="arc">
            <a:avLst>
              <a:gd name="adj1" fmla="val 15516595"/>
              <a:gd name="adj2" fmla="val 6088921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00413315-EA4B-4C67-BE5B-01BB2F7C6502}"/>
              </a:ext>
            </a:extLst>
          </p:cNvPr>
          <p:cNvSpPr/>
          <p:nvPr/>
        </p:nvSpPr>
        <p:spPr>
          <a:xfrm flipH="1">
            <a:off x="6462628" y="2479735"/>
            <a:ext cx="1651392" cy="3266577"/>
          </a:xfrm>
          <a:prstGeom prst="arc">
            <a:avLst>
              <a:gd name="adj1" fmla="val 15317487"/>
              <a:gd name="adj2" fmla="val 6186823"/>
            </a:avLst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DA8CC028-7E1D-460D-AEB3-74B6BBC4BBAF}"/>
              </a:ext>
            </a:extLst>
          </p:cNvPr>
          <p:cNvSpPr/>
          <p:nvPr/>
        </p:nvSpPr>
        <p:spPr>
          <a:xfrm rot="826322">
            <a:off x="7202647" y="637097"/>
            <a:ext cx="783414" cy="771311"/>
          </a:xfrm>
          <a:prstGeom prst="arc">
            <a:avLst>
              <a:gd name="adj1" fmla="val 4184251"/>
              <a:gd name="adj2" fmla="val 0"/>
            </a:avLst>
          </a:prstGeom>
          <a:ln w="28575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551BE5-A09E-4F46-BA4D-E0A2FDF908FD}"/>
              </a:ext>
            </a:extLst>
          </p:cNvPr>
          <p:cNvSpPr txBox="1"/>
          <p:nvPr/>
        </p:nvSpPr>
        <p:spPr>
          <a:xfrm>
            <a:off x="7318494" y="208495"/>
            <a:ext cx="191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(R5’R10’+Reset)/0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6A536C29-DDCF-4023-941A-F8004FC1C676}"/>
              </a:ext>
            </a:extLst>
          </p:cNvPr>
          <p:cNvSpPr/>
          <p:nvPr/>
        </p:nvSpPr>
        <p:spPr>
          <a:xfrm rot="8417303">
            <a:off x="8391853" y="2496619"/>
            <a:ext cx="713182" cy="711729"/>
          </a:xfrm>
          <a:prstGeom prst="arc">
            <a:avLst>
              <a:gd name="adj1" fmla="val 4184251"/>
              <a:gd name="adj2" fmla="val 0"/>
            </a:avLst>
          </a:prstGeom>
          <a:ln w="28575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D61E58-AEFF-4D4A-B206-094C23CEAC2A}"/>
              </a:ext>
            </a:extLst>
          </p:cNvPr>
          <p:cNvSpPr txBox="1"/>
          <p:nvPr/>
        </p:nvSpPr>
        <p:spPr>
          <a:xfrm>
            <a:off x="8380355" y="2136615"/>
            <a:ext cx="1130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R5’R10’/0</a:t>
            </a:r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00B02861-FACB-4402-A48E-536420FE52DD}"/>
              </a:ext>
            </a:extLst>
          </p:cNvPr>
          <p:cNvSpPr/>
          <p:nvPr/>
        </p:nvSpPr>
        <p:spPr>
          <a:xfrm rot="8417303">
            <a:off x="8391995" y="5229943"/>
            <a:ext cx="713182" cy="711729"/>
          </a:xfrm>
          <a:prstGeom prst="arc">
            <a:avLst>
              <a:gd name="adj1" fmla="val 4184251"/>
              <a:gd name="adj2" fmla="val 0"/>
            </a:avLst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3E7286-B98A-478D-8C2D-0E6D13D0FA91}"/>
              </a:ext>
            </a:extLst>
          </p:cNvPr>
          <p:cNvSpPr txBox="1"/>
          <p:nvPr/>
        </p:nvSpPr>
        <p:spPr>
          <a:xfrm>
            <a:off x="8993504" y="5112715"/>
            <a:ext cx="993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Reset’/1</a:t>
            </a: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AF09FCC5-5720-4601-B6C8-373EAE7263F5}"/>
              </a:ext>
            </a:extLst>
          </p:cNvPr>
          <p:cNvSpPr/>
          <p:nvPr/>
        </p:nvSpPr>
        <p:spPr>
          <a:xfrm flipH="1">
            <a:off x="5631021" y="1520954"/>
            <a:ext cx="3055352" cy="4628490"/>
          </a:xfrm>
          <a:prstGeom prst="arc">
            <a:avLst>
              <a:gd name="adj1" fmla="val 15479170"/>
              <a:gd name="adj2" fmla="val 6438138"/>
            </a:avLst>
          </a:prstGeom>
          <a:ln w="28575">
            <a:solidFill>
              <a:srgbClr val="7030A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9D79FC7-3F59-4478-A2EE-F7F42B3E5290}"/>
              </a:ext>
            </a:extLst>
          </p:cNvPr>
          <p:cNvSpPr txBox="1"/>
          <p:nvPr/>
        </p:nvSpPr>
        <p:spPr>
          <a:xfrm>
            <a:off x="4721346" y="3020959"/>
            <a:ext cx="928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Reset/0</a:t>
            </a:r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03899C6F-C2FA-43DB-8A70-1CC323A807B4}"/>
              </a:ext>
            </a:extLst>
          </p:cNvPr>
          <p:cNvSpPr/>
          <p:nvPr/>
        </p:nvSpPr>
        <p:spPr>
          <a:xfrm rot="12875780" flipH="1">
            <a:off x="7005450" y="3887818"/>
            <a:ext cx="713182" cy="711729"/>
          </a:xfrm>
          <a:prstGeom prst="arc">
            <a:avLst>
              <a:gd name="adj1" fmla="val 4184251"/>
              <a:gd name="adj2" fmla="val 0"/>
            </a:avLst>
          </a:prstGeom>
          <a:ln w="28575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9B1D8F-8ED5-49A0-B6A2-C86B1CB1DD2E}"/>
              </a:ext>
            </a:extLst>
          </p:cNvPr>
          <p:cNvSpPr txBox="1"/>
          <p:nvPr/>
        </p:nvSpPr>
        <p:spPr>
          <a:xfrm>
            <a:off x="6774495" y="3567328"/>
            <a:ext cx="1130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R5’R10’/0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6E652F-EC7F-4279-9790-E6FD0AC9C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Digital System Design Lecture 8 Fall 2026</a:t>
            </a:r>
            <a:endParaRPr lang="en-US"/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31D3FEA7-AD59-6F5F-E292-BA829EC4F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177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0" grpId="0"/>
      <p:bldP spid="11" grpId="0"/>
      <p:bldP spid="12" grpId="0"/>
      <p:bldP spid="13" grpId="0"/>
      <p:bldP spid="15" grpId="0"/>
      <p:bldP spid="17" grpId="0"/>
      <p:bldP spid="18" grpId="0"/>
      <p:bldP spid="19" grpId="0" animBg="1"/>
      <p:bldP spid="20" grpId="0" animBg="1"/>
      <p:bldP spid="21" grpId="0" animBg="1"/>
      <p:bldP spid="22" grpId="0"/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animBg="1"/>
      <p:bldP spid="3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11EBB-9FA9-4A1F-ACCA-BCA88701A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Some Comparison Moore vs Mealy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B9BDE-E0A0-4024-A071-333106FE5779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r>
              <a:rPr lang="en-US" dirty="0"/>
              <a:t>Mealy machine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requires fewer states </a:t>
            </a:r>
            <a:r>
              <a:rPr lang="en-US" dirty="0"/>
              <a:t>to reach output in comparison with Moore machine</a:t>
            </a:r>
          </a:p>
          <a:p>
            <a:r>
              <a:rPr lang="en-US" dirty="0"/>
              <a:t>Mealy machine is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more susceptible to glitches</a:t>
            </a:r>
          </a:p>
          <a:p>
            <a:r>
              <a:rPr lang="en-US" dirty="0"/>
              <a:t>Explicit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output values </a:t>
            </a:r>
            <a:r>
              <a:rPr lang="en-US" dirty="0"/>
              <a:t>are shown in Mealy machine associated with each transition</a:t>
            </a:r>
          </a:p>
          <a:p>
            <a:r>
              <a:rPr lang="en-US" dirty="0"/>
              <a:t>Output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changes after state </a:t>
            </a:r>
            <a:r>
              <a:rPr lang="en-US" dirty="0"/>
              <a:t>is changed in Moore machine</a:t>
            </a:r>
          </a:p>
          <a:p>
            <a:r>
              <a:rPr lang="en-US" dirty="0"/>
              <a:t>Output in Moore machine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depends upon state only</a:t>
            </a:r>
            <a:r>
              <a:rPr lang="en-US" dirty="0"/>
              <a:t>; inputs can steer the output towards a particular state that affects output</a:t>
            </a:r>
          </a:p>
          <a:p>
            <a:r>
              <a:rPr lang="en-US" dirty="0"/>
              <a:t>Output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depends upon present state and the present value </a:t>
            </a:r>
            <a:r>
              <a:rPr lang="en-US" dirty="0"/>
              <a:t>at the input; thus, output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can change immediately </a:t>
            </a:r>
            <a:r>
              <a:rPr lang="en-US" dirty="0"/>
              <a:t>with the change in input, independent of synchronous clock.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D1D7F5-E3B0-406F-B78F-9769088D3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Digital System Design Lecture 8 Fall 2026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1F1696-096A-7343-774E-789A281D9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595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FD163-9777-4A19-8DE4-E6EE0A2F1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550"/>
            <a:ext cx="10515600" cy="454128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One Hot Encoding – one FF for each state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B96290-AE80-439A-8209-E02EB753E7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237338"/>
              </p:ext>
            </p:extLst>
          </p:nvPr>
        </p:nvGraphicFramePr>
        <p:xfrm>
          <a:off x="838200" y="663678"/>
          <a:ext cx="9201148" cy="527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6468">
                  <a:extLst>
                    <a:ext uri="{9D8B030D-6E8A-4147-A177-3AD203B41FA5}">
                      <a16:colId xmlns:a16="http://schemas.microsoft.com/office/drawing/2014/main" val="1016255443"/>
                    </a:ext>
                  </a:extLst>
                </a:gridCol>
                <a:gridCol w="836468">
                  <a:extLst>
                    <a:ext uri="{9D8B030D-6E8A-4147-A177-3AD203B41FA5}">
                      <a16:colId xmlns:a16="http://schemas.microsoft.com/office/drawing/2014/main" val="806448058"/>
                    </a:ext>
                  </a:extLst>
                </a:gridCol>
                <a:gridCol w="836468">
                  <a:extLst>
                    <a:ext uri="{9D8B030D-6E8A-4147-A177-3AD203B41FA5}">
                      <a16:colId xmlns:a16="http://schemas.microsoft.com/office/drawing/2014/main" val="3452671187"/>
                    </a:ext>
                  </a:extLst>
                </a:gridCol>
                <a:gridCol w="836468">
                  <a:extLst>
                    <a:ext uri="{9D8B030D-6E8A-4147-A177-3AD203B41FA5}">
                      <a16:colId xmlns:a16="http://schemas.microsoft.com/office/drawing/2014/main" val="1837561952"/>
                    </a:ext>
                  </a:extLst>
                </a:gridCol>
                <a:gridCol w="836468">
                  <a:extLst>
                    <a:ext uri="{9D8B030D-6E8A-4147-A177-3AD203B41FA5}">
                      <a16:colId xmlns:a16="http://schemas.microsoft.com/office/drawing/2014/main" val="3447547645"/>
                    </a:ext>
                  </a:extLst>
                </a:gridCol>
                <a:gridCol w="836468">
                  <a:extLst>
                    <a:ext uri="{9D8B030D-6E8A-4147-A177-3AD203B41FA5}">
                      <a16:colId xmlns:a16="http://schemas.microsoft.com/office/drawing/2014/main" val="262173160"/>
                    </a:ext>
                  </a:extLst>
                </a:gridCol>
                <a:gridCol w="836468">
                  <a:extLst>
                    <a:ext uri="{9D8B030D-6E8A-4147-A177-3AD203B41FA5}">
                      <a16:colId xmlns:a16="http://schemas.microsoft.com/office/drawing/2014/main" val="979543964"/>
                    </a:ext>
                  </a:extLst>
                </a:gridCol>
                <a:gridCol w="836468">
                  <a:extLst>
                    <a:ext uri="{9D8B030D-6E8A-4147-A177-3AD203B41FA5}">
                      <a16:colId xmlns:a16="http://schemas.microsoft.com/office/drawing/2014/main" val="3286090648"/>
                    </a:ext>
                  </a:extLst>
                </a:gridCol>
                <a:gridCol w="836468">
                  <a:extLst>
                    <a:ext uri="{9D8B030D-6E8A-4147-A177-3AD203B41FA5}">
                      <a16:colId xmlns:a16="http://schemas.microsoft.com/office/drawing/2014/main" val="4181515521"/>
                    </a:ext>
                  </a:extLst>
                </a:gridCol>
                <a:gridCol w="836468">
                  <a:extLst>
                    <a:ext uri="{9D8B030D-6E8A-4147-A177-3AD203B41FA5}">
                      <a16:colId xmlns:a16="http://schemas.microsoft.com/office/drawing/2014/main" val="3492725854"/>
                    </a:ext>
                  </a:extLst>
                </a:gridCol>
                <a:gridCol w="836468">
                  <a:extLst>
                    <a:ext uri="{9D8B030D-6E8A-4147-A177-3AD203B41FA5}">
                      <a16:colId xmlns:a16="http://schemas.microsoft.com/office/drawing/2014/main" val="1227554836"/>
                    </a:ext>
                  </a:extLst>
                </a:gridCol>
              </a:tblGrid>
              <a:tr h="522387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Present State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Inputs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Next State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Output </a:t>
                      </a:r>
                    </a:p>
                    <a:p>
                      <a:pPr algn="ctr"/>
                      <a:r>
                        <a:rPr lang="en-US" sz="1600" b="1" dirty="0"/>
                        <a:t>OPEN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499052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highlight>
                            <a:srgbClr val="0000FF"/>
                          </a:highlight>
                        </a:rP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highlight>
                            <a:srgbClr val="0000FF"/>
                          </a:highlight>
                        </a:rP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highlight>
                            <a:srgbClr val="0000FF"/>
                          </a:highlight>
                        </a:rP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highlight>
                            <a:srgbClr val="0000FF"/>
                          </a:highlight>
                        </a:rPr>
                        <a:t>Q0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highlight>
                            <a:srgbClr val="0000FF"/>
                          </a:highlight>
                        </a:rPr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highlight>
                            <a:srgbClr val="0000FF"/>
                          </a:highlight>
                        </a:rPr>
                        <a:t>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highlight>
                            <a:srgbClr val="0000FF"/>
                          </a:highlight>
                        </a:rPr>
                        <a:t>D3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highlight>
                            <a:srgbClr val="0000FF"/>
                          </a:highlight>
                        </a:rPr>
                        <a:t>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highlight>
                            <a:srgbClr val="0000FF"/>
                          </a:highlight>
                        </a:rPr>
                        <a:t>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highlight>
                            <a:srgbClr val="0000FF"/>
                          </a:highlight>
                        </a:rPr>
                        <a:t>D0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428520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995907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539923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203162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819349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308633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35914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263364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394173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46944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833209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745261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6720400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05546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2ACC31A-DD6A-43EF-81BD-5292594AB1CC}"/>
              </a:ext>
            </a:extLst>
          </p:cNvPr>
          <p:cNvSpPr txBox="1"/>
          <p:nvPr/>
        </p:nvSpPr>
        <p:spPr>
          <a:xfrm>
            <a:off x="2045369" y="6082518"/>
            <a:ext cx="5416996" cy="646331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The Design Becomes Simpler</a:t>
            </a:r>
          </a:p>
          <a:p>
            <a:r>
              <a:rPr lang="en-US" b="1" dirty="0"/>
              <a:t>Less Combinational Logic – At the Expense of Extra DFF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F0CAEB-A82D-44D6-BE35-66994AF63EF9}"/>
              </a:ext>
            </a:extLst>
          </p:cNvPr>
          <p:cNvSpPr txBox="1"/>
          <p:nvPr/>
        </p:nvSpPr>
        <p:spPr>
          <a:xfrm>
            <a:off x="10214811" y="2505670"/>
            <a:ext cx="16305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D3 is directly</a:t>
            </a:r>
          </a:p>
          <a:p>
            <a:r>
              <a:rPr lang="en-US" dirty="0"/>
              <a:t>the Output and</a:t>
            </a:r>
          </a:p>
          <a:p>
            <a:r>
              <a:rPr lang="en-US" dirty="0"/>
              <a:t>Its State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1867826-1596-4B32-B162-7B58DC853E1C}"/>
              </a:ext>
            </a:extLst>
          </p:cNvPr>
          <p:cNvCxnSpPr>
            <a:stCxn id="4" idx="0"/>
          </p:cNvCxnSpPr>
          <p:nvPr/>
        </p:nvCxnSpPr>
        <p:spPr>
          <a:xfrm flipH="1" flipV="1">
            <a:off x="9926053" y="1443789"/>
            <a:ext cx="1104046" cy="10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77C601A-F0EA-D3AA-1F94-9AE1455A2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28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2A15A7-00CE-C4AF-A4BE-B11D3E25FECE}"/>
              </a:ext>
            </a:extLst>
          </p:cNvPr>
          <p:cNvSpPr/>
          <p:nvPr/>
        </p:nvSpPr>
        <p:spPr>
          <a:xfrm>
            <a:off x="838198" y="1533505"/>
            <a:ext cx="9201148" cy="1304925"/>
          </a:xfrm>
          <a:prstGeom prst="rect">
            <a:avLst/>
          </a:prstGeom>
          <a:solidFill>
            <a:srgbClr val="FBE1D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35D437-1590-4428-8922-E4111F48877B}"/>
              </a:ext>
            </a:extLst>
          </p:cNvPr>
          <p:cNvSpPr/>
          <p:nvPr/>
        </p:nvSpPr>
        <p:spPr>
          <a:xfrm>
            <a:off x="838198" y="2867005"/>
            <a:ext cx="9201148" cy="1304925"/>
          </a:xfrm>
          <a:prstGeom prst="rect">
            <a:avLst/>
          </a:prstGeom>
          <a:solidFill>
            <a:srgbClr val="FBE1D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486010-902D-B406-A660-3A9EBE1E37C9}"/>
              </a:ext>
            </a:extLst>
          </p:cNvPr>
          <p:cNvSpPr/>
          <p:nvPr/>
        </p:nvSpPr>
        <p:spPr>
          <a:xfrm>
            <a:off x="838198" y="4210010"/>
            <a:ext cx="9201148" cy="1304925"/>
          </a:xfrm>
          <a:prstGeom prst="rect">
            <a:avLst/>
          </a:prstGeom>
          <a:solidFill>
            <a:srgbClr val="FBE1D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3DD8AB-4CC7-C6AA-5E4D-B598A2E1CE15}"/>
              </a:ext>
            </a:extLst>
          </p:cNvPr>
          <p:cNvSpPr/>
          <p:nvPr/>
        </p:nvSpPr>
        <p:spPr>
          <a:xfrm>
            <a:off x="838198" y="5553016"/>
            <a:ext cx="9201148" cy="1253530"/>
          </a:xfrm>
          <a:prstGeom prst="rect">
            <a:avLst/>
          </a:prstGeom>
          <a:solidFill>
            <a:srgbClr val="FBE1D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5BAD47C-3319-ABB6-E88D-FA96B3DDE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Digital System Design Lecture 8 Fall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567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6" grpId="0" animBg="1"/>
      <p:bldP spid="9" grpId="0" animBg="1"/>
      <p:bldP spid="10" grpId="0" animBg="1"/>
      <p:bldP spid="1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845A6-D252-4AFB-8951-3850DF4AE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2103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Algorithmic State Machine Description - ASMD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B02880-6D8B-4549-8DFF-8913C1B27002}"/>
              </a:ext>
            </a:extLst>
          </p:cNvPr>
          <p:cNvSpPr/>
          <p:nvPr/>
        </p:nvSpPr>
        <p:spPr>
          <a:xfrm>
            <a:off x="4247536" y="1696065"/>
            <a:ext cx="2654709" cy="1076632"/>
          </a:xfrm>
          <a:prstGeom prst="rect">
            <a:avLst/>
          </a:prstGeom>
          <a:solidFill>
            <a:srgbClr val="00B0F0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State Box</a:t>
            </a:r>
          </a:p>
          <a:p>
            <a:pPr algn="ctr"/>
            <a:endParaRPr lang="en-US" b="1" dirty="0"/>
          </a:p>
          <a:p>
            <a:pPr algn="ctr"/>
            <a:r>
              <a:rPr lang="en-US" b="1" dirty="0"/>
              <a:t>List Outputs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B9215E-A7CA-45E9-BD99-40D02DEE4981}"/>
              </a:ext>
            </a:extLst>
          </p:cNvPr>
          <p:cNvSpPr txBox="1"/>
          <p:nvPr/>
        </p:nvSpPr>
        <p:spPr>
          <a:xfrm>
            <a:off x="6424550" y="1319670"/>
            <a:ext cx="489493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err="1"/>
              <a:t>xyz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662E5E-9ABE-4A1C-B3DB-B7EC39DAD141}"/>
              </a:ext>
            </a:extLst>
          </p:cNvPr>
          <p:cNvSpPr txBox="1"/>
          <p:nvPr/>
        </p:nvSpPr>
        <p:spPr>
          <a:xfrm>
            <a:off x="4247536" y="1319670"/>
            <a:ext cx="12979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State Name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B4201DE-FDE9-418E-B3CF-D11049AA32F2}"/>
              </a:ext>
            </a:extLst>
          </p:cNvPr>
          <p:cNvCxnSpPr>
            <a:stCxn id="6" idx="2"/>
          </p:cNvCxnSpPr>
          <p:nvPr/>
        </p:nvCxnSpPr>
        <p:spPr>
          <a:xfrm flipH="1">
            <a:off x="5574890" y="2772697"/>
            <a:ext cx="1" cy="61943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lowchart: Decision 10">
            <a:extLst>
              <a:ext uri="{FF2B5EF4-FFF2-40B4-BE49-F238E27FC236}">
                <a16:creationId xmlns:a16="http://schemas.microsoft.com/office/drawing/2014/main" id="{C1C4772E-0C49-4108-8519-F1C6F2F73BD6}"/>
              </a:ext>
            </a:extLst>
          </p:cNvPr>
          <p:cNvSpPr/>
          <p:nvPr/>
        </p:nvSpPr>
        <p:spPr>
          <a:xfrm>
            <a:off x="4328652" y="3392130"/>
            <a:ext cx="2492475" cy="766916"/>
          </a:xfrm>
          <a:prstGeom prst="flowChartDecision">
            <a:avLst/>
          </a:prstGeom>
          <a:solidFill>
            <a:srgbClr val="002060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Condition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DB587C4-C2D9-4F52-A528-754385D9F714}"/>
              </a:ext>
            </a:extLst>
          </p:cNvPr>
          <p:cNvCxnSpPr>
            <a:stCxn id="11" idx="1"/>
          </p:cNvCxnSpPr>
          <p:nvPr/>
        </p:nvCxnSpPr>
        <p:spPr>
          <a:xfrm flipH="1">
            <a:off x="3082413" y="3775588"/>
            <a:ext cx="1246239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8E67749-D75E-41E8-AEDB-D4E10948B0B1}"/>
              </a:ext>
            </a:extLst>
          </p:cNvPr>
          <p:cNvCxnSpPr>
            <a:cxnSpLocks/>
          </p:cNvCxnSpPr>
          <p:nvPr/>
        </p:nvCxnSpPr>
        <p:spPr>
          <a:xfrm>
            <a:off x="3082413" y="3775588"/>
            <a:ext cx="0" cy="1887793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9FBC711-49B9-434D-B092-97B159AFBC10}"/>
              </a:ext>
            </a:extLst>
          </p:cNvPr>
          <p:cNvCxnSpPr>
            <a:stCxn id="11" idx="3"/>
          </p:cNvCxnSpPr>
          <p:nvPr/>
        </p:nvCxnSpPr>
        <p:spPr>
          <a:xfrm>
            <a:off x="6821127" y="3775588"/>
            <a:ext cx="1275738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F106077-AD1A-4DDE-93B1-B64E1A4F409F}"/>
              </a:ext>
            </a:extLst>
          </p:cNvPr>
          <p:cNvCxnSpPr/>
          <p:nvPr/>
        </p:nvCxnSpPr>
        <p:spPr>
          <a:xfrm>
            <a:off x="8096865" y="3775587"/>
            <a:ext cx="0" cy="72267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owchart: Alternate Process 19">
            <a:extLst>
              <a:ext uri="{FF2B5EF4-FFF2-40B4-BE49-F238E27FC236}">
                <a16:creationId xmlns:a16="http://schemas.microsoft.com/office/drawing/2014/main" id="{FA525146-59E7-44A8-A6BF-6EE93F38D5CC}"/>
              </a:ext>
            </a:extLst>
          </p:cNvPr>
          <p:cNvSpPr/>
          <p:nvPr/>
        </p:nvSpPr>
        <p:spPr>
          <a:xfrm>
            <a:off x="7241458" y="4498258"/>
            <a:ext cx="1607573" cy="589929"/>
          </a:xfrm>
          <a:prstGeom prst="flowChartAlternateProcess">
            <a:avLst/>
          </a:prstGeom>
          <a:solidFill>
            <a:schemeClr val="accent2">
              <a:lumMod val="60000"/>
              <a:lumOff val="4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Output</a:t>
            </a:r>
          </a:p>
          <a:p>
            <a:pPr algn="ctr"/>
            <a:r>
              <a:rPr lang="en-US" b="1" dirty="0"/>
              <a:t>Box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636BBD3-699D-4EAD-9F24-1A2108F0A9EE}"/>
              </a:ext>
            </a:extLst>
          </p:cNvPr>
          <p:cNvCxnSpPr>
            <a:cxnSpLocks/>
          </p:cNvCxnSpPr>
          <p:nvPr/>
        </p:nvCxnSpPr>
        <p:spPr>
          <a:xfrm>
            <a:off x="8096865" y="5091772"/>
            <a:ext cx="0" cy="57160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D2F5CF8-903A-4CD3-A816-54C06BAF657D}"/>
              </a:ext>
            </a:extLst>
          </p:cNvPr>
          <p:cNvSpPr txBox="1"/>
          <p:nvPr/>
        </p:nvSpPr>
        <p:spPr>
          <a:xfrm>
            <a:off x="7473975" y="5860489"/>
            <a:ext cx="1402307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Exit to Other</a:t>
            </a:r>
          </a:p>
          <a:p>
            <a:r>
              <a:rPr lang="en-US" b="1" dirty="0"/>
              <a:t>ASM Blocks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10B443-A8D3-4947-AD53-4B24C907D896}"/>
              </a:ext>
            </a:extLst>
          </p:cNvPr>
          <p:cNvSpPr txBox="1"/>
          <p:nvPr/>
        </p:nvSpPr>
        <p:spPr>
          <a:xfrm>
            <a:off x="3465871" y="3392130"/>
            <a:ext cx="6072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/>
              <a:t>True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E6D78A-83F1-4C76-8988-E2118565C35B}"/>
              </a:ext>
            </a:extLst>
          </p:cNvPr>
          <p:cNvSpPr txBox="1"/>
          <p:nvPr/>
        </p:nvSpPr>
        <p:spPr>
          <a:xfrm>
            <a:off x="7241458" y="3429000"/>
            <a:ext cx="660887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/>
              <a:t>False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9FE9167-8892-44BB-8186-575082672D47}"/>
              </a:ext>
            </a:extLst>
          </p:cNvPr>
          <p:cNvCxnSpPr/>
          <p:nvPr/>
        </p:nvCxnSpPr>
        <p:spPr>
          <a:xfrm flipV="1">
            <a:off x="7064477" y="1319670"/>
            <a:ext cx="829917" cy="18466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AC49912-0307-47CF-93A4-A6BBF5FF43A7}"/>
              </a:ext>
            </a:extLst>
          </p:cNvPr>
          <p:cNvSpPr txBox="1"/>
          <p:nvPr/>
        </p:nvSpPr>
        <p:spPr>
          <a:xfrm>
            <a:off x="7894394" y="1225799"/>
            <a:ext cx="1213024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/>
              <a:t>State Code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D5228-ACD2-4FAA-BB8C-DCB2684FE6A8}"/>
              </a:ext>
            </a:extLst>
          </p:cNvPr>
          <p:cNvSpPr txBox="1"/>
          <p:nvPr/>
        </p:nvSpPr>
        <p:spPr>
          <a:xfrm>
            <a:off x="2494038" y="5881406"/>
            <a:ext cx="1402307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Exit to Other</a:t>
            </a:r>
          </a:p>
          <a:p>
            <a:r>
              <a:rPr lang="en-US" b="1" dirty="0"/>
              <a:t>ASM Blocks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C0353E-188C-431C-944D-BFF7DE2F7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Digital System Design Lecture 8 Fall 2026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FA175-AD09-6722-E11A-1E7D87D35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359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1" grpId="0" animBg="1"/>
      <p:bldP spid="20" grpId="0" animBg="1"/>
      <p:bldP spid="24" grpId="0" animBg="1"/>
      <p:bldP spid="25" grpId="0"/>
      <p:bldP spid="26" grpId="0"/>
      <p:bldP spid="29" grpId="0"/>
      <p:bldP spid="3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ABEAC-28B5-4D4A-9C6F-2F7D8F121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5AF7E-A1AA-4F57-957F-488F77CC0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00FF00"/>
                </a:highlight>
              </a:rPr>
              <a:t>(Leftover) </a:t>
            </a:r>
            <a:r>
              <a:rPr lang="en-US" dirty="0"/>
              <a:t>Example of Vending Machine</a:t>
            </a:r>
          </a:p>
          <a:p>
            <a:r>
              <a:rPr lang="en-US" dirty="0"/>
              <a:t>State Minimization</a:t>
            </a:r>
          </a:p>
          <a:p>
            <a:r>
              <a:rPr lang="en-US" dirty="0"/>
              <a:t>Row Matching Method</a:t>
            </a:r>
          </a:p>
          <a:p>
            <a:r>
              <a:rPr lang="en-US" dirty="0"/>
              <a:t>Using Implication Charts</a:t>
            </a:r>
          </a:p>
          <a:p>
            <a:r>
              <a:rPr lang="en-US" b="1" dirty="0">
                <a:highlight>
                  <a:srgbClr val="FFFF00"/>
                </a:highlight>
              </a:rPr>
              <a:t>QUIZ 2 today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B06C11-A726-45AA-92E2-72975A261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933FC-9928-4F42-9AA3-13C90398418E}" type="slidenum">
              <a:rPr lang="en-US" smtClean="0"/>
              <a:t>30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21D2B-2B75-43CB-AB4B-E8D2644AA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Digital System Design Lecture 9 Fall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4368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979DB-1B99-48F1-BA7A-CA3117AB8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111" y="365125"/>
            <a:ext cx="5599889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Moore State Machine </a:t>
            </a:r>
            <a:br>
              <a:rPr lang="en-US" b="1" dirty="0">
                <a:solidFill>
                  <a:srgbClr val="0070C0"/>
                </a:solidFill>
              </a:rPr>
            </a:br>
            <a:r>
              <a:rPr lang="en-US" b="1" dirty="0">
                <a:solidFill>
                  <a:srgbClr val="0070C0"/>
                </a:solidFill>
              </a:rPr>
              <a:t>for Vending Machine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08E13D3-EB5D-4D8A-8950-7F86909D06CD}"/>
              </a:ext>
            </a:extLst>
          </p:cNvPr>
          <p:cNvSpPr/>
          <p:nvPr/>
        </p:nvSpPr>
        <p:spPr>
          <a:xfrm>
            <a:off x="7632637" y="1124246"/>
            <a:ext cx="860323" cy="81653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S0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[0]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260ED9F-FE0D-4868-9BD4-648635F8B4F5}"/>
              </a:ext>
            </a:extLst>
          </p:cNvPr>
          <p:cNvSpPr/>
          <p:nvPr/>
        </p:nvSpPr>
        <p:spPr>
          <a:xfrm>
            <a:off x="7620780" y="2494535"/>
            <a:ext cx="860323" cy="81653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S1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[0]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AB6C43E-6985-4146-AE4E-1BD1D4A69A72}"/>
              </a:ext>
            </a:extLst>
          </p:cNvPr>
          <p:cNvSpPr/>
          <p:nvPr/>
        </p:nvSpPr>
        <p:spPr>
          <a:xfrm>
            <a:off x="7620779" y="3850024"/>
            <a:ext cx="860323" cy="81653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S2;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[0]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80F501D-FEEF-402C-A413-9A1FB1A42057}"/>
              </a:ext>
            </a:extLst>
          </p:cNvPr>
          <p:cNvSpPr/>
          <p:nvPr/>
        </p:nvSpPr>
        <p:spPr>
          <a:xfrm>
            <a:off x="7632637" y="5205513"/>
            <a:ext cx="860323" cy="816538"/>
          </a:xfrm>
          <a:prstGeom prst="ellipse">
            <a:avLst/>
          </a:prstGeom>
          <a:solidFill>
            <a:schemeClr val="accent6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S3;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[1]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1F863DA-7C97-4FDB-8472-C606CEAED612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8050942" y="1929151"/>
            <a:ext cx="11857" cy="565384"/>
          </a:xfrm>
          <a:prstGeom prst="straightConnector1">
            <a:avLst/>
          </a:prstGeom>
          <a:ln w="28575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B0FD2D8-EE4F-4B2D-A310-2AD6B8C2BBAD}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>
            <a:off x="8050941" y="4666562"/>
            <a:ext cx="11858" cy="538951"/>
          </a:xfrm>
          <a:prstGeom prst="straightConnector1">
            <a:avLst/>
          </a:prstGeom>
          <a:ln w="28575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CF15D1E-7016-473E-AB20-3B8C9BBF7F9C}"/>
              </a:ext>
            </a:extLst>
          </p:cNvPr>
          <p:cNvSpPr txBox="1"/>
          <p:nvPr/>
        </p:nvSpPr>
        <p:spPr>
          <a:xfrm>
            <a:off x="7674323" y="6123543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OPEN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A95869-9A4B-400B-8E3C-009B156F69C4}"/>
              </a:ext>
            </a:extLst>
          </p:cNvPr>
          <p:cNvSpPr txBox="1"/>
          <p:nvPr/>
        </p:nvSpPr>
        <p:spPr>
          <a:xfrm>
            <a:off x="9576062" y="2902804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848313-095E-4E99-ADFB-C9E678E0854A}"/>
              </a:ext>
            </a:extLst>
          </p:cNvPr>
          <p:cNvSpPr txBox="1"/>
          <p:nvPr/>
        </p:nvSpPr>
        <p:spPr>
          <a:xfrm>
            <a:off x="7594354" y="197104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1B61B2-9B81-4320-800D-92A17B75D971}"/>
              </a:ext>
            </a:extLst>
          </p:cNvPr>
          <p:cNvSpPr txBox="1"/>
          <p:nvPr/>
        </p:nvSpPr>
        <p:spPr>
          <a:xfrm>
            <a:off x="6010976" y="3378943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R10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ABF794A-4DD7-47C4-8408-C3A08FF89DE8}"/>
              </a:ext>
            </a:extLst>
          </p:cNvPr>
          <p:cNvCxnSpPr>
            <a:cxnSpLocks/>
            <a:stCxn id="16" idx="1"/>
            <a:endCxn id="5" idx="7"/>
          </p:cNvCxnSpPr>
          <p:nvPr/>
        </p:nvCxnSpPr>
        <p:spPr>
          <a:xfrm flipH="1">
            <a:off x="8366969" y="1019034"/>
            <a:ext cx="670425" cy="2247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DCEC122-03AC-4110-95A4-B5604361D63F}"/>
              </a:ext>
            </a:extLst>
          </p:cNvPr>
          <p:cNvSpPr txBox="1"/>
          <p:nvPr/>
        </p:nvSpPr>
        <p:spPr>
          <a:xfrm>
            <a:off x="9037394" y="834368"/>
            <a:ext cx="711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Reset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6FF6AB4-5403-44C4-B62A-24DACBB896BD}"/>
              </a:ext>
            </a:extLst>
          </p:cNvPr>
          <p:cNvCxnSpPr>
            <a:cxnSpLocks/>
            <a:stCxn id="6" idx="4"/>
          </p:cNvCxnSpPr>
          <p:nvPr/>
        </p:nvCxnSpPr>
        <p:spPr>
          <a:xfrm flipH="1">
            <a:off x="8050940" y="3311073"/>
            <a:ext cx="2" cy="560576"/>
          </a:xfrm>
          <a:prstGeom prst="straightConnector1">
            <a:avLst/>
          </a:prstGeom>
          <a:ln w="28575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F60105C-A8FF-4270-98A5-30216AA4AE0D}"/>
              </a:ext>
            </a:extLst>
          </p:cNvPr>
          <p:cNvSpPr txBox="1"/>
          <p:nvPr/>
        </p:nvSpPr>
        <p:spPr>
          <a:xfrm>
            <a:off x="7594354" y="3332170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2E2E93-1549-4891-B575-840F48E27E9D}"/>
              </a:ext>
            </a:extLst>
          </p:cNvPr>
          <p:cNvSpPr txBox="1"/>
          <p:nvPr/>
        </p:nvSpPr>
        <p:spPr>
          <a:xfrm>
            <a:off x="7120002" y="4724084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R5+R10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AA5BF12D-807A-40EC-BFE9-E5963AD79BDE}"/>
              </a:ext>
            </a:extLst>
          </p:cNvPr>
          <p:cNvSpPr/>
          <p:nvPr/>
        </p:nvSpPr>
        <p:spPr>
          <a:xfrm>
            <a:off x="7961436" y="1514984"/>
            <a:ext cx="1614626" cy="2875840"/>
          </a:xfrm>
          <a:prstGeom prst="arc">
            <a:avLst>
              <a:gd name="adj1" fmla="val 15516595"/>
              <a:gd name="adj2" fmla="val 6088921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9B25569A-D885-46D3-AB67-4F6BEA06A62C}"/>
              </a:ext>
            </a:extLst>
          </p:cNvPr>
          <p:cNvSpPr/>
          <p:nvPr/>
        </p:nvSpPr>
        <p:spPr>
          <a:xfrm flipH="1">
            <a:off x="6462628" y="2479735"/>
            <a:ext cx="1651392" cy="3266577"/>
          </a:xfrm>
          <a:prstGeom prst="arc">
            <a:avLst>
              <a:gd name="adj1" fmla="val 15321058"/>
              <a:gd name="adj2" fmla="val 6186823"/>
            </a:avLst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FF4A701A-E46A-4FC2-929A-5F96ADBD8AE1}"/>
              </a:ext>
            </a:extLst>
          </p:cNvPr>
          <p:cNvSpPr/>
          <p:nvPr/>
        </p:nvSpPr>
        <p:spPr>
          <a:xfrm rot="826322">
            <a:off x="7202647" y="637097"/>
            <a:ext cx="783414" cy="771311"/>
          </a:xfrm>
          <a:prstGeom prst="arc">
            <a:avLst>
              <a:gd name="adj1" fmla="val 4184251"/>
              <a:gd name="adj2" fmla="val 0"/>
            </a:avLst>
          </a:prstGeom>
          <a:ln w="28575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907135-5AB1-4AE5-8896-0F6F9131E905}"/>
              </a:ext>
            </a:extLst>
          </p:cNvPr>
          <p:cNvSpPr txBox="1"/>
          <p:nvPr/>
        </p:nvSpPr>
        <p:spPr>
          <a:xfrm>
            <a:off x="7318494" y="208495"/>
            <a:ext cx="170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(R5’R10’+Reset)</a:t>
            </a:r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8AAED702-D461-4442-93FD-9ACFFE2A5D3A}"/>
              </a:ext>
            </a:extLst>
          </p:cNvPr>
          <p:cNvSpPr/>
          <p:nvPr/>
        </p:nvSpPr>
        <p:spPr>
          <a:xfrm rot="8417303">
            <a:off x="8391853" y="2496619"/>
            <a:ext cx="713182" cy="711729"/>
          </a:xfrm>
          <a:prstGeom prst="arc">
            <a:avLst>
              <a:gd name="adj1" fmla="val 4184251"/>
              <a:gd name="adj2" fmla="val 0"/>
            </a:avLst>
          </a:prstGeom>
          <a:ln w="28575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82E850-EF5F-47AD-A2A4-D895E50AF3F2}"/>
              </a:ext>
            </a:extLst>
          </p:cNvPr>
          <p:cNvSpPr txBox="1"/>
          <p:nvPr/>
        </p:nvSpPr>
        <p:spPr>
          <a:xfrm>
            <a:off x="8380355" y="2136615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R5’R10’</a:t>
            </a:r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A7D46115-855C-4400-9179-B3B3C6F41BBD}"/>
              </a:ext>
            </a:extLst>
          </p:cNvPr>
          <p:cNvSpPr/>
          <p:nvPr/>
        </p:nvSpPr>
        <p:spPr>
          <a:xfrm rot="8417303">
            <a:off x="8391995" y="5229943"/>
            <a:ext cx="713182" cy="711729"/>
          </a:xfrm>
          <a:prstGeom prst="arc">
            <a:avLst>
              <a:gd name="adj1" fmla="val 4184251"/>
              <a:gd name="adj2" fmla="val 0"/>
            </a:avLst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561E43-997C-45BE-94D6-FFBD1DB729F9}"/>
              </a:ext>
            </a:extLst>
          </p:cNvPr>
          <p:cNvSpPr txBox="1"/>
          <p:nvPr/>
        </p:nvSpPr>
        <p:spPr>
          <a:xfrm>
            <a:off x="8993504" y="5112715"/>
            <a:ext cx="767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Reset</a:t>
            </a:r>
            <a:r>
              <a:rPr lang="en-US" dirty="0"/>
              <a:t>’</a:t>
            </a: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5A28A7A4-8D25-48C3-8EE3-D0CB28384457}"/>
              </a:ext>
            </a:extLst>
          </p:cNvPr>
          <p:cNvSpPr/>
          <p:nvPr/>
        </p:nvSpPr>
        <p:spPr>
          <a:xfrm flipH="1">
            <a:off x="5631021" y="1520954"/>
            <a:ext cx="3055352" cy="4628490"/>
          </a:xfrm>
          <a:prstGeom prst="arc">
            <a:avLst>
              <a:gd name="adj1" fmla="val 15479170"/>
              <a:gd name="adj2" fmla="val 6438138"/>
            </a:avLst>
          </a:prstGeom>
          <a:ln w="28575">
            <a:solidFill>
              <a:srgbClr val="7030A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7D7DB2-8207-4891-8E09-DD6ADA8A60E5}"/>
              </a:ext>
            </a:extLst>
          </p:cNvPr>
          <p:cNvSpPr txBox="1"/>
          <p:nvPr/>
        </p:nvSpPr>
        <p:spPr>
          <a:xfrm>
            <a:off x="4993844" y="3009611"/>
            <a:ext cx="711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Reset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FDDD2BF-079F-4FA1-92FB-65524ACBE1AC}"/>
              </a:ext>
            </a:extLst>
          </p:cNvPr>
          <p:cNvSpPr txBox="1"/>
          <p:nvPr/>
        </p:nvSpPr>
        <p:spPr>
          <a:xfrm>
            <a:off x="6846745" y="3504787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R5’R10’</a:t>
            </a:r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FEB9BFAD-C3DC-4E1D-B80A-9BF8D01B432C}"/>
              </a:ext>
            </a:extLst>
          </p:cNvPr>
          <p:cNvSpPr/>
          <p:nvPr/>
        </p:nvSpPr>
        <p:spPr>
          <a:xfrm rot="12875780" flipH="1">
            <a:off x="7005450" y="3887818"/>
            <a:ext cx="713182" cy="711729"/>
          </a:xfrm>
          <a:prstGeom prst="arc">
            <a:avLst>
              <a:gd name="adj1" fmla="val 4184251"/>
              <a:gd name="adj2" fmla="val 0"/>
            </a:avLst>
          </a:prstGeom>
          <a:ln w="28575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CFD17E-88B0-4E61-A30F-965DB95A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Digital System Design Lecture 9 Fall 2026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6240F-1ECF-2AD6-94BC-75A5D1FC0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35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1" grpId="0"/>
      <p:bldP spid="12" grpId="0"/>
      <p:bldP spid="13" grpId="0"/>
      <p:bldP spid="14" grpId="0"/>
      <p:bldP spid="16" grpId="0"/>
      <p:bldP spid="18" grpId="0"/>
      <p:bldP spid="19" grpId="0"/>
      <p:bldP spid="20" grpId="0" animBg="1"/>
      <p:bldP spid="21" grpId="0" animBg="1"/>
      <p:bldP spid="24" grpId="0" animBg="1"/>
      <p:bldP spid="25" grpId="0"/>
      <p:bldP spid="26" grpId="0" animBg="1"/>
      <p:bldP spid="27" grpId="0"/>
      <p:bldP spid="28" grpId="0" animBg="1"/>
      <p:bldP spid="29" grpId="0"/>
      <p:bldP spid="30" grpId="0" animBg="1"/>
      <p:bldP spid="32" grpId="0"/>
      <p:bldP spid="33" grpId="0"/>
      <p:bldP spid="3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3232B-C42B-4AD7-909E-757FFEFC6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381" y="314652"/>
            <a:ext cx="5572037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Mealy State Machine</a:t>
            </a:r>
            <a:br>
              <a:rPr lang="en-US" b="1" dirty="0">
                <a:solidFill>
                  <a:srgbClr val="0070C0"/>
                </a:solidFill>
              </a:rPr>
            </a:br>
            <a:r>
              <a:rPr lang="en-US" b="1" dirty="0">
                <a:solidFill>
                  <a:srgbClr val="0070C0"/>
                </a:solidFill>
              </a:rPr>
              <a:t>for Vending Machine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5616D1-2D9E-44A4-8187-D11625D86D7E}"/>
              </a:ext>
            </a:extLst>
          </p:cNvPr>
          <p:cNvSpPr/>
          <p:nvPr/>
        </p:nvSpPr>
        <p:spPr>
          <a:xfrm>
            <a:off x="7632637" y="1124246"/>
            <a:ext cx="860323" cy="81653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3DB4083-5FCA-4578-906D-9793B74B64D6}"/>
              </a:ext>
            </a:extLst>
          </p:cNvPr>
          <p:cNvSpPr/>
          <p:nvPr/>
        </p:nvSpPr>
        <p:spPr>
          <a:xfrm>
            <a:off x="7620780" y="2494535"/>
            <a:ext cx="860323" cy="81653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03A3F80-C771-49BB-AC50-65748E009502}"/>
              </a:ext>
            </a:extLst>
          </p:cNvPr>
          <p:cNvSpPr/>
          <p:nvPr/>
        </p:nvSpPr>
        <p:spPr>
          <a:xfrm>
            <a:off x="7620779" y="3850024"/>
            <a:ext cx="860323" cy="81653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1CBD8A7-FD7F-4B63-90C9-5324CF8D3604}"/>
              </a:ext>
            </a:extLst>
          </p:cNvPr>
          <p:cNvSpPr/>
          <p:nvPr/>
        </p:nvSpPr>
        <p:spPr>
          <a:xfrm>
            <a:off x="7632637" y="5205513"/>
            <a:ext cx="860323" cy="816538"/>
          </a:xfrm>
          <a:prstGeom prst="ellipse">
            <a:avLst/>
          </a:prstGeom>
          <a:solidFill>
            <a:schemeClr val="accent6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S3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36872B3-BD88-42ED-BCC5-E134236D3784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8050942" y="1929151"/>
            <a:ext cx="11857" cy="565384"/>
          </a:xfrm>
          <a:prstGeom prst="straightConnector1">
            <a:avLst/>
          </a:prstGeom>
          <a:ln w="28575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C1F34D0-887C-4C4C-8CAB-A6C0A24F57D0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>
            <a:off x="8050941" y="4666562"/>
            <a:ext cx="11858" cy="538951"/>
          </a:xfrm>
          <a:prstGeom prst="straightConnector1">
            <a:avLst/>
          </a:prstGeom>
          <a:ln w="28575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7A696A-78F0-4F53-BB0A-6F7F4FEBB128}"/>
              </a:ext>
            </a:extLst>
          </p:cNvPr>
          <p:cNvSpPr txBox="1"/>
          <p:nvPr/>
        </p:nvSpPr>
        <p:spPr>
          <a:xfrm>
            <a:off x="7674323" y="6123543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OPEN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628DB2-FF53-47B8-9894-3EB00D5C9E98}"/>
              </a:ext>
            </a:extLst>
          </p:cNvPr>
          <p:cNvSpPr txBox="1"/>
          <p:nvPr/>
        </p:nvSpPr>
        <p:spPr>
          <a:xfrm>
            <a:off x="9576062" y="2902804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R10/0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C115F3-D12E-40F1-B656-310FC460778C}"/>
              </a:ext>
            </a:extLst>
          </p:cNvPr>
          <p:cNvSpPr txBox="1"/>
          <p:nvPr/>
        </p:nvSpPr>
        <p:spPr>
          <a:xfrm>
            <a:off x="7444780" y="2031690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R5/0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3D1F30-CACE-460C-8BCE-5D75868E3E04}"/>
              </a:ext>
            </a:extLst>
          </p:cNvPr>
          <p:cNvSpPr txBox="1"/>
          <p:nvPr/>
        </p:nvSpPr>
        <p:spPr>
          <a:xfrm>
            <a:off x="5840361" y="3073805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R10/1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522EDCF-5A99-4EC0-9A39-F11DC9F2F20A}"/>
              </a:ext>
            </a:extLst>
          </p:cNvPr>
          <p:cNvCxnSpPr>
            <a:cxnSpLocks/>
            <a:stCxn id="15" idx="1"/>
            <a:endCxn id="4" idx="7"/>
          </p:cNvCxnSpPr>
          <p:nvPr/>
        </p:nvCxnSpPr>
        <p:spPr>
          <a:xfrm flipH="1">
            <a:off x="8366969" y="1019034"/>
            <a:ext cx="670425" cy="2247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36A6191-EEAC-42A6-9C41-73E794503372}"/>
              </a:ext>
            </a:extLst>
          </p:cNvPr>
          <p:cNvSpPr txBox="1"/>
          <p:nvPr/>
        </p:nvSpPr>
        <p:spPr>
          <a:xfrm>
            <a:off x="9037394" y="834368"/>
            <a:ext cx="711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Reset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81322F7-7BE4-4BBC-BC5D-FBA7C073C304}"/>
              </a:ext>
            </a:extLst>
          </p:cNvPr>
          <p:cNvCxnSpPr>
            <a:cxnSpLocks/>
            <a:stCxn id="5" idx="4"/>
          </p:cNvCxnSpPr>
          <p:nvPr/>
        </p:nvCxnSpPr>
        <p:spPr>
          <a:xfrm flipH="1">
            <a:off x="8050940" y="3311073"/>
            <a:ext cx="2" cy="560576"/>
          </a:xfrm>
          <a:prstGeom prst="straightConnector1">
            <a:avLst/>
          </a:prstGeom>
          <a:ln w="28575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7E1DB01-4F71-421C-9600-F39826C3BFAE}"/>
              </a:ext>
            </a:extLst>
          </p:cNvPr>
          <p:cNvSpPr txBox="1"/>
          <p:nvPr/>
        </p:nvSpPr>
        <p:spPr>
          <a:xfrm>
            <a:off x="8007976" y="3362262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R5/0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43758F-6441-442A-A8D7-002AF9B6CDFD}"/>
              </a:ext>
            </a:extLst>
          </p:cNvPr>
          <p:cNvSpPr txBox="1"/>
          <p:nvPr/>
        </p:nvSpPr>
        <p:spPr>
          <a:xfrm>
            <a:off x="8050940" y="4764404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R5+R10/1</a:t>
            </a: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22BBD490-0B8F-475B-92CD-A632E8C39712}"/>
              </a:ext>
            </a:extLst>
          </p:cNvPr>
          <p:cNvSpPr/>
          <p:nvPr/>
        </p:nvSpPr>
        <p:spPr>
          <a:xfrm>
            <a:off x="7961436" y="1514984"/>
            <a:ext cx="1614626" cy="2875840"/>
          </a:xfrm>
          <a:prstGeom prst="arc">
            <a:avLst>
              <a:gd name="adj1" fmla="val 15516595"/>
              <a:gd name="adj2" fmla="val 6088921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00413315-EA4B-4C67-BE5B-01BB2F7C6502}"/>
              </a:ext>
            </a:extLst>
          </p:cNvPr>
          <p:cNvSpPr/>
          <p:nvPr/>
        </p:nvSpPr>
        <p:spPr>
          <a:xfrm flipH="1">
            <a:off x="6462628" y="2479735"/>
            <a:ext cx="1651392" cy="3266577"/>
          </a:xfrm>
          <a:prstGeom prst="arc">
            <a:avLst>
              <a:gd name="adj1" fmla="val 15317487"/>
              <a:gd name="adj2" fmla="val 6186823"/>
            </a:avLst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DA8CC028-7E1D-460D-AEB3-74B6BBC4BBAF}"/>
              </a:ext>
            </a:extLst>
          </p:cNvPr>
          <p:cNvSpPr/>
          <p:nvPr/>
        </p:nvSpPr>
        <p:spPr>
          <a:xfrm rot="826322">
            <a:off x="7202647" y="637097"/>
            <a:ext cx="783414" cy="771311"/>
          </a:xfrm>
          <a:prstGeom prst="arc">
            <a:avLst>
              <a:gd name="adj1" fmla="val 4184251"/>
              <a:gd name="adj2" fmla="val 0"/>
            </a:avLst>
          </a:prstGeom>
          <a:ln w="28575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551BE5-A09E-4F46-BA4D-E0A2FDF908FD}"/>
              </a:ext>
            </a:extLst>
          </p:cNvPr>
          <p:cNvSpPr txBox="1"/>
          <p:nvPr/>
        </p:nvSpPr>
        <p:spPr>
          <a:xfrm>
            <a:off x="7318494" y="208495"/>
            <a:ext cx="191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(R5’R10’+Reset)/0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6A536C29-DDCF-4023-941A-F8004FC1C676}"/>
              </a:ext>
            </a:extLst>
          </p:cNvPr>
          <p:cNvSpPr/>
          <p:nvPr/>
        </p:nvSpPr>
        <p:spPr>
          <a:xfrm rot="8417303">
            <a:off x="8391853" y="2496619"/>
            <a:ext cx="713182" cy="711729"/>
          </a:xfrm>
          <a:prstGeom prst="arc">
            <a:avLst>
              <a:gd name="adj1" fmla="val 4184251"/>
              <a:gd name="adj2" fmla="val 0"/>
            </a:avLst>
          </a:prstGeom>
          <a:ln w="28575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D61E58-AEFF-4D4A-B206-094C23CEAC2A}"/>
              </a:ext>
            </a:extLst>
          </p:cNvPr>
          <p:cNvSpPr txBox="1"/>
          <p:nvPr/>
        </p:nvSpPr>
        <p:spPr>
          <a:xfrm>
            <a:off x="8380355" y="2136615"/>
            <a:ext cx="1130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R5’R10’/0</a:t>
            </a:r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00B02861-FACB-4402-A48E-536420FE52DD}"/>
              </a:ext>
            </a:extLst>
          </p:cNvPr>
          <p:cNvSpPr/>
          <p:nvPr/>
        </p:nvSpPr>
        <p:spPr>
          <a:xfrm rot="8417303">
            <a:off x="8391995" y="5229943"/>
            <a:ext cx="713182" cy="711729"/>
          </a:xfrm>
          <a:prstGeom prst="arc">
            <a:avLst>
              <a:gd name="adj1" fmla="val 4184251"/>
              <a:gd name="adj2" fmla="val 0"/>
            </a:avLst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3E7286-B98A-478D-8C2D-0E6D13D0FA91}"/>
              </a:ext>
            </a:extLst>
          </p:cNvPr>
          <p:cNvSpPr txBox="1"/>
          <p:nvPr/>
        </p:nvSpPr>
        <p:spPr>
          <a:xfrm>
            <a:off x="8993504" y="5112715"/>
            <a:ext cx="993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Reset’/1</a:t>
            </a: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AF09FCC5-5720-4601-B6C8-373EAE7263F5}"/>
              </a:ext>
            </a:extLst>
          </p:cNvPr>
          <p:cNvSpPr/>
          <p:nvPr/>
        </p:nvSpPr>
        <p:spPr>
          <a:xfrm flipH="1">
            <a:off x="5631021" y="1520954"/>
            <a:ext cx="3055352" cy="4628490"/>
          </a:xfrm>
          <a:prstGeom prst="arc">
            <a:avLst>
              <a:gd name="adj1" fmla="val 15479170"/>
              <a:gd name="adj2" fmla="val 6438138"/>
            </a:avLst>
          </a:prstGeom>
          <a:ln w="28575">
            <a:solidFill>
              <a:srgbClr val="7030A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9D79FC7-3F59-4478-A2EE-F7F42B3E5290}"/>
              </a:ext>
            </a:extLst>
          </p:cNvPr>
          <p:cNvSpPr txBox="1"/>
          <p:nvPr/>
        </p:nvSpPr>
        <p:spPr>
          <a:xfrm>
            <a:off x="4721346" y="3020959"/>
            <a:ext cx="928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Reset/0</a:t>
            </a:r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03899C6F-C2FA-43DB-8A70-1CC323A807B4}"/>
              </a:ext>
            </a:extLst>
          </p:cNvPr>
          <p:cNvSpPr/>
          <p:nvPr/>
        </p:nvSpPr>
        <p:spPr>
          <a:xfrm rot="12875780" flipH="1">
            <a:off x="7005450" y="3887818"/>
            <a:ext cx="713182" cy="711729"/>
          </a:xfrm>
          <a:prstGeom prst="arc">
            <a:avLst>
              <a:gd name="adj1" fmla="val 4184251"/>
              <a:gd name="adj2" fmla="val 0"/>
            </a:avLst>
          </a:prstGeom>
          <a:ln w="28575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9B1D8F-8ED5-49A0-B6A2-C86B1CB1DD2E}"/>
              </a:ext>
            </a:extLst>
          </p:cNvPr>
          <p:cNvSpPr txBox="1"/>
          <p:nvPr/>
        </p:nvSpPr>
        <p:spPr>
          <a:xfrm>
            <a:off x="6774495" y="3567328"/>
            <a:ext cx="1130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R5’R10’/0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6E652F-EC7F-4279-9790-E6FD0AC9C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Digital System Design Lecture 9 Fall 2026</a:t>
            </a:r>
            <a:endParaRPr lang="en-US"/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31D3FEA7-AD59-6F5F-E292-BA829EC4F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760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0" grpId="0"/>
      <p:bldP spid="11" grpId="0"/>
      <p:bldP spid="12" grpId="0"/>
      <p:bldP spid="13" grpId="0"/>
      <p:bldP spid="15" grpId="0"/>
      <p:bldP spid="17" grpId="0"/>
      <p:bldP spid="18" grpId="0"/>
      <p:bldP spid="19" grpId="0" animBg="1"/>
      <p:bldP spid="20" grpId="0" animBg="1"/>
      <p:bldP spid="21" grpId="0" animBg="1"/>
      <p:bldP spid="22" grpId="0"/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animBg="1"/>
      <p:bldP spid="3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11EBB-9FA9-4A1F-ACCA-BCA88701A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Some Comparison Moore vs Mealy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B9BDE-E0A0-4024-A071-333106FE5779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r>
              <a:rPr lang="en-US" dirty="0"/>
              <a:t>Mealy machine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requires fewer states </a:t>
            </a:r>
            <a:r>
              <a:rPr lang="en-US" dirty="0"/>
              <a:t>to reach output in comparison with Moore machine</a:t>
            </a:r>
          </a:p>
          <a:p>
            <a:r>
              <a:rPr lang="en-US" dirty="0"/>
              <a:t>Mealy machine is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more susceptible to glitches</a:t>
            </a:r>
          </a:p>
          <a:p>
            <a:r>
              <a:rPr lang="en-US" dirty="0"/>
              <a:t>Explicit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output values </a:t>
            </a:r>
            <a:r>
              <a:rPr lang="en-US" dirty="0"/>
              <a:t>are shown in Mealy machine associated with each transition</a:t>
            </a:r>
          </a:p>
          <a:p>
            <a:r>
              <a:rPr lang="en-US" dirty="0"/>
              <a:t>Output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changes after state </a:t>
            </a:r>
            <a:r>
              <a:rPr lang="en-US" dirty="0"/>
              <a:t>is changed in Moore machine</a:t>
            </a:r>
          </a:p>
          <a:p>
            <a:r>
              <a:rPr lang="en-US" dirty="0"/>
              <a:t>Output in Moore machine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depends upon state only</a:t>
            </a:r>
            <a:r>
              <a:rPr lang="en-US" dirty="0"/>
              <a:t>; inputs can steer the output towards a particular state that affects output</a:t>
            </a:r>
          </a:p>
          <a:p>
            <a:r>
              <a:rPr lang="en-US" dirty="0"/>
              <a:t>Output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depends upon present state and the present value </a:t>
            </a:r>
            <a:r>
              <a:rPr lang="en-US" dirty="0"/>
              <a:t>at the input; thus, output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can change immediately </a:t>
            </a:r>
            <a:r>
              <a:rPr lang="en-US" dirty="0"/>
              <a:t>with the change in input, independent of synchronous clock.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D1D7F5-E3B0-406F-B78F-9769088D3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Digital System Design Lecture 9 Fall 2026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1F1696-096A-7343-774E-789A281D9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018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FD163-9777-4A19-8DE4-E6EE0A2F1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550"/>
            <a:ext cx="10515600" cy="454128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One Hot Encoding – one FF for each state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B96290-AE80-439A-8209-E02EB753E7A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663678"/>
          <a:ext cx="9201148" cy="527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6468">
                  <a:extLst>
                    <a:ext uri="{9D8B030D-6E8A-4147-A177-3AD203B41FA5}">
                      <a16:colId xmlns:a16="http://schemas.microsoft.com/office/drawing/2014/main" val="1016255443"/>
                    </a:ext>
                  </a:extLst>
                </a:gridCol>
                <a:gridCol w="836468">
                  <a:extLst>
                    <a:ext uri="{9D8B030D-6E8A-4147-A177-3AD203B41FA5}">
                      <a16:colId xmlns:a16="http://schemas.microsoft.com/office/drawing/2014/main" val="806448058"/>
                    </a:ext>
                  </a:extLst>
                </a:gridCol>
                <a:gridCol w="836468">
                  <a:extLst>
                    <a:ext uri="{9D8B030D-6E8A-4147-A177-3AD203B41FA5}">
                      <a16:colId xmlns:a16="http://schemas.microsoft.com/office/drawing/2014/main" val="3452671187"/>
                    </a:ext>
                  </a:extLst>
                </a:gridCol>
                <a:gridCol w="836468">
                  <a:extLst>
                    <a:ext uri="{9D8B030D-6E8A-4147-A177-3AD203B41FA5}">
                      <a16:colId xmlns:a16="http://schemas.microsoft.com/office/drawing/2014/main" val="1837561952"/>
                    </a:ext>
                  </a:extLst>
                </a:gridCol>
                <a:gridCol w="836468">
                  <a:extLst>
                    <a:ext uri="{9D8B030D-6E8A-4147-A177-3AD203B41FA5}">
                      <a16:colId xmlns:a16="http://schemas.microsoft.com/office/drawing/2014/main" val="3447547645"/>
                    </a:ext>
                  </a:extLst>
                </a:gridCol>
                <a:gridCol w="836468">
                  <a:extLst>
                    <a:ext uri="{9D8B030D-6E8A-4147-A177-3AD203B41FA5}">
                      <a16:colId xmlns:a16="http://schemas.microsoft.com/office/drawing/2014/main" val="262173160"/>
                    </a:ext>
                  </a:extLst>
                </a:gridCol>
                <a:gridCol w="836468">
                  <a:extLst>
                    <a:ext uri="{9D8B030D-6E8A-4147-A177-3AD203B41FA5}">
                      <a16:colId xmlns:a16="http://schemas.microsoft.com/office/drawing/2014/main" val="979543964"/>
                    </a:ext>
                  </a:extLst>
                </a:gridCol>
                <a:gridCol w="836468">
                  <a:extLst>
                    <a:ext uri="{9D8B030D-6E8A-4147-A177-3AD203B41FA5}">
                      <a16:colId xmlns:a16="http://schemas.microsoft.com/office/drawing/2014/main" val="3286090648"/>
                    </a:ext>
                  </a:extLst>
                </a:gridCol>
                <a:gridCol w="836468">
                  <a:extLst>
                    <a:ext uri="{9D8B030D-6E8A-4147-A177-3AD203B41FA5}">
                      <a16:colId xmlns:a16="http://schemas.microsoft.com/office/drawing/2014/main" val="4181515521"/>
                    </a:ext>
                  </a:extLst>
                </a:gridCol>
                <a:gridCol w="836468">
                  <a:extLst>
                    <a:ext uri="{9D8B030D-6E8A-4147-A177-3AD203B41FA5}">
                      <a16:colId xmlns:a16="http://schemas.microsoft.com/office/drawing/2014/main" val="3492725854"/>
                    </a:ext>
                  </a:extLst>
                </a:gridCol>
                <a:gridCol w="836468">
                  <a:extLst>
                    <a:ext uri="{9D8B030D-6E8A-4147-A177-3AD203B41FA5}">
                      <a16:colId xmlns:a16="http://schemas.microsoft.com/office/drawing/2014/main" val="1227554836"/>
                    </a:ext>
                  </a:extLst>
                </a:gridCol>
              </a:tblGrid>
              <a:tr h="522387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Present State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Inputs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Next State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Output </a:t>
                      </a:r>
                    </a:p>
                    <a:p>
                      <a:pPr algn="ctr"/>
                      <a:r>
                        <a:rPr lang="en-US" sz="1600" b="1" dirty="0"/>
                        <a:t>OPEN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499052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highlight>
                            <a:srgbClr val="0000FF"/>
                          </a:highlight>
                        </a:rP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highlight>
                            <a:srgbClr val="0000FF"/>
                          </a:highlight>
                        </a:rP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highlight>
                            <a:srgbClr val="0000FF"/>
                          </a:highlight>
                        </a:rP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highlight>
                            <a:srgbClr val="0000FF"/>
                          </a:highlight>
                        </a:rPr>
                        <a:t>Q0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highlight>
                            <a:srgbClr val="0000FF"/>
                          </a:highlight>
                        </a:rPr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highlight>
                            <a:srgbClr val="0000FF"/>
                          </a:highlight>
                        </a:rPr>
                        <a:t>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highlight>
                            <a:srgbClr val="0000FF"/>
                          </a:highlight>
                        </a:rPr>
                        <a:t>D3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highlight>
                            <a:srgbClr val="0000FF"/>
                          </a:highlight>
                        </a:rPr>
                        <a:t>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highlight>
                            <a:srgbClr val="0000FF"/>
                          </a:highlight>
                        </a:rPr>
                        <a:t>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highlight>
                            <a:srgbClr val="0000FF"/>
                          </a:highlight>
                        </a:rPr>
                        <a:t>D0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428520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995907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539923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203162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819349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308633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35914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263364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394173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46944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833209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745261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6720400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X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05546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2ACC31A-DD6A-43EF-81BD-5292594AB1CC}"/>
              </a:ext>
            </a:extLst>
          </p:cNvPr>
          <p:cNvSpPr txBox="1"/>
          <p:nvPr/>
        </p:nvSpPr>
        <p:spPr>
          <a:xfrm>
            <a:off x="2045369" y="6082518"/>
            <a:ext cx="5416996" cy="646331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The Design Becomes Simpler</a:t>
            </a:r>
          </a:p>
          <a:p>
            <a:r>
              <a:rPr lang="en-US" b="1" dirty="0"/>
              <a:t>Less Combinational Logic – At the Expense of Extra DFF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F0CAEB-A82D-44D6-BE35-66994AF63EF9}"/>
              </a:ext>
            </a:extLst>
          </p:cNvPr>
          <p:cNvSpPr txBox="1"/>
          <p:nvPr/>
        </p:nvSpPr>
        <p:spPr>
          <a:xfrm>
            <a:off x="10214811" y="2505670"/>
            <a:ext cx="16305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D3 is directly</a:t>
            </a:r>
          </a:p>
          <a:p>
            <a:r>
              <a:rPr lang="en-US" dirty="0"/>
              <a:t>the Output and</a:t>
            </a:r>
          </a:p>
          <a:p>
            <a:r>
              <a:rPr lang="en-US" dirty="0"/>
              <a:t>Its State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1867826-1596-4B32-B162-7B58DC853E1C}"/>
              </a:ext>
            </a:extLst>
          </p:cNvPr>
          <p:cNvCxnSpPr>
            <a:stCxn id="4" idx="0"/>
          </p:cNvCxnSpPr>
          <p:nvPr/>
        </p:nvCxnSpPr>
        <p:spPr>
          <a:xfrm flipH="1" flipV="1">
            <a:off x="9926053" y="1443789"/>
            <a:ext cx="1104046" cy="10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77C601A-F0EA-D3AA-1F94-9AE1455A2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34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2A15A7-00CE-C4AF-A4BE-B11D3E25FECE}"/>
              </a:ext>
            </a:extLst>
          </p:cNvPr>
          <p:cNvSpPr/>
          <p:nvPr/>
        </p:nvSpPr>
        <p:spPr>
          <a:xfrm>
            <a:off x="838198" y="1533505"/>
            <a:ext cx="9201148" cy="1304925"/>
          </a:xfrm>
          <a:prstGeom prst="rect">
            <a:avLst/>
          </a:prstGeom>
          <a:solidFill>
            <a:srgbClr val="FBE1D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35D437-1590-4428-8922-E4111F48877B}"/>
              </a:ext>
            </a:extLst>
          </p:cNvPr>
          <p:cNvSpPr/>
          <p:nvPr/>
        </p:nvSpPr>
        <p:spPr>
          <a:xfrm>
            <a:off x="838198" y="2867005"/>
            <a:ext cx="9201148" cy="1304925"/>
          </a:xfrm>
          <a:prstGeom prst="rect">
            <a:avLst/>
          </a:prstGeom>
          <a:solidFill>
            <a:srgbClr val="FBE1D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486010-902D-B406-A660-3A9EBE1E37C9}"/>
              </a:ext>
            </a:extLst>
          </p:cNvPr>
          <p:cNvSpPr/>
          <p:nvPr/>
        </p:nvSpPr>
        <p:spPr>
          <a:xfrm>
            <a:off x="838198" y="4210010"/>
            <a:ext cx="9201148" cy="1304925"/>
          </a:xfrm>
          <a:prstGeom prst="rect">
            <a:avLst/>
          </a:prstGeom>
          <a:solidFill>
            <a:srgbClr val="FBE1D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3DD8AB-4CC7-C6AA-5E4D-B598A2E1CE15}"/>
              </a:ext>
            </a:extLst>
          </p:cNvPr>
          <p:cNvSpPr/>
          <p:nvPr/>
        </p:nvSpPr>
        <p:spPr>
          <a:xfrm>
            <a:off x="838198" y="5553016"/>
            <a:ext cx="9201148" cy="1253530"/>
          </a:xfrm>
          <a:prstGeom prst="rect">
            <a:avLst/>
          </a:prstGeom>
          <a:solidFill>
            <a:srgbClr val="FBE1D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5BAD47C-3319-ABB6-E88D-FA96B3DDE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Digital System Design Lecture 9 Fall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84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6" grpId="0" animBg="1"/>
      <p:bldP spid="9" grpId="0" animBg="1"/>
      <p:bldP spid="10" grpId="0" animBg="1"/>
      <p:bldP spid="1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845A6-D252-4AFB-8951-3850DF4AE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76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Algorithmic State Machine Description - ASMD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B02880-6D8B-4549-8DFF-8913C1B27002}"/>
              </a:ext>
            </a:extLst>
          </p:cNvPr>
          <p:cNvSpPr/>
          <p:nvPr/>
        </p:nvSpPr>
        <p:spPr>
          <a:xfrm>
            <a:off x="4355691" y="1820435"/>
            <a:ext cx="2654709" cy="1076632"/>
          </a:xfrm>
          <a:prstGeom prst="rect">
            <a:avLst/>
          </a:prstGeom>
          <a:solidFill>
            <a:srgbClr val="00B0F0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State Box</a:t>
            </a:r>
          </a:p>
          <a:p>
            <a:pPr algn="ctr"/>
            <a:endParaRPr lang="en-US" b="1" dirty="0"/>
          </a:p>
          <a:p>
            <a:pPr algn="ctr"/>
            <a:r>
              <a:rPr lang="en-US" b="1" dirty="0"/>
              <a:t>List Outputs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B9215E-A7CA-45E9-BD99-40D02DEE4981}"/>
              </a:ext>
            </a:extLst>
          </p:cNvPr>
          <p:cNvSpPr txBox="1"/>
          <p:nvPr/>
        </p:nvSpPr>
        <p:spPr>
          <a:xfrm>
            <a:off x="6532705" y="1444040"/>
            <a:ext cx="489493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err="1"/>
              <a:t>xyz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662E5E-9ABE-4A1C-B3DB-B7EC39DAD141}"/>
              </a:ext>
            </a:extLst>
          </p:cNvPr>
          <p:cNvSpPr txBox="1"/>
          <p:nvPr/>
        </p:nvSpPr>
        <p:spPr>
          <a:xfrm>
            <a:off x="4355691" y="1444040"/>
            <a:ext cx="12979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State Name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B4201DE-FDE9-418E-B3CF-D11049AA32F2}"/>
              </a:ext>
            </a:extLst>
          </p:cNvPr>
          <p:cNvCxnSpPr>
            <a:stCxn id="6" idx="2"/>
          </p:cNvCxnSpPr>
          <p:nvPr/>
        </p:nvCxnSpPr>
        <p:spPr>
          <a:xfrm flipH="1">
            <a:off x="5683045" y="2897067"/>
            <a:ext cx="1" cy="61943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lowchart: Decision 10">
            <a:extLst>
              <a:ext uri="{FF2B5EF4-FFF2-40B4-BE49-F238E27FC236}">
                <a16:creationId xmlns:a16="http://schemas.microsoft.com/office/drawing/2014/main" id="{C1C4772E-0C49-4108-8519-F1C6F2F73BD6}"/>
              </a:ext>
            </a:extLst>
          </p:cNvPr>
          <p:cNvSpPr/>
          <p:nvPr/>
        </p:nvSpPr>
        <p:spPr>
          <a:xfrm>
            <a:off x="4436807" y="3516500"/>
            <a:ext cx="2492475" cy="766916"/>
          </a:xfrm>
          <a:prstGeom prst="flowChartDecision">
            <a:avLst/>
          </a:prstGeom>
          <a:solidFill>
            <a:srgbClr val="002060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Condition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DB587C4-C2D9-4F52-A528-754385D9F714}"/>
              </a:ext>
            </a:extLst>
          </p:cNvPr>
          <p:cNvCxnSpPr>
            <a:stCxn id="11" idx="1"/>
          </p:cNvCxnSpPr>
          <p:nvPr/>
        </p:nvCxnSpPr>
        <p:spPr>
          <a:xfrm flipH="1">
            <a:off x="3190568" y="3899958"/>
            <a:ext cx="1246239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8E67749-D75E-41E8-AEDB-D4E10948B0B1}"/>
              </a:ext>
            </a:extLst>
          </p:cNvPr>
          <p:cNvCxnSpPr>
            <a:cxnSpLocks/>
          </p:cNvCxnSpPr>
          <p:nvPr/>
        </p:nvCxnSpPr>
        <p:spPr>
          <a:xfrm>
            <a:off x="3190568" y="3899958"/>
            <a:ext cx="0" cy="1887793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9FBC711-49B9-434D-B092-97B159AFBC10}"/>
              </a:ext>
            </a:extLst>
          </p:cNvPr>
          <p:cNvCxnSpPr>
            <a:stCxn id="11" idx="3"/>
          </p:cNvCxnSpPr>
          <p:nvPr/>
        </p:nvCxnSpPr>
        <p:spPr>
          <a:xfrm>
            <a:off x="6929282" y="3899958"/>
            <a:ext cx="1275738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F106077-AD1A-4DDE-93B1-B64E1A4F409F}"/>
              </a:ext>
            </a:extLst>
          </p:cNvPr>
          <p:cNvCxnSpPr/>
          <p:nvPr/>
        </p:nvCxnSpPr>
        <p:spPr>
          <a:xfrm>
            <a:off x="8205020" y="3899957"/>
            <a:ext cx="0" cy="72267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owchart: Alternate Process 19">
            <a:extLst>
              <a:ext uri="{FF2B5EF4-FFF2-40B4-BE49-F238E27FC236}">
                <a16:creationId xmlns:a16="http://schemas.microsoft.com/office/drawing/2014/main" id="{FA525146-59E7-44A8-A6BF-6EE93F38D5CC}"/>
              </a:ext>
            </a:extLst>
          </p:cNvPr>
          <p:cNvSpPr/>
          <p:nvPr/>
        </p:nvSpPr>
        <p:spPr>
          <a:xfrm>
            <a:off x="7349613" y="4622628"/>
            <a:ext cx="1607573" cy="589929"/>
          </a:xfrm>
          <a:prstGeom prst="flowChartAlternateProcess">
            <a:avLst/>
          </a:prstGeom>
          <a:solidFill>
            <a:schemeClr val="accent2">
              <a:lumMod val="60000"/>
              <a:lumOff val="4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Output</a:t>
            </a:r>
          </a:p>
          <a:p>
            <a:pPr algn="ctr"/>
            <a:r>
              <a:rPr lang="en-US" b="1" dirty="0"/>
              <a:t>Box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636BBD3-699D-4EAD-9F24-1A2108F0A9EE}"/>
              </a:ext>
            </a:extLst>
          </p:cNvPr>
          <p:cNvCxnSpPr>
            <a:cxnSpLocks/>
          </p:cNvCxnSpPr>
          <p:nvPr/>
        </p:nvCxnSpPr>
        <p:spPr>
          <a:xfrm>
            <a:off x="8205020" y="5216142"/>
            <a:ext cx="0" cy="57160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D2F5CF8-903A-4CD3-A816-54C06BAF657D}"/>
              </a:ext>
            </a:extLst>
          </p:cNvPr>
          <p:cNvSpPr txBox="1"/>
          <p:nvPr/>
        </p:nvSpPr>
        <p:spPr>
          <a:xfrm>
            <a:off x="7560401" y="5837139"/>
            <a:ext cx="1402307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Exit to Other</a:t>
            </a:r>
          </a:p>
          <a:p>
            <a:r>
              <a:rPr lang="en-US" b="1" dirty="0"/>
              <a:t>ASM Blocks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10B443-A8D3-4947-AD53-4B24C907D896}"/>
              </a:ext>
            </a:extLst>
          </p:cNvPr>
          <p:cNvSpPr txBox="1"/>
          <p:nvPr/>
        </p:nvSpPr>
        <p:spPr>
          <a:xfrm>
            <a:off x="3574026" y="3516500"/>
            <a:ext cx="6072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/>
              <a:t>True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E6D78A-83F1-4C76-8988-E2118565C35B}"/>
              </a:ext>
            </a:extLst>
          </p:cNvPr>
          <p:cNvSpPr txBox="1"/>
          <p:nvPr/>
        </p:nvSpPr>
        <p:spPr>
          <a:xfrm>
            <a:off x="7349613" y="3553370"/>
            <a:ext cx="660887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/>
              <a:t>False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9FE9167-8892-44BB-8186-575082672D47}"/>
              </a:ext>
            </a:extLst>
          </p:cNvPr>
          <p:cNvCxnSpPr/>
          <p:nvPr/>
        </p:nvCxnSpPr>
        <p:spPr>
          <a:xfrm flipV="1">
            <a:off x="7172632" y="1444040"/>
            <a:ext cx="829917" cy="18466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AC49912-0307-47CF-93A4-A6BBF5FF43A7}"/>
              </a:ext>
            </a:extLst>
          </p:cNvPr>
          <p:cNvSpPr txBox="1"/>
          <p:nvPr/>
        </p:nvSpPr>
        <p:spPr>
          <a:xfrm>
            <a:off x="8002549" y="1350169"/>
            <a:ext cx="1213024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/>
              <a:t>State Code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D5228-ACD2-4FAA-BB8C-DCB2684FE6A8}"/>
              </a:ext>
            </a:extLst>
          </p:cNvPr>
          <p:cNvSpPr txBox="1"/>
          <p:nvPr/>
        </p:nvSpPr>
        <p:spPr>
          <a:xfrm>
            <a:off x="2582738" y="5837139"/>
            <a:ext cx="1402307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Exit to Other</a:t>
            </a:r>
          </a:p>
          <a:p>
            <a:r>
              <a:rPr lang="en-US" b="1" dirty="0"/>
              <a:t>ASM Blocks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C0353E-188C-431C-944D-BFF7DE2F7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Digital System Design Lecture 9 Fall 2026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FA175-AD09-6722-E11A-1E7D87D35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6D07-5968-41CB-8B0B-EFD52ABB584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264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1" grpId="0" animBg="1"/>
      <p:bldP spid="20" grpId="0" animBg="1"/>
      <p:bldP spid="24" grpId="0" animBg="1"/>
      <p:bldP spid="25" grpId="0"/>
      <p:bldP spid="26" grpId="0"/>
      <p:bldP spid="29" grpId="0"/>
      <p:bldP spid="3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1682</TotalTime>
  <Words>2596</Words>
  <Application>Microsoft Office PowerPoint</Application>
  <PresentationFormat>Widescreen</PresentationFormat>
  <Paragraphs>1210</Paragraphs>
  <Slides>35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Berlin Sans FB Demi</vt:lpstr>
      <vt:lpstr>Calibri</vt:lpstr>
      <vt:lpstr>Calibri Light</vt:lpstr>
      <vt:lpstr>Office Theme</vt:lpstr>
      <vt:lpstr>EE 421 / CS 425 Digital System Design  Fall 2026 Lecture 8</vt:lpstr>
      <vt:lpstr>Topics</vt:lpstr>
      <vt:lpstr>Practice Questions from Past Papers</vt:lpstr>
      <vt:lpstr>State Diagram of D Flipflop</vt:lpstr>
      <vt:lpstr>State Diagram of T Flipflop</vt:lpstr>
      <vt:lpstr>Linking State Table with State Diagram</vt:lpstr>
      <vt:lpstr>Types of State Machines</vt:lpstr>
      <vt:lpstr>Mealy State Machine Block Diagram</vt:lpstr>
      <vt:lpstr>State Machine Block Diagrams - Comparison</vt:lpstr>
      <vt:lpstr>State Machine Based Synchronous Design</vt:lpstr>
      <vt:lpstr>Example of a State Machine Based Design –  Coke (Next Cola     ) Vending Machine</vt:lpstr>
      <vt:lpstr>Block Diagram of Vending Machine Example</vt:lpstr>
      <vt:lpstr>Elaborate State Machine in text description</vt:lpstr>
      <vt:lpstr>Make a State Diagram Representation of State Machine (Moore Machine)</vt:lpstr>
      <vt:lpstr>Simplifying the State Machine</vt:lpstr>
      <vt:lpstr>State Transition Table Describing Vending Machine</vt:lpstr>
      <vt:lpstr>State Mapping to Flipflops</vt:lpstr>
      <vt:lpstr>Present State to Next State Table using DFF</vt:lpstr>
      <vt:lpstr>Characteristic Equation for D0 using K-Map</vt:lpstr>
      <vt:lpstr>Present State to Next State Table using DFF</vt:lpstr>
      <vt:lpstr>Characteristic Equation for D1 using K-Map</vt:lpstr>
      <vt:lpstr>Present State to Next State Table using DFF</vt:lpstr>
      <vt:lpstr>Characteristic Equation for OPEN using K-Map</vt:lpstr>
      <vt:lpstr>Vending Machine Circuit using DFF</vt:lpstr>
      <vt:lpstr>Moore State Machine  for Vending Machine</vt:lpstr>
      <vt:lpstr>Mealy State Machine for Vending Machine</vt:lpstr>
      <vt:lpstr>Some Comparison Moore vs Mealy</vt:lpstr>
      <vt:lpstr>One Hot Encoding – one FF for each state</vt:lpstr>
      <vt:lpstr>Algorithmic State Machine Description - ASMD</vt:lpstr>
      <vt:lpstr>Topics</vt:lpstr>
      <vt:lpstr>Moore State Machine  for Vending Machine</vt:lpstr>
      <vt:lpstr>Mealy State Machine for Vending Machine</vt:lpstr>
      <vt:lpstr>Some Comparison Moore vs Mealy</vt:lpstr>
      <vt:lpstr>One Hot Encoding – one FF for each state</vt:lpstr>
      <vt:lpstr>Algorithmic State Machine Description - ASMD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System Design  Fall 2020 Lecture 7</dc:title>
  <dc:creator>Shahid Masud</dc:creator>
  <cp:lastModifiedBy>Shahid Masud</cp:lastModifiedBy>
  <cp:revision>160</cp:revision>
  <cp:lastPrinted>2022-09-28T06:03:31Z</cp:lastPrinted>
  <dcterms:created xsi:type="dcterms:W3CDTF">2020-10-02T05:53:22Z</dcterms:created>
  <dcterms:modified xsi:type="dcterms:W3CDTF">2026-09-21T13:30:47Z</dcterms:modified>
</cp:coreProperties>
</file>